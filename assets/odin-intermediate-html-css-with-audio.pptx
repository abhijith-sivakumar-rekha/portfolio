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presentation introduces several topics from The Odin Project’s Intermediate HTML and CSS course. I will explain each idea in plain language and show where we use it in everyday websites. The aim is to understand what the tools do, not to memorize every line of code. The full audio explanation is embedded on this slide; click the play icon to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groups. We start with richer HTML content, then move into styling, forms, and page layout. Mention that all of these features build on basic HTML and CSS rather than replacing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distinction: HTML describes what the content is—heading, paragraph, button. CSS controls how it looks—color, size, spacing, shape. The browser reads both and displays the page. If the CSS is removed, the content can still exist, but it looks much plainer.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SVG is a vector format. Instead of storing each pixel, it describes shapes using coordinates and properties. That makes SVG great for logos, icons, diagrams and charts that need to look sharp at different sizes. Photographs are usually better stored as JPEG, PNG or modern photo formats because SVG is inefficient for complex textures.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are ideal for structured information such as timetables, prices or comparison data. The table element wraps the whole table; tr means table row; th is a header cell; td is a data cell. Encourage proper headers so the relationship between the column and its values is clear to everyone, including assistive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only the core idea of units. Pixels are useful for small precise details, rem is often good for scalable typography and spacing, and percentages are useful for sizes that should respond to their container. Browsers have built-in defaults for headings, lists and body margins, so developers sometimes normalize those differences. Mention that good line-height and spacing matter as much as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Selectors are like filters. An element selector such as p matches paragraphs. A class starts with a dot and can be reused across multiple elements. A pseudo-class such as :hover represents a state. An attribute selector can match inputs based on type. The important beginner habit is to make selectors readable and not more complicated than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five common position values. Static is normal flow. Relative shifts an element while keeping its original space. Absolute is often used for overlays or a badge anchored to a card. Fixed stays attached to the viewport. Sticky scrolls normally and then sticks within a limit. Emphasize that positioning is not a replacement for Flexbox or Grid for whole-page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custom property is a CSS variable, usually declared with two dashes, such as --brand. The var() function reads its value. This keeps a project’s color and spacing values consistent. CSS functions can calculate or constrain sizes. The clamp example keeps text from getting too small or too large while allowing it to adapt between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form is how websites collect information such as names, email addresses or searches. A label tells people what information to enter and should be connected to the input. Using type=email helps the browser recognize the expected format; required means the field must be filled in before submission. Explain that client-side validation improves usability but important data must also be checked by a server in a real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Flexbox when items flow in one main direction, such as links across a navbar or buttons in a row. Use Grid when you want to control rows and columns together, such as a dashboard or image gallery. They are not competitors; a site often uses both, with Grid for the overall layout and Flexbox inside individual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basic Grid mental model: display:grid turns an element into a grid container; grid-template-columns defines the columns; repeat(3, 1fr) means three columns sharing the available space equally; gap adds separation. Child elements are placed into the grid cells in normal order unless you give them specific placement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compatibility means checking whether features behave as expected across the browsers your users might have. Frameworks offer ready-made patterns and classes, but they do not remove the need to understand CSS. Preprocessors such as Sass provide additional authoring features and are compiled into CSS. For beginners, focus on the basics first and then explore these tools when a project benefits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suggested small exercise, inspired by the sign-up form project in the course. It brings together HTML form structure, basic browser validation, visual design, and a responsive layout. Encourage students to build the plain HTML form first, then add CSS in small steps and test the result at different widths.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reviewing the separation between HTML and CSS, the job of forms, and the difference between Flexbox and Grid. Ask the three questions aloud and give the class a moment to answer before revealing or reading the answers. Remind everyone they can revisit the official course lessons for more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list of lessons and projects is available from the official course page. The slide examples here are simplified for a beginner audience and are meant to introduce ideas, not replace the original lessons or coding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6473952"/>
            <a:ext cx="11018520" cy="0"/>
          </a:xfrm>
          <a:prstGeom prst="line">
            <a:avLst/>
          </a:prstGeom>
          <a:noFill/>
          <a:ln w="12700">
            <a:solidFill>
              <a:srgbClr val="DCE3ED"/>
            </a:solidFill>
            <a:prstDash val="solid"/>
          </a:ln>
        </p:spPr>
      </p:sp>
      <p:sp>
        <p:nvSpPr>
          <p:cNvPr id="3" name="Text 1"/>
          <p:cNvSpPr/>
          <p:nvPr/>
        </p:nvSpPr>
        <p:spPr>
          <a:xfrm>
            <a:off x="585216" y="6537960"/>
            <a:ext cx="6766560" cy="137160"/>
          </a:xfrm>
          <a:prstGeom prst="rect">
            <a:avLst/>
          </a:prstGeom>
          <a:noFill/>
          <a:ln/>
        </p:spPr>
        <p:txBody>
          <a:bodyPr wrap="square" lIns="0" tIns="0" rIns="0" bIns="0" rtlCol="0" anchor="ctr"/>
          <a:lstStyle/>
          <a:p>
            <a:pPr indent="0" marL="0">
              <a:buNone/>
            </a:pPr>
            <a:r>
              <a:rPr lang="en-US" sz="800" spc="120" kern="0" dirty="0">
                <a:solidFill>
                  <a:srgbClr val="7B8798"/>
                </a:solidFill>
                <a:latin typeface="Aptos" pitchFamily="34" charset="0"/>
                <a:ea typeface="Aptos" pitchFamily="34" charset="-122"/>
                <a:cs typeface="Aptos" pitchFamily="34" charset="-120"/>
              </a:rPr>
              <a:t>WEB TECHNOLOGIES  /  INTERMEDIATE HTML &amp; CSS</a:t>
            </a:r>
            <a:endParaRPr lang="en-US" sz="80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media/media-1-1.mp3"/><Relationship Id="rId2" Type="http://schemas.microsoft.com/office/2007/relationships/media" Target="../media/media-1-1.mp3"/><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theodinproject.com/paths/full-stack-javascript/courses/intermediate-html-and-css"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gd name="adj" fmla="val 75000"/>
            </a:avLst>
          </a:prstGeom>
          <a:solidFill>
            <a:srgbClr val="16B7A4"/>
          </a:solidFill>
          <a:ln w="1270">
            <a:solidFill>
              <a:srgbClr val="16B7A4">
                <a:alpha val="0"/>
              </a:srgbClr>
            </a:solidFill>
            <a:prstDash val="solid"/>
          </a:ln>
        </p:spPr>
      </p:sp>
      <p:sp>
        <p:nvSpPr>
          <p:cNvPr id="3" name="Shape 1"/>
          <p:cNvSpPr/>
          <p:nvPr/>
        </p:nvSpPr>
        <p:spPr>
          <a:xfrm>
            <a:off x="9646920" y="411480"/>
            <a:ext cx="1828800" cy="1828800"/>
          </a:xfrm>
          <a:prstGeom prst="ellipse">
            <a:avLst/>
          </a:prstGeom>
          <a:solidFill>
            <a:srgbClr val="1B2B45"/>
          </a:solidFill>
          <a:ln w="12700">
            <a:solidFill>
              <a:srgbClr val="1B2B45"/>
            </a:solidFill>
            <a:prstDash val="solid"/>
          </a:ln>
        </p:spPr>
      </p:sp>
      <p:sp>
        <p:nvSpPr>
          <p:cNvPr id="4" name="Shape 2"/>
          <p:cNvSpPr/>
          <p:nvPr/>
        </p:nvSpPr>
        <p:spPr>
          <a:xfrm>
            <a:off x="10378440" y="1143000"/>
            <a:ext cx="1097280" cy="1097280"/>
          </a:xfrm>
          <a:prstGeom prst="ellipse">
            <a:avLst/>
          </a:prstGeom>
          <a:solidFill>
            <a:srgbClr val="233855"/>
          </a:solidFill>
          <a:ln w="12700">
            <a:solidFill>
              <a:srgbClr val="233855"/>
            </a:solidFill>
            <a:prstDash val="solid"/>
          </a:ln>
        </p:spPr>
      </p:sp>
      <p:sp>
        <p:nvSpPr>
          <p:cNvPr id="5" name="Shape 3"/>
          <p:cNvSpPr/>
          <p:nvPr/>
        </p:nvSpPr>
        <p:spPr>
          <a:xfrm>
            <a:off x="7726680" y="1005840"/>
            <a:ext cx="3794760" cy="4480560"/>
          </a:xfrm>
          <a:prstGeom prst="roundRect">
            <a:avLst>
              <a:gd name="adj" fmla="val 2892"/>
            </a:avLst>
          </a:prstGeom>
          <a:solidFill>
            <a:srgbClr val="19263C"/>
          </a:solidFill>
          <a:ln w="12700">
            <a:solidFill>
              <a:srgbClr val="2D405D"/>
            </a:solidFill>
            <a:prstDash val="solid"/>
          </a:ln>
        </p:spPr>
      </p:sp>
      <p:sp>
        <p:nvSpPr>
          <p:cNvPr id="6" name="Shape 4"/>
          <p:cNvSpPr/>
          <p:nvPr/>
        </p:nvSpPr>
        <p:spPr>
          <a:xfrm>
            <a:off x="749808" y="658368"/>
            <a:ext cx="1664208" cy="283464"/>
          </a:xfrm>
          <a:prstGeom prst="roundRect">
            <a:avLst>
              <a:gd name="adj" fmla="val 38710"/>
            </a:avLst>
          </a:prstGeom>
          <a:solidFill>
            <a:srgbClr val="20364B"/>
          </a:solidFill>
          <a:ln w="1270">
            <a:solidFill>
              <a:srgbClr val="20364B">
                <a:alpha val="0"/>
              </a:srgbClr>
            </a:solidFill>
            <a:prstDash val="solid"/>
          </a:ln>
        </p:spPr>
      </p:sp>
      <p:sp>
        <p:nvSpPr>
          <p:cNvPr id="7" name="Text 5"/>
          <p:cNvSpPr txBox="1"/>
          <p:nvPr/>
        </p:nvSpPr>
        <p:spPr>
          <a:xfrm>
            <a:off x="822960" y="672084"/>
            <a:ext cx="1517904"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B6FFF2"/>
                </a:solidFill>
                <a:latin typeface="Aptos" pitchFamily="34" charset="0"/>
                <a:ea typeface="Aptos" pitchFamily="34" charset="-122"/>
                <a:cs typeface="Aptos" pitchFamily="34" charset="-120"/>
              </a:rPr>
              <a:t>WEB TECHNOLOGIES</a:t>
            </a:r>
            <a:endParaRPr lang="en-US" sz="900" dirty="0"/>
          </a:p>
        </p:txBody>
      </p:sp>
      <p:sp>
        <p:nvSpPr>
          <p:cNvPr id="8" name="Text 6"/>
          <p:cNvSpPr txBox="1"/>
          <p:nvPr/>
        </p:nvSpPr>
        <p:spPr>
          <a:xfrm>
            <a:off x="749808" y="1344168"/>
            <a:ext cx="6400800" cy="1572768"/>
          </a:xfrm>
          <a:prstGeom prst="rect">
            <a:avLst/>
          </a:prstGeom>
          <a:noFill/>
          <a:ln/>
        </p:spPr>
        <p:txBody>
          <a:bodyPr wrap="square" lIns="0" tIns="0" rIns="0" bIns="0" rtlCol="0" anchor="t">
            <a:normAutofit/>
          </a:bodyPr>
          <a:lstStyle/>
          <a:p>
            <a:pPr algn="l" indent="0" marL="0">
              <a:buNone/>
            </a:pPr>
            <a:r>
              <a:rPr lang="en-US" sz="3900" b="1" dirty="0">
                <a:solidFill>
                  <a:srgbClr val="FFFFFF"/>
                </a:solidFill>
                <a:latin typeface="Aptos" pitchFamily="34" charset="0"/>
                <a:ea typeface="Aptos" pitchFamily="34" charset="-122"/>
                <a:cs typeface="Aptos" pitchFamily="34" charset="-120"/>
              </a:rPr>
              <a:t>Intermediate</a:t>
            </a:r>
            <a:endParaRPr lang="en-US" sz="3900" dirty="0"/>
          </a:p>
          <a:p>
            <a:pPr algn="l" indent="0" marL="0">
              <a:buNone/>
            </a:pPr>
            <a:r>
              <a:rPr lang="en-US" sz="3900" b="1" dirty="0">
                <a:solidFill>
                  <a:srgbClr val="FFFFFF"/>
                </a:solidFill>
                <a:latin typeface="Aptos" pitchFamily="34" charset="0"/>
                <a:ea typeface="Aptos" pitchFamily="34" charset="-122"/>
                <a:cs typeface="Aptos" pitchFamily="34" charset="-120"/>
              </a:rPr>
              <a:t>HTML &amp; CSS</a:t>
            </a:r>
            <a:endParaRPr lang="en-US" sz="3900" dirty="0"/>
          </a:p>
        </p:txBody>
      </p:sp>
      <p:sp>
        <p:nvSpPr>
          <p:cNvPr id="9" name="Text 7"/>
          <p:cNvSpPr txBox="1"/>
          <p:nvPr/>
        </p:nvSpPr>
        <p:spPr>
          <a:xfrm>
            <a:off x="777240" y="3246120"/>
            <a:ext cx="6217920" cy="786384"/>
          </a:xfrm>
          <a:prstGeom prst="rect">
            <a:avLst/>
          </a:prstGeom>
          <a:noFill/>
          <a:ln/>
        </p:spPr>
        <p:txBody>
          <a:bodyPr wrap="square" lIns="0" tIns="0" rIns="0" bIns="0" rtlCol="0" anchor="t">
            <a:normAutofit/>
          </a:bodyPr>
          <a:lstStyle/>
          <a:p>
            <a:pPr algn="l" indent="0" marL="0">
              <a:buNone/>
            </a:pPr>
            <a:r>
              <a:rPr lang="en-US" sz="1900" dirty="0">
                <a:solidFill>
                  <a:srgbClr val="CBD5E1"/>
                </a:solidFill>
                <a:latin typeface="Aptos" pitchFamily="34" charset="0"/>
                <a:ea typeface="Aptos" pitchFamily="34" charset="-122"/>
                <a:cs typeface="Aptos" pitchFamily="34" charset="-120"/>
              </a:rPr>
              <a:t>A beginner-friendly guide to building clearer,</a:t>
            </a:r>
            <a:endParaRPr lang="en-US" sz="1900" dirty="0"/>
          </a:p>
          <a:p>
            <a:pPr algn="l" indent="0" marL="0">
              <a:buNone/>
            </a:pPr>
            <a:r>
              <a:rPr lang="en-US" sz="1900" dirty="0">
                <a:solidFill>
                  <a:srgbClr val="CBD5E1"/>
                </a:solidFill>
                <a:latin typeface="Aptos" pitchFamily="34" charset="0"/>
                <a:ea typeface="Aptos" pitchFamily="34" charset="-122"/>
                <a:cs typeface="Aptos" pitchFamily="34" charset="-120"/>
              </a:rPr>
              <a:t>more flexible, better-looking web pages.</a:t>
            </a:r>
            <a:endParaRPr lang="en-US" sz="1900" dirty="0"/>
          </a:p>
        </p:txBody>
      </p:sp>
      <p:sp>
        <p:nvSpPr>
          <p:cNvPr id="10" name="Shape 8"/>
          <p:cNvSpPr/>
          <p:nvPr/>
        </p:nvSpPr>
        <p:spPr>
          <a:xfrm>
            <a:off x="768096" y="4389120"/>
            <a:ext cx="4443984" cy="0"/>
          </a:xfrm>
          <a:prstGeom prst="line">
            <a:avLst/>
          </a:prstGeom>
          <a:noFill/>
          <a:ln w="13970">
            <a:solidFill>
              <a:srgbClr val="36516A"/>
            </a:solidFill>
            <a:prstDash val="solid"/>
          </a:ln>
        </p:spPr>
      </p:sp>
      <p:sp>
        <p:nvSpPr>
          <p:cNvPr id="11" name="Text 9"/>
          <p:cNvSpPr txBox="1"/>
          <p:nvPr/>
        </p:nvSpPr>
        <p:spPr>
          <a:xfrm>
            <a:off x="777240" y="4636008"/>
            <a:ext cx="6035040" cy="301752"/>
          </a:xfrm>
          <a:prstGeom prst="rect">
            <a:avLst/>
          </a:prstGeom>
          <a:noFill/>
          <a:ln/>
        </p:spPr>
        <p:txBody>
          <a:bodyPr wrap="square" lIns="0" tIns="0" rIns="0" bIns="0" rtlCol="0" anchor="ctr">
            <a:normAutofit/>
          </a:bodyPr>
          <a:lstStyle/>
          <a:p>
            <a:pPr algn="l" indent="0" marL="0">
              <a:buNone/>
            </a:pPr>
            <a:r>
              <a:rPr lang="en-US" sz="1400" dirty="0">
                <a:solidFill>
                  <a:srgbClr val="E2E8F0"/>
                </a:solidFill>
                <a:latin typeface="Aptos" pitchFamily="34" charset="0"/>
                <a:ea typeface="Aptos" pitchFamily="34" charset="-122"/>
                <a:cs typeface="Aptos" pitchFamily="34" charset="-120"/>
              </a:rPr>
              <a:t>Riga Nordic University  •  Subject: Web Technologies</a:t>
            </a:r>
            <a:endParaRPr lang="en-US" sz="1400" dirty="0"/>
          </a:p>
        </p:txBody>
      </p:sp>
      <p:sp>
        <p:nvSpPr>
          <p:cNvPr id="12" name="Text 10"/>
          <p:cNvSpPr txBox="1"/>
          <p:nvPr/>
        </p:nvSpPr>
        <p:spPr>
          <a:xfrm>
            <a:off x="777240" y="5029200"/>
            <a:ext cx="6492240" cy="274320"/>
          </a:xfrm>
          <a:prstGeom prst="rect">
            <a:avLst/>
          </a:prstGeom>
          <a:noFill/>
          <a:ln/>
        </p:spPr>
        <p:txBody>
          <a:bodyPr wrap="square" lIns="0" tIns="0" rIns="0" bIns="0" rtlCol="0" anchor="ctr">
            <a:normAutofit/>
          </a:bodyPr>
          <a:lstStyle/>
          <a:p>
            <a:pPr algn="l" indent="0" marL="0">
              <a:buNone/>
            </a:pPr>
            <a:r>
              <a:rPr lang="en-US" sz="1100" dirty="0">
                <a:solidFill>
                  <a:srgbClr val="9EB1C7"/>
                </a:solidFill>
                <a:latin typeface="Aptos" pitchFamily="34" charset="0"/>
                <a:ea typeface="Aptos" pitchFamily="34" charset="-122"/>
                <a:cs typeface="Aptos" pitchFamily="34" charset="-120"/>
              </a:rPr>
              <a:t>Based on The Odin Project: Intermediate HTML and CSS</a:t>
            </a:r>
            <a:endParaRPr lang="en-US" sz="1100" dirty="0"/>
          </a:p>
        </p:txBody>
      </p:sp>
      <p:sp>
        <p:nvSpPr>
          <p:cNvPr id="13" name="Shape 11"/>
          <p:cNvSpPr/>
          <p:nvPr/>
        </p:nvSpPr>
        <p:spPr>
          <a:xfrm>
            <a:off x="8046720" y="1417320"/>
            <a:ext cx="3154680" cy="3611880"/>
          </a:xfrm>
          <a:prstGeom prst="roundRect">
            <a:avLst>
              <a:gd name="adj" fmla="val 3478"/>
            </a:avLst>
          </a:prstGeom>
          <a:solidFill>
            <a:srgbClr val="0D1727"/>
          </a:solidFill>
          <a:ln w="12700">
            <a:solidFill>
              <a:srgbClr val="314762"/>
            </a:solidFill>
            <a:prstDash val="solid"/>
          </a:ln>
        </p:spPr>
      </p:sp>
      <p:sp>
        <p:nvSpPr>
          <p:cNvPr id="14" name="Shape 12"/>
          <p:cNvSpPr/>
          <p:nvPr/>
        </p:nvSpPr>
        <p:spPr>
          <a:xfrm>
            <a:off x="8302752" y="1664208"/>
            <a:ext cx="109728" cy="109728"/>
          </a:xfrm>
          <a:prstGeom prst="ellipse">
            <a:avLst/>
          </a:prstGeom>
          <a:solidFill>
            <a:srgbClr val="FF826E"/>
          </a:solidFill>
          <a:ln w="12700">
            <a:solidFill>
              <a:srgbClr val="FF826E"/>
            </a:solidFill>
            <a:prstDash val="solid"/>
          </a:ln>
        </p:spPr>
      </p:sp>
      <p:sp>
        <p:nvSpPr>
          <p:cNvPr id="15" name="Shape 13"/>
          <p:cNvSpPr/>
          <p:nvPr/>
        </p:nvSpPr>
        <p:spPr>
          <a:xfrm>
            <a:off x="8485632" y="1664208"/>
            <a:ext cx="109728" cy="109728"/>
          </a:xfrm>
          <a:prstGeom prst="ellipse">
            <a:avLst/>
          </a:prstGeom>
          <a:solidFill>
            <a:srgbClr val="F4C45E"/>
          </a:solidFill>
          <a:ln w="12700">
            <a:solidFill>
              <a:srgbClr val="F4C45E"/>
            </a:solidFill>
            <a:prstDash val="solid"/>
          </a:ln>
        </p:spPr>
      </p:sp>
      <p:sp>
        <p:nvSpPr>
          <p:cNvPr id="16" name="Shape 14"/>
          <p:cNvSpPr/>
          <p:nvPr/>
        </p:nvSpPr>
        <p:spPr>
          <a:xfrm>
            <a:off x="8668512" y="1664208"/>
            <a:ext cx="109728" cy="109728"/>
          </a:xfrm>
          <a:prstGeom prst="ellipse">
            <a:avLst/>
          </a:prstGeom>
          <a:solidFill>
            <a:srgbClr val="16B7A4"/>
          </a:solidFill>
          <a:ln w="12700">
            <a:solidFill>
              <a:srgbClr val="16B7A4"/>
            </a:solidFill>
            <a:prstDash val="solid"/>
          </a:ln>
        </p:spPr>
      </p:sp>
      <p:sp>
        <p:nvSpPr>
          <p:cNvPr id="17" name="Text 15"/>
          <p:cNvSpPr txBox="1"/>
          <p:nvPr/>
        </p:nvSpPr>
        <p:spPr>
          <a:xfrm>
            <a:off x="8302752" y="2039112"/>
            <a:ext cx="694944" cy="256032"/>
          </a:xfrm>
          <a:prstGeom prst="rect">
            <a:avLst/>
          </a:prstGeom>
          <a:noFill/>
          <a:ln/>
        </p:spPr>
        <p:txBody>
          <a:bodyPr wrap="square" lIns="0" tIns="0" rIns="0" bIns="0" rtlCol="0" anchor="ctr">
            <a:normAutofit/>
          </a:bodyPr>
          <a:lstStyle/>
          <a:p>
            <a:pPr algn="l" indent="0" marL="0">
              <a:buNone/>
            </a:pPr>
            <a:r>
              <a:rPr lang="en-US" sz="1000" b="1" spc="150" kern="0" dirty="0">
                <a:solidFill>
                  <a:srgbClr val="8ECDF4"/>
                </a:solidFill>
                <a:latin typeface="Aptos" pitchFamily="34" charset="0"/>
                <a:ea typeface="Aptos" pitchFamily="34" charset="-122"/>
                <a:cs typeface="Aptos" pitchFamily="34" charset="-120"/>
              </a:rPr>
              <a:t>HTML</a:t>
            </a:r>
            <a:endParaRPr lang="en-US" sz="1000" dirty="0"/>
          </a:p>
        </p:txBody>
      </p:sp>
      <p:sp>
        <p:nvSpPr>
          <p:cNvPr id="18" name="Text 16"/>
          <p:cNvSpPr txBox="1"/>
          <p:nvPr/>
        </p:nvSpPr>
        <p:spPr>
          <a:xfrm>
            <a:off x="8302752" y="2459736"/>
            <a:ext cx="1920240" cy="256032"/>
          </a:xfrm>
          <a:prstGeom prst="rect">
            <a:avLst/>
          </a:prstGeom>
          <a:noFill/>
          <a:ln/>
        </p:spPr>
        <p:txBody>
          <a:bodyPr wrap="square" lIns="0" tIns="0" rIns="0" bIns="0" rtlCol="0" anchor="ctr">
            <a:normAutofit/>
          </a:bodyPr>
          <a:lstStyle/>
          <a:p>
            <a:pPr algn="l" indent="0" marL="0">
              <a:buNone/>
            </a:pPr>
            <a:r>
              <a:rPr lang="en-US" sz="1400" dirty="0">
                <a:solidFill>
                  <a:srgbClr val="FF9EAA"/>
                </a:solidFill>
                <a:latin typeface="Consolas" pitchFamily="34" charset="0"/>
                <a:ea typeface="Consolas" pitchFamily="34" charset="-122"/>
                <a:cs typeface="Consolas" pitchFamily="34" charset="-120"/>
              </a:rPr>
              <a:t>&lt;section&gt;</a:t>
            </a:r>
            <a:endParaRPr lang="en-US" sz="1400" dirty="0"/>
          </a:p>
        </p:txBody>
      </p:sp>
      <p:sp>
        <p:nvSpPr>
          <p:cNvPr id="19" name="Text 17"/>
          <p:cNvSpPr txBox="1"/>
          <p:nvPr/>
        </p:nvSpPr>
        <p:spPr>
          <a:xfrm>
            <a:off x="8302752" y="2834640"/>
            <a:ext cx="2560320" cy="274320"/>
          </a:xfrm>
          <a:prstGeom prst="rect">
            <a:avLst/>
          </a:prstGeom>
          <a:noFill/>
          <a:ln/>
        </p:spPr>
        <p:txBody>
          <a:bodyPr wrap="square" lIns="0" tIns="0" rIns="0" bIns="0" rtlCol="0" anchor="ctr">
            <a:normAutofit/>
          </a:bodyPr>
          <a:lstStyle/>
          <a:p>
            <a:pPr algn="l" indent="0" marL="0">
              <a:buNone/>
            </a:pPr>
            <a:r>
              <a:rPr lang="en-US" sz="1150" dirty="0">
                <a:solidFill>
                  <a:srgbClr val="DCE8F5"/>
                </a:solidFill>
                <a:latin typeface="Consolas" pitchFamily="34" charset="0"/>
                <a:ea typeface="Consolas" pitchFamily="34" charset="-122"/>
                <a:cs typeface="Consolas" pitchFamily="34" charset="-120"/>
              </a:rPr>
              <a:t>  &lt;h1&gt;Hello web&lt;/h1&gt;</a:t>
            </a:r>
            <a:endParaRPr lang="en-US" sz="1150" dirty="0"/>
          </a:p>
        </p:txBody>
      </p:sp>
      <p:sp>
        <p:nvSpPr>
          <p:cNvPr id="20" name="Text 18"/>
          <p:cNvSpPr txBox="1"/>
          <p:nvPr/>
        </p:nvSpPr>
        <p:spPr>
          <a:xfrm>
            <a:off x="8302752" y="3182112"/>
            <a:ext cx="2697480" cy="274320"/>
          </a:xfrm>
          <a:prstGeom prst="rect">
            <a:avLst/>
          </a:prstGeom>
          <a:noFill/>
          <a:ln/>
        </p:spPr>
        <p:txBody>
          <a:bodyPr wrap="square" lIns="0" tIns="0" rIns="0" bIns="0" rtlCol="0" anchor="ctr">
            <a:normAutofit/>
          </a:bodyPr>
          <a:lstStyle/>
          <a:p>
            <a:pPr algn="l" indent="0" marL="0">
              <a:buNone/>
            </a:pPr>
            <a:r>
              <a:rPr lang="en-US" sz="1150" dirty="0">
                <a:solidFill>
                  <a:srgbClr val="DCE8F5"/>
                </a:solidFill>
                <a:latin typeface="Consolas" pitchFamily="34" charset="0"/>
                <a:ea typeface="Consolas" pitchFamily="34" charset="-122"/>
                <a:cs typeface="Consolas" pitchFamily="34" charset="-120"/>
              </a:rPr>
              <a:t>  &lt;p&gt;My first page&lt;/p&gt;</a:t>
            </a:r>
            <a:endParaRPr lang="en-US" sz="1150" dirty="0"/>
          </a:p>
        </p:txBody>
      </p:sp>
      <p:sp>
        <p:nvSpPr>
          <p:cNvPr id="21" name="Text 19"/>
          <p:cNvSpPr txBox="1"/>
          <p:nvPr/>
        </p:nvSpPr>
        <p:spPr>
          <a:xfrm>
            <a:off x="8302752" y="3529584"/>
            <a:ext cx="1920240" cy="256032"/>
          </a:xfrm>
          <a:prstGeom prst="rect">
            <a:avLst/>
          </a:prstGeom>
          <a:noFill/>
          <a:ln/>
        </p:spPr>
        <p:txBody>
          <a:bodyPr wrap="square" lIns="0" tIns="0" rIns="0" bIns="0" rtlCol="0" anchor="ctr">
            <a:normAutofit/>
          </a:bodyPr>
          <a:lstStyle/>
          <a:p>
            <a:pPr algn="l" indent="0" marL="0">
              <a:buNone/>
            </a:pPr>
            <a:r>
              <a:rPr lang="en-US" sz="1400" dirty="0">
                <a:solidFill>
                  <a:srgbClr val="FF9EAA"/>
                </a:solidFill>
                <a:latin typeface="Consolas" pitchFamily="34" charset="0"/>
                <a:ea typeface="Consolas" pitchFamily="34" charset="-122"/>
                <a:cs typeface="Consolas" pitchFamily="34" charset="-120"/>
              </a:rPr>
              <a:t>&lt;/section&gt;</a:t>
            </a:r>
            <a:endParaRPr lang="en-US" sz="1400" dirty="0"/>
          </a:p>
        </p:txBody>
      </p:sp>
      <p:sp>
        <p:nvSpPr>
          <p:cNvPr id="22" name="Shape 20"/>
          <p:cNvSpPr/>
          <p:nvPr/>
        </p:nvSpPr>
        <p:spPr>
          <a:xfrm>
            <a:off x="8302752" y="3995928"/>
            <a:ext cx="2596896" cy="0"/>
          </a:xfrm>
          <a:prstGeom prst="line">
            <a:avLst/>
          </a:prstGeom>
          <a:noFill/>
          <a:ln w="12700">
            <a:solidFill>
              <a:srgbClr val="314762"/>
            </a:solidFill>
            <a:prstDash val="solid"/>
          </a:ln>
        </p:spPr>
      </p:sp>
      <p:sp>
        <p:nvSpPr>
          <p:cNvPr id="23" name="Text 21"/>
          <p:cNvSpPr txBox="1"/>
          <p:nvPr/>
        </p:nvSpPr>
        <p:spPr>
          <a:xfrm>
            <a:off x="8302752" y="4169664"/>
            <a:ext cx="548640" cy="237744"/>
          </a:xfrm>
          <a:prstGeom prst="rect">
            <a:avLst/>
          </a:prstGeom>
          <a:noFill/>
          <a:ln/>
        </p:spPr>
        <p:txBody>
          <a:bodyPr wrap="square" lIns="0" tIns="0" rIns="0" bIns="0" rtlCol="0" anchor="ctr">
            <a:normAutofit/>
          </a:bodyPr>
          <a:lstStyle/>
          <a:p>
            <a:pPr algn="l" indent="0" marL="0">
              <a:buNone/>
            </a:pPr>
            <a:r>
              <a:rPr lang="en-US" sz="1000" b="1" spc="150" kern="0" dirty="0">
                <a:solidFill>
                  <a:srgbClr val="9AE6B4"/>
                </a:solidFill>
                <a:latin typeface="Aptos" pitchFamily="34" charset="0"/>
                <a:ea typeface="Aptos" pitchFamily="34" charset="-122"/>
                <a:cs typeface="Aptos" pitchFamily="34" charset="-120"/>
              </a:rPr>
              <a:t>CSS</a:t>
            </a:r>
            <a:endParaRPr lang="en-US" sz="1000" dirty="0"/>
          </a:p>
        </p:txBody>
      </p:sp>
      <p:sp>
        <p:nvSpPr>
          <p:cNvPr id="24" name="Text 22"/>
          <p:cNvSpPr txBox="1"/>
          <p:nvPr/>
        </p:nvSpPr>
        <p:spPr>
          <a:xfrm>
            <a:off x="8302752" y="4517136"/>
            <a:ext cx="2514600" cy="256032"/>
          </a:xfrm>
          <a:prstGeom prst="rect">
            <a:avLst/>
          </a:prstGeom>
          <a:noFill/>
          <a:ln/>
        </p:spPr>
        <p:txBody>
          <a:bodyPr wrap="square" lIns="0" tIns="0" rIns="0" bIns="0" rtlCol="0" anchor="ctr">
            <a:normAutofit/>
          </a:bodyPr>
          <a:lstStyle/>
          <a:p>
            <a:pPr algn="l" indent="0" marL="0">
              <a:buNone/>
            </a:pPr>
            <a:r>
              <a:rPr lang="en-US" sz="1100" dirty="0">
                <a:solidFill>
                  <a:srgbClr val="F8D477"/>
                </a:solidFill>
                <a:latin typeface="Consolas" pitchFamily="34" charset="0"/>
                <a:ea typeface="Consolas" pitchFamily="34" charset="-122"/>
                <a:cs typeface="Consolas" pitchFamily="34" charset="-120"/>
              </a:rPr>
              <a:t>.card {  color: teal;  }</a:t>
            </a:r>
            <a:endParaRPr lang="en-US" sz="1100" dirty="0"/>
          </a:p>
        </p:txBody>
      </p:sp>
      <p:sp>
        <p:nvSpPr>
          <p:cNvPr id="25" name="Text 23"/>
          <p:cNvSpPr txBox="1"/>
          <p:nvPr/>
        </p:nvSpPr>
        <p:spPr>
          <a:xfrm>
            <a:off x="8065008" y="5806440"/>
            <a:ext cx="3246120" cy="292608"/>
          </a:xfrm>
          <a:prstGeom prst="rect">
            <a:avLst/>
          </a:prstGeom>
          <a:noFill/>
          <a:ln/>
        </p:spPr>
        <p:txBody>
          <a:bodyPr wrap="square" lIns="0" tIns="0" rIns="0" bIns="0" rtlCol="0" anchor="ctr">
            <a:normAutofit/>
          </a:bodyPr>
          <a:lstStyle/>
          <a:p>
            <a:pPr algn="ctr" indent="0" marL="0">
              <a:buNone/>
            </a:pPr>
            <a:r>
              <a:rPr lang="en-US" sz="1300" b="1" dirty="0">
                <a:solidFill>
                  <a:srgbClr val="B7F8EE"/>
                </a:solidFill>
                <a:latin typeface="Aptos" pitchFamily="34" charset="0"/>
                <a:ea typeface="Aptos" pitchFamily="34" charset="-122"/>
                <a:cs typeface="Aptos" pitchFamily="34" charset="-120"/>
              </a:rPr>
              <a:t>Structure + style = a web page</a:t>
            </a:r>
            <a:endParaRPr lang="en-US" sz="1300" dirty="0"/>
          </a:p>
        </p:txBody>
      </p:sp>
      <p:pic>
        <p:nvPicPr>
          <p:cNvPr id="3" name="Full presentation audio walkthrough">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49808" y="5486400"/>
            <a:ext cx="438912" cy="438912"/>
          </a:xfrm>
          <a:prstGeom prst="rect">
            <a:avLst/>
          </a:prstGeom>
        </p:spPr>
      </p:pic>
      <p:sp>
        <p:nvSpPr>
          <p:cNvPr id="27" name="Text 24"/>
          <p:cNvSpPr txBox="1"/>
          <p:nvPr/>
        </p:nvSpPr>
        <p:spPr>
          <a:xfrm>
            <a:off x="1298448" y="5577840"/>
            <a:ext cx="4206240" cy="219456"/>
          </a:xfrm>
          <a:prstGeom prst="rect">
            <a:avLst/>
          </a:prstGeom>
          <a:noFill/>
          <a:ln/>
        </p:spPr>
        <p:txBody>
          <a:bodyPr wrap="square" lIns="0" tIns="0" rIns="0" bIns="0" rtlCol="0" anchor="ctr">
            <a:normAutofit/>
          </a:bodyPr>
          <a:lstStyle/>
          <a:p>
            <a:pPr algn="l" indent="0" marL="0">
              <a:buNone/>
            </a:pPr>
            <a:r>
              <a:rPr lang="en-US" sz="1050" b="1" spc="35" kern="0" dirty="0">
                <a:solidFill>
                  <a:srgbClr val="B7F8EE"/>
                </a:solidFill>
                <a:latin typeface="Aptos" pitchFamily="34" charset="0"/>
                <a:ea typeface="Aptos" pitchFamily="34" charset="-122"/>
                <a:cs typeface="Aptos" pitchFamily="34" charset="-120"/>
              </a:rPr>
              <a:t>CLICK PLAY FOR THE FULL AUDIO WALKTHROUGH</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02</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What will we learn?</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Think of this course as upgrading the tools you already use to make web pages.</a:t>
            </a:r>
            <a:endParaRPr lang="en-US" sz="1250" dirty="0"/>
          </a:p>
        </p:txBody>
      </p:sp>
      <p:sp>
        <p:nvSpPr>
          <p:cNvPr id="5" name="Shape 3"/>
          <p:cNvSpPr/>
          <p:nvPr/>
        </p:nvSpPr>
        <p:spPr>
          <a:xfrm>
            <a:off x="658368" y="1755648"/>
            <a:ext cx="2633472" cy="1828800"/>
          </a:xfrm>
          <a:prstGeom prst="roundRect">
            <a:avLst>
              <a:gd name="adj" fmla="val 6000"/>
            </a:avLst>
          </a:prstGeom>
          <a:solidFill>
            <a:srgbClr val="FFFFFF"/>
          </a:solidFill>
          <a:ln w="12700">
            <a:solidFill>
              <a:srgbClr val="DEE5EE"/>
            </a:solidFill>
            <a:prstDash val="solid"/>
          </a:ln>
        </p:spPr>
      </p:sp>
      <p:sp>
        <p:nvSpPr>
          <p:cNvPr id="6" name="Shape 4"/>
          <p:cNvSpPr/>
          <p:nvPr/>
        </p:nvSpPr>
        <p:spPr>
          <a:xfrm>
            <a:off x="841248" y="1956816"/>
            <a:ext cx="768096" cy="292608"/>
          </a:xfrm>
          <a:prstGeom prst="roundRect">
            <a:avLst>
              <a:gd name="adj" fmla="val 37500"/>
            </a:avLst>
          </a:prstGeom>
          <a:solidFill>
            <a:srgbClr val="DDF7F2"/>
          </a:solidFill>
          <a:ln w="1270">
            <a:solidFill>
              <a:srgbClr val="DDF7F2">
                <a:alpha val="0"/>
              </a:srgbClr>
            </a:solidFill>
            <a:prstDash val="solid"/>
          </a:ln>
        </p:spPr>
      </p:sp>
      <p:sp>
        <p:nvSpPr>
          <p:cNvPr id="7" name="Text 5"/>
          <p:cNvSpPr txBox="1"/>
          <p:nvPr/>
        </p:nvSpPr>
        <p:spPr>
          <a:xfrm>
            <a:off x="877824" y="1965960"/>
            <a:ext cx="694944" cy="256032"/>
          </a:xfrm>
          <a:prstGeom prst="rect">
            <a:avLst/>
          </a:prstGeom>
          <a:noFill/>
          <a:ln/>
        </p:spPr>
        <p:txBody>
          <a:bodyPr wrap="square" lIns="0" tIns="0" rIns="0" bIns="0" rtlCol="0" anchor="ctr">
            <a:normAutofit/>
          </a:bodyPr>
          <a:lstStyle/>
          <a:p>
            <a:pPr algn="ctr" indent="0" marL="0">
              <a:buNone/>
            </a:pPr>
            <a:r>
              <a:rPr lang="en-US" sz="900" b="1" dirty="0">
                <a:solidFill>
                  <a:srgbClr val="16B7A4"/>
                </a:solidFill>
                <a:latin typeface="Aptos" pitchFamily="34" charset="0"/>
                <a:ea typeface="Aptos" pitchFamily="34" charset="-122"/>
                <a:cs typeface="Aptos" pitchFamily="34" charset="-120"/>
              </a:rPr>
              <a:t>HTML</a:t>
            </a:r>
            <a:endParaRPr lang="en-US" sz="900" dirty="0"/>
          </a:p>
        </p:txBody>
      </p:sp>
      <p:sp>
        <p:nvSpPr>
          <p:cNvPr id="8" name="Text 6"/>
          <p:cNvSpPr txBox="1"/>
          <p:nvPr/>
        </p:nvSpPr>
        <p:spPr>
          <a:xfrm>
            <a:off x="841248" y="2450592"/>
            <a:ext cx="2267712" cy="310896"/>
          </a:xfrm>
          <a:prstGeom prst="rect">
            <a:avLst/>
          </a:prstGeom>
          <a:noFill/>
          <a:ln/>
        </p:spPr>
        <p:txBody>
          <a:bodyPr wrap="square" lIns="0" tIns="0" rIns="0" bIns="0" rtlCol="0" anchor="ctr">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Richer content</a:t>
            </a:r>
            <a:endParaRPr lang="en-US" sz="1700" dirty="0"/>
          </a:p>
        </p:txBody>
      </p:sp>
      <p:sp>
        <p:nvSpPr>
          <p:cNvPr id="9" name="Text 7"/>
          <p:cNvSpPr txBox="1"/>
          <p:nvPr/>
        </p:nvSpPr>
        <p:spPr>
          <a:xfrm>
            <a:off x="841248" y="2852928"/>
            <a:ext cx="2267712" cy="521208"/>
          </a:xfrm>
          <a:prstGeom prst="rect">
            <a:avLst/>
          </a:prstGeom>
          <a:noFill/>
          <a:ln/>
        </p:spPr>
        <p:txBody>
          <a:bodyPr wrap="square" lIns="0" tIns="0" rIns="0" bIns="0" rtlCol="0" anchor="t">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SVG icons and tables help present information clearly.</a:t>
            </a:r>
            <a:endParaRPr lang="en-US" sz="1250" dirty="0"/>
          </a:p>
        </p:txBody>
      </p:sp>
      <p:sp>
        <p:nvSpPr>
          <p:cNvPr id="10" name="Shape 8"/>
          <p:cNvSpPr/>
          <p:nvPr/>
        </p:nvSpPr>
        <p:spPr>
          <a:xfrm>
            <a:off x="3456432" y="1755648"/>
            <a:ext cx="2633472" cy="1828800"/>
          </a:xfrm>
          <a:prstGeom prst="roundRect">
            <a:avLst>
              <a:gd name="adj" fmla="val 6000"/>
            </a:avLst>
          </a:prstGeom>
          <a:solidFill>
            <a:srgbClr val="FFFFFF"/>
          </a:solidFill>
          <a:ln w="12700">
            <a:solidFill>
              <a:srgbClr val="DEE5EE"/>
            </a:solidFill>
            <a:prstDash val="solid"/>
          </a:ln>
        </p:spPr>
      </p:sp>
      <p:sp>
        <p:nvSpPr>
          <p:cNvPr id="11" name="Shape 9"/>
          <p:cNvSpPr/>
          <p:nvPr/>
        </p:nvSpPr>
        <p:spPr>
          <a:xfrm>
            <a:off x="3639312" y="1956816"/>
            <a:ext cx="768096" cy="292608"/>
          </a:xfrm>
          <a:prstGeom prst="roundRect">
            <a:avLst>
              <a:gd name="adj" fmla="val 37500"/>
            </a:avLst>
          </a:prstGeom>
          <a:solidFill>
            <a:srgbClr val="E8EDFF"/>
          </a:solidFill>
          <a:ln w="1270">
            <a:solidFill>
              <a:srgbClr val="E8EDFF">
                <a:alpha val="0"/>
              </a:srgbClr>
            </a:solidFill>
            <a:prstDash val="solid"/>
          </a:ln>
        </p:spPr>
      </p:sp>
      <p:sp>
        <p:nvSpPr>
          <p:cNvPr id="12" name="Text 10"/>
          <p:cNvSpPr txBox="1"/>
          <p:nvPr/>
        </p:nvSpPr>
        <p:spPr>
          <a:xfrm>
            <a:off x="3675888" y="1965960"/>
            <a:ext cx="694944" cy="256032"/>
          </a:xfrm>
          <a:prstGeom prst="rect">
            <a:avLst/>
          </a:prstGeom>
          <a:noFill/>
          <a:ln/>
        </p:spPr>
        <p:txBody>
          <a:bodyPr wrap="square" lIns="0" tIns="0" rIns="0" bIns="0" rtlCol="0" anchor="ctr">
            <a:normAutofit/>
          </a:bodyPr>
          <a:lstStyle/>
          <a:p>
            <a:pPr algn="ctr" indent="0" marL="0">
              <a:buNone/>
            </a:pPr>
            <a:r>
              <a:rPr lang="en-US" sz="900" b="1" dirty="0">
                <a:solidFill>
                  <a:srgbClr val="5272F2"/>
                </a:solidFill>
                <a:latin typeface="Aptos" pitchFamily="34" charset="0"/>
                <a:ea typeface="Aptos" pitchFamily="34" charset="-122"/>
                <a:cs typeface="Aptos" pitchFamily="34" charset="-120"/>
              </a:rPr>
              <a:t>CSS</a:t>
            </a:r>
            <a:endParaRPr lang="en-US" sz="900" dirty="0"/>
          </a:p>
        </p:txBody>
      </p:sp>
      <p:sp>
        <p:nvSpPr>
          <p:cNvPr id="13" name="Text 11"/>
          <p:cNvSpPr txBox="1"/>
          <p:nvPr/>
        </p:nvSpPr>
        <p:spPr>
          <a:xfrm>
            <a:off x="3639312" y="2450592"/>
            <a:ext cx="2267712" cy="310896"/>
          </a:xfrm>
          <a:prstGeom prst="rect">
            <a:avLst/>
          </a:prstGeom>
          <a:noFill/>
          <a:ln/>
        </p:spPr>
        <p:txBody>
          <a:bodyPr wrap="square" lIns="0" tIns="0" rIns="0" bIns="0" rtlCol="0" anchor="ctr">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Smarter styling</a:t>
            </a:r>
            <a:endParaRPr lang="en-US" sz="1700" dirty="0"/>
          </a:p>
        </p:txBody>
      </p:sp>
      <p:sp>
        <p:nvSpPr>
          <p:cNvPr id="14" name="Text 12"/>
          <p:cNvSpPr txBox="1"/>
          <p:nvPr/>
        </p:nvSpPr>
        <p:spPr>
          <a:xfrm>
            <a:off x="3639312" y="2852928"/>
            <a:ext cx="2267712" cy="521208"/>
          </a:xfrm>
          <a:prstGeom prst="rect">
            <a:avLst/>
          </a:prstGeom>
          <a:noFill/>
          <a:ln/>
        </p:spPr>
        <p:txBody>
          <a:bodyPr wrap="square" lIns="0" tIns="0" rIns="0" bIns="0" rtlCol="0" anchor="t">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Units, selectors, spacing and positioning control appearance.</a:t>
            </a:r>
            <a:endParaRPr lang="en-US" sz="1250" dirty="0"/>
          </a:p>
        </p:txBody>
      </p:sp>
      <p:sp>
        <p:nvSpPr>
          <p:cNvPr id="15" name="Shape 13"/>
          <p:cNvSpPr/>
          <p:nvPr/>
        </p:nvSpPr>
        <p:spPr>
          <a:xfrm>
            <a:off x="6254496" y="1755648"/>
            <a:ext cx="2633472" cy="1828800"/>
          </a:xfrm>
          <a:prstGeom prst="roundRect">
            <a:avLst>
              <a:gd name="adj" fmla="val 6000"/>
            </a:avLst>
          </a:prstGeom>
          <a:solidFill>
            <a:srgbClr val="FFFFFF"/>
          </a:solidFill>
          <a:ln w="12700">
            <a:solidFill>
              <a:srgbClr val="DEE5EE"/>
            </a:solidFill>
            <a:prstDash val="solid"/>
          </a:ln>
        </p:spPr>
      </p:sp>
      <p:sp>
        <p:nvSpPr>
          <p:cNvPr id="16" name="Shape 14"/>
          <p:cNvSpPr/>
          <p:nvPr/>
        </p:nvSpPr>
        <p:spPr>
          <a:xfrm>
            <a:off x="6437376" y="1956816"/>
            <a:ext cx="768096" cy="292608"/>
          </a:xfrm>
          <a:prstGeom prst="roundRect">
            <a:avLst>
              <a:gd name="adj" fmla="val 37500"/>
            </a:avLst>
          </a:prstGeom>
          <a:solidFill>
            <a:srgbClr val="FFE8E3"/>
          </a:solidFill>
          <a:ln w="1270">
            <a:solidFill>
              <a:srgbClr val="FFE8E3">
                <a:alpha val="0"/>
              </a:srgbClr>
            </a:solidFill>
            <a:prstDash val="solid"/>
          </a:ln>
        </p:spPr>
      </p:sp>
      <p:sp>
        <p:nvSpPr>
          <p:cNvPr id="17" name="Text 15"/>
          <p:cNvSpPr txBox="1"/>
          <p:nvPr/>
        </p:nvSpPr>
        <p:spPr>
          <a:xfrm>
            <a:off x="6473952" y="1965960"/>
            <a:ext cx="694944" cy="256032"/>
          </a:xfrm>
          <a:prstGeom prst="rect">
            <a:avLst/>
          </a:prstGeom>
          <a:noFill/>
          <a:ln/>
        </p:spPr>
        <p:txBody>
          <a:bodyPr wrap="square" lIns="0" tIns="0" rIns="0" bIns="0" rtlCol="0" anchor="ctr">
            <a:normAutofit/>
          </a:bodyPr>
          <a:lstStyle/>
          <a:p>
            <a:pPr algn="ctr" indent="0" marL="0">
              <a:buNone/>
            </a:pPr>
            <a:r>
              <a:rPr lang="en-US" sz="900" b="1" dirty="0">
                <a:solidFill>
                  <a:srgbClr val="FF826E"/>
                </a:solidFill>
                <a:latin typeface="Aptos" pitchFamily="34" charset="0"/>
                <a:ea typeface="Aptos" pitchFamily="34" charset="-122"/>
                <a:cs typeface="Aptos" pitchFamily="34" charset="-120"/>
              </a:rPr>
              <a:t>FORMS</a:t>
            </a:r>
            <a:endParaRPr lang="en-US" sz="900" dirty="0"/>
          </a:p>
        </p:txBody>
      </p:sp>
      <p:sp>
        <p:nvSpPr>
          <p:cNvPr id="18" name="Text 16"/>
          <p:cNvSpPr txBox="1"/>
          <p:nvPr/>
        </p:nvSpPr>
        <p:spPr>
          <a:xfrm>
            <a:off x="6437376" y="2450592"/>
            <a:ext cx="2267712" cy="310896"/>
          </a:xfrm>
          <a:prstGeom prst="rect">
            <a:avLst/>
          </a:prstGeom>
          <a:noFill/>
          <a:ln/>
        </p:spPr>
        <p:txBody>
          <a:bodyPr wrap="square" lIns="0" tIns="0" rIns="0" bIns="0" rtlCol="0" anchor="ctr">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Useful interaction</a:t>
            </a:r>
            <a:endParaRPr lang="en-US" sz="1700" dirty="0"/>
          </a:p>
        </p:txBody>
      </p:sp>
      <p:sp>
        <p:nvSpPr>
          <p:cNvPr id="19" name="Text 17"/>
          <p:cNvSpPr txBox="1"/>
          <p:nvPr/>
        </p:nvSpPr>
        <p:spPr>
          <a:xfrm>
            <a:off x="6437376" y="2852928"/>
            <a:ext cx="2267712" cy="521208"/>
          </a:xfrm>
          <a:prstGeom prst="rect">
            <a:avLst/>
          </a:prstGeom>
          <a:noFill/>
          <a:ln/>
        </p:spPr>
        <p:txBody>
          <a:bodyPr wrap="square" lIns="0" tIns="0" rIns="0" bIns="0" rtlCol="0" anchor="t">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Forms collect information and validation catches mistakes.</a:t>
            </a:r>
            <a:endParaRPr lang="en-US" sz="1250" dirty="0"/>
          </a:p>
        </p:txBody>
      </p:sp>
      <p:sp>
        <p:nvSpPr>
          <p:cNvPr id="20" name="Shape 18"/>
          <p:cNvSpPr/>
          <p:nvPr/>
        </p:nvSpPr>
        <p:spPr>
          <a:xfrm>
            <a:off x="9052560" y="1755648"/>
            <a:ext cx="2468880" cy="1828800"/>
          </a:xfrm>
          <a:prstGeom prst="roundRect">
            <a:avLst>
              <a:gd name="adj" fmla="val 6000"/>
            </a:avLst>
          </a:prstGeom>
          <a:solidFill>
            <a:srgbClr val="FFFFFF"/>
          </a:solidFill>
          <a:ln w="12700">
            <a:solidFill>
              <a:srgbClr val="DEE5EE"/>
            </a:solidFill>
            <a:prstDash val="solid"/>
          </a:ln>
        </p:spPr>
      </p:sp>
      <p:sp>
        <p:nvSpPr>
          <p:cNvPr id="21" name="Shape 19"/>
          <p:cNvSpPr/>
          <p:nvPr/>
        </p:nvSpPr>
        <p:spPr>
          <a:xfrm>
            <a:off x="9235440" y="1956816"/>
            <a:ext cx="768096" cy="292608"/>
          </a:xfrm>
          <a:prstGeom prst="roundRect">
            <a:avLst>
              <a:gd name="adj" fmla="val 37500"/>
            </a:avLst>
          </a:prstGeom>
          <a:solidFill>
            <a:srgbClr val="EEE8FF"/>
          </a:solidFill>
          <a:ln w="1270">
            <a:solidFill>
              <a:srgbClr val="EEE8FF">
                <a:alpha val="0"/>
              </a:srgbClr>
            </a:solidFill>
            <a:prstDash val="solid"/>
          </a:ln>
        </p:spPr>
      </p:sp>
      <p:sp>
        <p:nvSpPr>
          <p:cNvPr id="22" name="Text 20"/>
          <p:cNvSpPr txBox="1"/>
          <p:nvPr/>
        </p:nvSpPr>
        <p:spPr>
          <a:xfrm>
            <a:off x="9272016" y="1965960"/>
            <a:ext cx="694944" cy="256032"/>
          </a:xfrm>
          <a:prstGeom prst="rect">
            <a:avLst/>
          </a:prstGeom>
          <a:noFill/>
          <a:ln/>
        </p:spPr>
        <p:txBody>
          <a:bodyPr wrap="square" lIns="0" tIns="0" rIns="0" bIns="0" rtlCol="0" anchor="ctr">
            <a:normAutofit/>
          </a:bodyPr>
          <a:lstStyle/>
          <a:p>
            <a:pPr algn="ctr" indent="0" marL="0">
              <a:buNone/>
            </a:pPr>
            <a:r>
              <a:rPr lang="en-US" sz="900" b="1" dirty="0">
                <a:solidFill>
                  <a:srgbClr val="8C6FE8"/>
                </a:solidFill>
                <a:latin typeface="Aptos" pitchFamily="34" charset="0"/>
                <a:ea typeface="Aptos" pitchFamily="34" charset="-122"/>
                <a:cs typeface="Aptos" pitchFamily="34" charset="-120"/>
              </a:rPr>
              <a:t>LAYOUT</a:t>
            </a:r>
            <a:endParaRPr lang="en-US" sz="900" dirty="0"/>
          </a:p>
        </p:txBody>
      </p:sp>
      <p:sp>
        <p:nvSpPr>
          <p:cNvPr id="23" name="Text 21"/>
          <p:cNvSpPr txBox="1"/>
          <p:nvPr/>
        </p:nvSpPr>
        <p:spPr>
          <a:xfrm>
            <a:off x="9235440" y="2450592"/>
            <a:ext cx="2103120" cy="310896"/>
          </a:xfrm>
          <a:prstGeom prst="rect">
            <a:avLst/>
          </a:prstGeom>
          <a:noFill/>
          <a:ln/>
        </p:spPr>
        <p:txBody>
          <a:bodyPr wrap="square" lIns="0" tIns="0" rIns="0" bIns="0" rtlCol="0" anchor="ctr">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Flexible layouts</a:t>
            </a:r>
            <a:endParaRPr lang="en-US" sz="1700" dirty="0"/>
          </a:p>
        </p:txBody>
      </p:sp>
      <p:sp>
        <p:nvSpPr>
          <p:cNvPr id="24" name="Text 22"/>
          <p:cNvSpPr txBox="1"/>
          <p:nvPr/>
        </p:nvSpPr>
        <p:spPr>
          <a:xfrm>
            <a:off x="9235440" y="2852928"/>
            <a:ext cx="2103120" cy="521208"/>
          </a:xfrm>
          <a:prstGeom prst="rect">
            <a:avLst/>
          </a:prstGeom>
          <a:noFill/>
          <a:ln/>
        </p:spPr>
        <p:txBody>
          <a:bodyPr wrap="square" lIns="0" tIns="0" rIns="0" bIns="0" rtlCol="0" anchor="t">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Flexbox and Grid arrange content for real screens.</a:t>
            </a:r>
            <a:endParaRPr lang="en-US" sz="1250" dirty="0"/>
          </a:p>
        </p:txBody>
      </p:sp>
      <p:sp>
        <p:nvSpPr>
          <p:cNvPr id="25" name="Shape 23"/>
          <p:cNvSpPr/>
          <p:nvPr/>
        </p:nvSpPr>
        <p:spPr>
          <a:xfrm>
            <a:off x="658368" y="3977640"/>
            <a:ext cx="10863072" cy="1207008"/>
          </a:xfrm>
          <a:prstGeom prst="roundRect">
            <a:avLst>
              <a:gd name="adj" fmla="val 9091"/>
            </a:avLst>
          </a:prstGeom>
          <a:solidFill>
            <a:srgbClr val="EAF5F6"/>
          </a:solidFill>
          <a:ln w="12700">
            <a:solidFill>
              <a:srgbClr val="D3E8E9"/>
            </a:solidFill>
            <a:prstDash val="solid"/>
          </a:ln>
        </p:spPr>
      </p:sp>
      <p:sp>
        <p:nvSpPr>
          <p:cNvPr id="26" name="Text 24"/>
          <p:cNvSpPr txBox="1"/>
          <p:nvPr/>
        </p:nvSpPr>
        <p:spPr>
          <a:xfrm>
            <a:off x="896112" y="4242816"/>
            <a:ext cx="1097280" cy="256032"/>
          </a:xfrm>
          <a:prstGeom prst="rect">
            <a:avLst/>
          </a:prstGeom>
          <a:noFill/>
          <a:ln/>
        </p:spPr>
        <p:txBody>
          <a:bodyPr wrap="square" lIns="0" tIns="0" rIns="0" bIns="0" rtlCol="0" anchor="ctr">
            <a:normAutofit/>
          </a:bodyPr>
          <a:lstStyle/>
          <a:p>
            <a:pPr algn="l" indent="0" marL="0">
              <a:buNone/>
            </a:pPr>
            <a:r>
              <a:rPr lang="en-US" sz="1300" b="1" dirty="0">
                <a:solidFill>
                  <a:srgbClr val="16B7A4"/>
                </a:solidFill>
                <a:latin typeface="Aptos" pitchFamily="34" charset="0"/>
                <a:ea typeface="Aptos" pitchFamily="34" charset="-122"/>
                <a:cs typeface="Aptos" pitchFamily="34" charset="-120"/>
              </a:rPr>
              <a:t>The goal</a:t>
            </a:r>
            <a:endParaRPr lang="en-US" sz="1300" dirty="0"/>
          </a:p>
        </p:txBody>
      </p:sp>
      <p:sp>
        <p:nvSpPr>
          <p:cNvPr id="27" name="Text 25"/>
          <p:cNvSpPr txBox="1"/>
          <p:nvPr/>
        </p:nvSpPr>
        <p:spPr>
          <a:xfrm>
            <a:off x="1920240" y="4169664"/>
            <a:ext cx="8961120" cy="438912"/>
          </a:xfrm>
          <a:prstGeom prst="rect">
            <a:avLst/>
          </a:prstGeom>
          <a:noFill/>
          <a:ln/>
        </p:spPr>
        <p:txBody>
          <a:bodyPr wrap="square" lIns="0" tIns="0" rIns="0" bIns="0" rtlCol="0" anchor="ctr">
            <a:normAutofit/>
          </a:bodyPr>
          <a:lstStyle/>
          <a:p>
            <a:pPr algn="l" indent="0" marL="0">
              <a:buNone/>
            </a:pPr>
            <a:r>
              <a:rPr lang="en-US" sz="1800" b="1" dirty="0">
                <a:solidFill>
                  <a:srgbClr val="101828"/>
                </a:solidFill>
                <a:latin typeface="Aptos" pitchFamily="34" charset="0"/>
                <a:ea typeface="Aptos" pitchFamily="34" charset="-122"/>
                <a:cs typeface="Aptos" pitchFamily="34" charset="-120"/>
              </a:rPr>
              <a:t>Understand the purpose of each technique, recognize the code, and know when to use it.</a:t>
            </a:r>
            <a:endParaRPr lang="en-US" sz="1800" dirty="0"/>
          </a:p>
        </p:txBody>
      </p:sp>
      <p:sp>
        <p:nvSpPr>
          <p:cNvPr id="28" name="Text 26"/>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course outline</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03</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HTML gives structure; CSS gives appearance</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They work together, but each has a different job.</a:t>
            </a:r>
            <a:endParaRPr lang="en-US" sz="1250" dirty="0"/>
          </a:p>
        </p:txBody>
      </p:sp>
      <p:sp>
        <p:nvSpPr>
          <p:cNvPr id="5" name="Shape 3"/>
          <p:cNvSpPr/>
          <p:nvPr/>
        </p:nvSpPr>
        <p:spPr>
          <a:xfrm>
            <a:off x="658368" y="1700784"/>
            <a:ext cx="3749040" cy="4069080"/>
          </a:xfrm>
          <a:prstGeom prst="roundRect">
            <a:avLst>
              <a:gd name="adj" fmla="val 2927"/>
            </a:avLst>
          </a:prstGeom>
          <a:solidFill>
            <a:srgbClr val="FFFFFF"/>
          </a:solidFill>
          <a:ln w="12700">
            <a:solidFill>
              <a:srgbClr val="DEE5EE"/>
            </a:solidFill>
            <a:prstDash val="solid"/>
          </a:ln>
        </p:spPr>
      </p:sp>
      <p:sp>
        <p:nvSpPr>
          <p:cNvPr id="6" name="Text 4"/>
          <p:cNvSpPr txBox="1"/>
          <p:nvPr/>
        </p:nvSpPr>
        <p:spPr>
          <a:xfrm>
            <a:off x="914400" y="1938528"/>
            <a:ext cx="3108960" cy="320040"/>
          </a:xfrm>
          <a:prstGeom prst="rect">
            <a:avLst/>
          </a:prstGeom>
          <a:noFill/>
          <a:ln/>
        </p:spPr>
        <p:txBody>
          <a:bodyPr wrap="square" lIns="0" tIns="0" rIns="0" bIns="0" rtlCol="0" anchor="ctr">
            <a:normAutofit/>
          </a:bodyPr>
          <a:lstStyle/>
          <a:p>
            <a:pPr algn="l" indent="0" marL="0">
              <a:buNone/>
            </a:pPr>
            <a:r>
              <a:rPr lang="en-US" sz="1900" b="1" dirty="0">
                <a:solidFill>
                  <a:srgbClr val="101828"/>
                </a:solidFill>
                <a:latin typeface="Aptos" pitchFamily="34" charset="0"/>
                <a:ea typeface="Aptos" pitchFamily="34" charset="-122"/>
                <a:cs typeface="Aptos" pitchFamily="34" charset="-120"/>
              </a:rPr>
              <a:t>A simple analogy</a:t>
            </a:r>
            <a:endParaRPr lang="en-US" sz="1900" dirty="0"/>
          </a:p>
        </p:txBody>
      </p:sp>
      <p:sp>
        <p:nvSpPr>
          <p:cNvPr id="7" name="Shape 5"/>
          <p:cNvSpPr/>
          <p:nvPr/>
        </p:nvSpPr>
        <p:spPr>
          <a:xfrm>
            <a:off x="1005840" y="2542032"/>
            <a:ext cx="3017520" cy="694944"/>
          </a:xfrm>
          <a:prstGeom prst="roundRect">
            <a:avLst>
              <a:gd name="adj" fmla="val 15789"/>
            </a:avLst>
          </a:prstGeom>
          <a:solidFill>
            <a:srgbClr val="E8EDFF"/>
          </a:solidFill>
          <a:ln w="12700">
            <a:solidFill>
              <a:srgbClr val="D7DEFF"/>
            </a:solidFill>
            <a:prstDash val="solid"/>
          </a:ln>
        </p:spPr>
      </p:sp>
      <p:sp>
        <p:nvSpPr>
          <p:cNvPr id="8" name="Text 6"/>
          <p:cNvSpPr txBox="1"/>
          <p:nvPr/>
        </p:nvSpPr>
        <p:spPr>
          <a:xfrm>
            <a:off x="1207008" y="2660904"/>
            <a:ext cx="2560320" cy="274320"/>
          </a:xfrm>
          <a:prstGeom prst="rect">
            <a:avLst/>
          </a:prstGeom>
          <a:noFill/>
          <a:ln/>
        </p:spPr>
        <p:txBody>
          <a:bodyPr wrap="square" lIns="0" tIns="0" rIns="0" bIns="0" rtlCol="0" anchor="ctr">
            <a:normAutofit/>
          </a:bodyPr>
          <a:lstStyle/>
          <a:p>
            <a:pPr algn="l" indent="0" marL="0">
              <a:buNone/>
            </a:pPr>
            <a:r>
              <a:rPr lang="en-US" sz="1500" b="1" dirty="0">
                <a:solidFill>
                  <a:srgbClr val="5272F2"/>
                </a:solidFill>
                <a:latin typeface="Aptos" pitchFamily="34" charset="0"/>
                <a:ea typeface="Aptos" pitchFamily="34" charset="-122"/>
                <a:cs typeface="Aptos" pitchFamily="34" charset="-120"/>
              </a:rPr>
              <a:t>HTML  •  structure</a:t>
            </a:r>
            <a:endParaRPr lang="en-US" sz="1500" dirty="0"/>
          </a:p>
        </p:txBody>
      </p:sp>
      <p:sp>
        <p:nvSpPr>
          <p:cNvPr id="9" name="Shape 7"/>
          <p:cNvSpPr/>
          <p:nvPr/>
        </p:nvSpPr>
        <p:spPr>
          <a:xfrm>
            <a:off x="1005840" y="3374136"/>
            <a:ext cx="3017520" cy="694944"/>
          </a:xfrm>
          <a:prstGeom prst="roundRect">
            <a:avLst>
              <a:gd name="adj" fmla="val 15789"/>
            </a:avLst>
          </a:prstGeom>
          <a:solidFill>
            <a:srgbClr val="DDF7F2"/>
          </a:solidFill>
          <a:ln w="12700">
            <a:solidFill>
              <a:srgbClr val="BFECE4"/>
            </a:solidFill>
            <a:prstDash val="solid"/>
          </a:ln>
        </p:spPr>
      </p:sp>
      <p:sp>
        <p:nvSpPr>
          <p:cNvPr id="10" name="Text 8"/>
          <p:cNvSpPr txBox="1"/>
          <p:nvPr/>
        </p:nvSpPr>
        <p:spPr>
          <a:xfrm>
            <a:off x="1207008" y="3493008"/>
            <a:ext cx="2560320" cy="274320"/>
          </a:xfrm>
          <a:prstGeom prst="rect">
            <a:avLst/>
          </a:prstGeom>
          <a:noFill/>
          <a:ln/>
        </p:spPr>
        <p:txBody>
          <a:bodyPr wrap="square" lIns="0" tIns="0" rIns="0" bIns="0" rtlCol="0" anchor="ctr">
            <a:normAutofit/>
          </a:bodyPr>
          <a:lstStyle/>
          <a:p>
            <a:pPr algn="l" indent="0" marL="0">
              <a:buNone/>
            </a:pPr>
            <a:r>
              <a:rPr lang="en-US" sz="1500" b="1" dirty="0">
                <a:solidFill>
                  <a:srgbClr val="0D8E80"/>
                </a:solidFill>
                <a:latin typeface="Aptos" pitchFamily="34" charset="0"/>
                <a:ea typeface="Aptos" pitchFamily="34" charset="-122"/>
                <a:cs typeface="Aptos" pitchFamily="34" charset="-120"/>
              </a:rPr>
              <a:t>CSS  •  style</a:t>
            </a:r>
            <a:endParaRPr lang="en-US" sz="1500" dirty="0"/>
          </a:p>
        </p:txBody>
      </p:sp>
      <p:sp>
        <p:nvSpPr>
          <p:cNvPr id="11" name="Shape 9"/>
          <p:cNvSpPr/>
          <p:nvPr/>
        </p:nvSpPr>
        <p:spPr>
          <a:xfrm>
            <a:off x="1005840" y="4206240"/>
            <a:ext cx="3017520" cy="694944"/>
          </a:xfrm>
          <a:prstGeom prst="roundRect">
            <a:avLst>
              <a:gd name="adj" fmla="val 15789"/>
            </a:avLst>
          </a:prstGeom>
          <a:solidFill>
            <a:srgbClr val="FFF4D6"/>
          </a:solidFill>
          <a:ln w="12700">
            <a:solidFill>
              <a:srgbClr val="F5E1A7"/>
            </a:solidFill>
            <a:prstDash val="solid"/>
          </a:ln>
        </p:spPr>
      </p:sp>
      <p:sp>
        <p:nvSpPr>
          <p:cNvPr id="12" name="Text 10"/>
          <p:cNvSpPr txBox="1"/>
          <p:nvPr/>
        </p:nvSpPr>
        <p:spPr>
          <a:xfrm>
            <a:off x="1207008" y="4325112"/>
            <a:ext cx="2651760" cy="274320"/>
          </a:xfrm>
          <a:prstGeom prst="rect">
            <a:avLst/>
          </a:prstGeom>
          <a:noFill/>
          <a:ln/>
        </p:spPr>
        <p:txBody>
          <a:bodyPr wrap="square" lIns="0" tIns="0" rIns="0" bIns="0" rtlCol="0" anchor="ctr">
            <a:normAutofit/>
          </a:bodyPr>
          <a:lstStyle/>
          <a:p>
            <a:pPr algn="l" indent="0" marL="0">
              <a:buNone/>
            </a:pPr>
            <a:r>
              <a:rPr lang="en-US" sz="1500" b="1" dirty="0">
                <a:solidFill>
                  <a:srgbClr val="9B6A00"/>
                </a:solidFill>
                <a:latin typeface="Aptos" pitchFamily="34" charset="0"/>
                <a:ea typeface="Aptos" pitchFamily="34" charset="-122"/>
                <a:cs typeface="Aptos" pitchFamily="34" charset="-120"/>
              </a:rPr>
              <a:t>Browser  •  final result</a:t>
            </a:r>
            <a:endParaRPr lang="en-US" sz="1500" dirty="0"/>
          </a:p>
        </p:txBody>
      </p:sp>
      <p:sp>
        <p:nvSpPr>
          <p:cNvPr id="13" name="Text 11"/>
          <p:cNvSpPr txBox="1"/>
          <p:nvPr/>
        </p:nvSpPr>
        <p:spPr>
          <a:xfrm>
            <a:off x="1005840" y="5074920"/>
            <a:ext cx="2971800" cy="484632"/>
          </a:xfrm>
          <a:prstGeom prst="rect">
            <a:avLst/>
          </a:prstGeom>
          <a:noFill/>
          <a:ln/>
        </p:spPr>
        <p:txBody>
          <a:bodyPr wrap="square" lIns="0" tIns="0" rIns="0" bIns="0" rtlCol="0" anchor="t">
            <a:normAutofit/>
          </a:bodyPr>
          <a:lstStyle/>
          <a:p>
            <a:pPr algn="l" indent="0" marL="0">
              <a:buNone/>
            </a:pPr>
            <a:r>
              <a:rPr lang="en-US" sz="1300" dirty="0">
                <a:solidFill>
                  <a:srgbClr val="5F6F84"/>
                </a:solidFill>
                <a:latin typeface="Aptos" pitchFamily="34" charset="0"/>
                <a:ea typeface="Aptos" pitchFamily="34" charset="-122"/>
                <a:cs typeface="Aptos" pitchFamily="34" charset="-120"/>
              </a:rPr>
              <a:t>Like a house: structure first,</a:t>
            </a:r>
            <a:endParaRPr lang="en-US" sz="1300" dirty="0"/>
          </a:p>
          <a:p>
            <a:pPr algn="l" indent="0" marL="0">
              <a:buNone/>
            </a:pPr>
            <a:r>
              <a:rPr lang="en-US" sz="1300" dirty="0">
                <a:solidFill>
                  <a:srgbClr val="5F6F84"/>
                </a:solidFill>
                <a:latin typeface="Aptos" pitchFamily="34" charset="0"/>
                <a:ea typeface="Aptos" pitchFamily="34" charset="-122"/>
                <a:cs typeface="Aptos" pitchFamily="34" charset="-120"/>
              </a:rPr>
              <a:t>paint and decoration next.</a:t>
            </a:r>
            <a:endParaRPr lang="en-US" sz="1300" dirty="0"/>
          </a:p>
        </p:txBody>
      </p:sp>
      <p:sp>
        <p:nvSpPr>
          <p:cNvPr id="14" name="Text 12"/>
          <p:cNvSpPr txBox="1"/>
          <p:nvPr/>
        </p:nvSpPr>
        <p:spPr>
          <a:xfrm>
            <a:off x="4892040" y="1783080"/>
            <a:ext cx="960120" cy="246888"/>
          </a:xfrm>
          <a:prstGeom prst="rect">
            <a:avLst/>
          </a:prstGeom>
          <a:noFill/>
          <a:ln/>
        </p:spPr>
        <p:txBody>
          <a:bodyPr wrap="square" lIns="0" tIns="0" rIns="0" bIns="0" rtlCol="0" anchor="ctr">
            <a:normAutofit/>
          </a:bodyPr>
          <a:lstStyle/>
          <a:p>
            <a:pPr algn="l" indent="0" marL="0">
              <a:buNone/>
            </a:pPr>
            <a:r>
              <a:rPr lang="en-US" sz="1100" b="1" spc="120" kern="0" dirty="0">
                <a:solidFill>
                  <a:srgbClr val="5272F2"/>
                </a:solidFill>
                <a:latin typeface="Aptos" pitchFamily="34" charset="0"/>
                <a:ea typeface="Aptos" pitchFamily="34" charset="-122"/>
                <a:cs typeface="Aptos" pitchFamily="34" charset="-120"/>
              </a:rPr>
              <a:t>HTML</a:t>
            </a:r>
            <a:endParaRPr lang="en-US" sz="1100" dirty="0"/>
          </a:p>
        </p:txBody>
      </p:sp>
      <p:sp>
        <p:nvSpPr>
          <p:cNvPr id="15" name="Shape 13"/>
          <p:cNvSpPr/>
          <p:nvPr/>
        </p:nvSpPr>
        <p:spPr>
          <a:xfrm>
            <a:off x="4864608" y="2057400"/>
            <a:ext cx="3054096" cy="2377440"/>
          </a:xfrm>
          <a:prstGeom prst="roundRect">
            <a:avLst>
              <a:gd name="adj" fmla="val 4615"/>
            </a:avLst>
          </a:prstGeom>
          <a:solidFill>
            <a:srgbClr val="101B2B"/>
          </a:solidFill>
          <a:ln w="1270">
            <a:solidFill>
              <a:srgbClr val="101B2B">
                <a:alpha val="0"/>
              </a:srgbClr>
            </a:solidFill>
            <a:prstDash val="solid"/>
          </a:ln>
        </p:spPr>
      </p:sp>
      <p:sp>
        <p:nvSpPr>
          <p:cNvPr id="16" name="Shape 14"/>
          <p:cNvSpPr/>
          <p:nvPr/>
        </p:nvSpPr>
        <p:spPr>
          <a:xfrm>
            <a:off x="5029200" y="2194560"/>
            <a:ext cx="82296" cy="82296"/>
          </a:xfrm>
          <a:prstGeom prst="ellipse">
            <a:avLst/>
          </a:prstGeom>
          <a:solidFill>
            <a:srgbClr val="FF826E"/>
          </a:solidFill>
          <a:ln w="12700">
            <a:solidFill>
              <a:srgbClr val="FF826E"/>
            </a:solidFill>
            <a:prstDash val="solid"/>
          </a:ln>
        </p:spPr>
      </p:sp>
      <p:sp>
        <p:nvSpPr>
          <p:cNvPr id="17" name="Shape 15"/>
          <p:cNvSpPr/>
          <p:nvPr/>
        </p:nvSpPr>
        <p:spPr>
          <a:xfrm>
            <a:off x="5157216" y="2194560"/>
            <a:ext cx="82296" cy="82296"/>
          </a:xfrm>
          <a:prstGeom prst="ellipse">
            <a:avLst/>
          </a:prstGeom>
          <a:solidFill>
            <a:srgbClr val="F4C45E"/>
          </a:solidFill>
          <a:ln w="12700">
            <a:solidFill>
              <a:srgbClr val="F4C45E"/>
            </a:solidFill>
            <a:prstDash val="solid"/>
          </a:ln>
        </p:spPr>
      </p:sp>
      <p:sp>
        <p:nvSpPr>
          <p:cNvPr id="18" name="Shape 16"/>
          <p:cNvSpPr/>
          <p:nvPr/>
        </p:nvSpPr>
        <p:spPr>
          <a:xfrm>
            <a:off x="5285232" y="2194560"/>
            <a:ext cx="82296" cy="82296"/>
          </a:xfrm>
          <a:prstGeom prst="ellipse">
            <a:avLst/>
          </a:prstGeom>
          <a:solidFill>
            <a:srgbClr val="16B7A4"/>
          </a:solidFill>
          <a:ln w="12700">
            <a:solidFill>
              <a:srgbClr val="16B7A4"/>
            </a:solidFill>
            <a:prstDash val="solid"/>
          </a:ln>
        </p:spPr>
      </p:sp>
      <p:sp>
        <p:nvSpPr>
          <p:cNvPr id="19" name="Text 17"/>
          <p:cNvSpPr/>
          <p:nvPr/>
        </p:nvSpPr>
        <p:spPr>
          <a:xfrm>
            <a:off x="5065776" y="2450592"/>
            <a:ext cx="2670048" cy="1865376"/>
          </a:xfrm>
          <a:prstGeom prst="rect">
            <a:avLst/>
          </a:prstGeom>
          <a:noFill/>
          <a:ln/>
        </p:spPr>
        <p:txBody>
          <a:bodyPr wrap="square" lIns="0" tIns="0" rIns="0" bIns="0" rtlCol="0" anchor="t">
            <a:normAutofit/>
          </a:bodyPr>
          <a:lstStyle/>
          <a:p>
            <a:pPr indent="0" marL="0">
              <a:buNone/>
            </a:pPr>
            <a:r>
              <a:rPr lang="en-US" sz="1200" dirty="0">
                <a:solidFill>
                  <a:srgbClr val="FF9EAA"/>
                </a:solidFill>
                <a:latin typeface="Consolas" pitchFamily="34" charset="0"/>
                <a:ea typeface="Consolas" pitchFamily="34" charset="-122"/>
                <a:cs typeface="Consolas" pitchFamily="34" charset="-120"/>
              </a:rPr>
              <a:t>&lt;h1&gt;Welcome!&lt;/h1&gt;</a:t>
            </a:r>
            <a:endParaRPr lang="en-US" sz="1200" dirty="0"/>
          </a:p>
          <a:p>
            <a:pPr indent="0" marL="0">
              <a:buNone/>
            </a:pPr>
            <a:r>
              <a:rPr lang="en-US" sz="1200" dirty="0">
                <a:solidFill>
                  <a:srgbClr val="DCE8F5"/>
                </a:solidFill>
                <a:latin typeface="Consolas" pitchFamily="34" charset="0"/>
                <a:ea typeface="Consolas" pitchFamily="34" charset="-122"/>
                <a:cs typeface="Consolas" pitchFamily="34" charset="-120"/>
              </a:rPr>
              <a:t>&lt;p&gt;Explore my website.&lt;/p&gt;</a:t>
            </a:r>
            <a:endParaRPr lang="en-US" sz="1200" dirty="0"/>
          </a:p>
          <a:p>
            <a:pPr indent="0" marL="0">
              <a:buNone/>
            </a:pPr>
            <a:r>
              <a:rPr lang="en-US" sz="1200" dirty="0">
                <a:solidFill>
                  <a:srgbClr val="9AE6B4"/>
                </a:solidFill>
                <a:latin typeface="Consolas" pitchFamily="34" charset="0"/>
                <a:ea typeface="Consolas" pitchFamily="34" charset="-122"/>
                <a:cs typeface="Consolas" pitchFamily="34" charset="-120"/>
              </a:rPr>
              <a:t>&lt;button&gt;Start&lt;/button&gt;</a:t>
            </a:r>
            <a:endParaRPr lang="en-US" sz="1200" dirty="0"/>
          </a:p>
        </p:txBody>
      </p:sp>
      <p:sp>
        <p:nvSpPr>
          <p:cNvPr id="20" name="Text 18"/>
          <p:cNvSpPr txBox="1"/>
          <p:nvPr/>
        </p:nvSpPr>
        <p:spPr>
          <a:xfrm>
            <a:off x="8302752" y="1783080"/>
            <a:ext cx="685800" cy="246888"/>
          </a:xfrm>
          <a:prstGeom prst="rect">
            <a:avLst/>
          </a:prstGeom>
          <a:noFill/>
          <a:ln/>
        </p:spPr>
        <p:txBody>
          <a:bodyPr wrap="square" lIns="0" tIns="0" rIns="0" bIns="0" rtlCol="0" anchor="ctr">
            <a:normAutofit/>
          </a:bodyPr>
          <a:lstStyle/>
          <a:p>
            <a:pPr algn="l" indent="0" marL="0">
              <a:buNone/>
            </a:pPr>
            <a:r>
              <a:rPr lang="en-US" sz="1100" b="1" spc="120" kern="0" dirty="0">
                <a:solidFill>
                  <a:srgbClr val="16B7A4"/>
                </a:solidFill>
                <a:latin typeface="Aptos" pitchFamily="34" charset="0"/>
                <a:ea typeface="Aptos" pitchFamily="34" charset="-122"/>
                <a:cs typeface="Aptos" pitchFamily="34" charset="-120"/>
              </a:rPr>
              <a:t>CSS</a:t>
            </a:r>
            <a:endParaRPr lang="en-US" sz="1100" dirty="0"/>
          </a:p>
        </p:txBody>
      </p:sp>
      <p:sp>
        <p:nvSpPr>
          <p:cNvPr id="21" name="Shape 19"/>
          <p:cNvSpPr/>
          <p:nvPr/>
        </p:nvSpPr>
        <p:spPr>
          <a:xfrm>
            <a:off x="8257032" y="2057400"/>
            <a:ext cx="3246120" cy="2377440"/>
          </a:xfrm>
          <a:prstGeom prst="roundRect">
            <a:avLst>
              <a:gd name="adj" fmla="val 4615"/>
            </a:avLst>
          </a:prstGeom>
          <a:solidFill>
            <a:srgbClr val="101B2B"/>
          </a:solidFill>
          <a:ln w="1270">
            <a:solidFill>
              <a:srgbClr val="101B2B">
                <a:alpha val="0"/>
              </a:srgbClr>
            </a:solidFill>
            <a:prstDash val="solid"/>
          </a:ln>
        </p:spPr>
      </p:sp>
      <p:sp>
        <p:nvSpPr>
          <p:cNvPr id="22" name="Shape 20"/>
          <p:cNvSpPr/>
          <p:nvPr/>
        </p:nvSpPr>
        <p:spPr>
          <a:xfrm>
            <a:off x="8421624" y="2194560"/>
            <a:ext cx="82296" cy="82296"/>
          </a:xfrm>
          <a:prstGeom prst="ellipse">
            <a:avLst/>
          </a:prstGeom>
          <a:solidFill>
            <a:srgbClr val="FF826E"/>
          </a:solidFill>
          <a:ln w="12700">
            <a:solidFill>
              <a:srgbClr val="FF826E"/>
            </a:solidFill>
            <a:prstDash val="solid"/>
          </a:ln>
        </p:spPr>
      </p:sp>
      <p:sp>
        <p:nvSpPr>
          <p:cNvPr id="23" name="Shape 21"/>
          <p:cNvSpPr/>
          <p:nvPr/>
        </p:nvSpPr>
        <p:spPr>
          <a:xfrm>
            <a:off x="8549640" y="2194560"/>
            <a:ext cx="82296" cy="82296"/>
          </a:xfrm>
          <a:prstGeom prst="ellipse">
            <a:avLst/>
          </a:prstGeom>
          <a:solidFill>
            <a:srgbClr val="F4C45E"/>
          </a:solidFill>
          <a:ln w="12700">
            <a:solidFill>
              <a:srgbClr val="F4C45E"/>
            </a:solidFill>
            <a:prstDash val="solid"/>
          </a:ln>
        </p:spPr>
      </p:sp>
      <p:sp>
        <p:nvSpPr>
          <p:cNvPr id="24" name="Shape 22"/>
          <p:cNvSpPr/>
          <p:nvPr/>
        </p:nvSpPr>
        <p:spPr>
          <a:xfrm>
            <a:off x="8677656" y="2194560"/>
            <a:ext cx="82296" cy="82296"/>
          </a:xfrm>
          <a:prstGeom prst="ellipse">
            <a:avLst/>
          </a:prstGeom>
          <a:solidFill>
            <a:srgbClr val="16B7A4"/>
          </a:solidFill>
          <a:ln w="12700">
            <a:solidFill>
              <a:srgbClr val="16B7A4"/>
            </a:solidFill>
            <a:prstDash val="solid"/>
          </a:ln>
        </p:spPr>
      </p:sp>
      <p:sp>
        <p:nvSpPr>
          <p:cNvPr id="25" name="Text 23"/>
          <p:cNvSpPr/>
          <p:nvPr/>
        </p:nvSpPr>
        <p:spPr>
          <a:xfrm>
            <a:off x="8458200" y="2450592"/>
            <a:ext cx="2862072" cy="1865376"/>
          </a:xfrm>
          <a:prstGeom prst="rect">
            <a:avLst/>
          </a:prstGeom>
          <a:noFill/>
          <a:ln/>
        </p:spPr>
        <p:txBody>
          <a:bodyPr wrap="square" lIns="0" tIns="0" rIns="0" bIns="0" rtlCol="0" anchor="t">
            <a:normAutofit/>
          </a:bodyPr>
          <a:lstStyle/>
          <a:p>
            <a:pPr indent="0" marL="0">
              <a:buNone/>
            </a:pPr>
            <a:r>
              <a:rPr lang="en-US" sz="1130" dirty="0">
                <a:solidFill>
                  <a:srgbClr val="FF9EAA"/>
                </a:solidFill>
                <a:latin typeface="Consolas" pitchFamily="34" charset="0"/>
                <a:ea typeface="Consolas" pitchFamily="34" charset="-122"/>
                <a:cs typeface="Consolas" pitchFamily="34" charset="-120"/>
              </a:rPr>
              <a:t>h1 {</a:t>
            </a:r>
            <a:endParaRPr lang="en-US" sz="1130" dirty="0"/>
          </a:p>
          <a:p>
            <a:pPr indent="0" marL="0">
              <a:buNone/>
            </a:pPr>
            <a:r>
              <a:rPr lang="en-US" sz="1130" dirty="0">
                <a:solidFill>
                  <a:srgbClr val="DCE8F5"/>
                </a:solidFill>
                <a:latin typeface="Consolas" pitchFamily="34" charset="0"/>
                <a:ea typeface="Consolas" pitchFamily="34" charset="-122"/>
                <a:cs typeface="Consolas" pitchFamily="34" charset="-120"/>
              </a:rPr>
              <a:t>  color: #5272F2;</a:t>
            </a:r>
            <a:endParaRPr lang="en-US" sz="1130" dirty="0"/>
          </a:p>
          <a:p>
            <a:pPr indent="0" marL="0">
              <a:buNone/>
            </a:pPr>
            <a:r>
              <a:rPr lang="en-US" sz="1130" dirty="0">
                <a:solidFill>
                  <a:srgbClr val="DCE8F5"/>
                </a:solidFill>
                <a:latin typeface="Consolas" pitchFamily="34" charset="0"/>
                <a:ea typeface="Consolas" pitchFamily="34" charset="-122"/>
                <a:cs typeface="Consolas" pitchFamily="34" charset="-120"/>
              </a:rPr>
              <a:t>  font-size: 2rem;</a:t>
            </a:r>
            <a:endParaRPr lang="en-US" sz="1130" dirty="0"/>
          </a:p>
          <a:p>
            <a:pPr indent="0" marL="0">
              <a:buNone/>
            </a:pPr>
            <a:r>
              <a:rPr lang="en-US" sz="1130" dirty="0">
                <a:solidFill>
                  <a:srgbClr val="FF9EAA"/>
                </a:solidFill>
                <a:latin typeface="Consolas" pitchFamily="34" charset="0"/>
                <a:ea typeface="Consolas" pitchFamily="34" charset="-122"/>
                <a:cs typeface="Consolas" pitchFamily="34" charset="-120"/>
              </a:rPr>
              <a:t>}</a:t>
            </a:r>
            <a:endParaRPr lang="en-US" sz="1130" dirty="0"/>
          </a:p>
          <a:p>
            <a:pPr indent="0" marL="0">
              <a:buNone/>
            </a:pPr>
            <a:r>
              <a:rPr lang="en-US" sz="1130" dirty="0">
                <a:solidFill>
                  <a:srgbClr val="9AE6B4"/>
                </a:solidFill>
                <a:latin typeface="Consolas" pitchFamily="34" charset="0"/>
                <a:ea typeface="Consolas" pitchFamily="34" charset="-122"/>
                <a:cs typeface="Consolas" pitchFamily="34" charset="-120"/>
              </a:rPr>
              <a:t>button { border-radius: 8px; }</a:t>
            </a:r>
            <a:endParaRPr lang="en-US" sz="1130" dirty="0"/>
          </a:p>
        </p:txBody>
      </p:sp>
      <p:sp>
        <p:nvSpPr>
          <p:cNvPr id="26" name="Shape 24"/>
          <p:cNvSpPr/>
          <p:nvPr/>
        </p:nvSpPr>
        <p:spPr>
          <a:xfrm>
            <a:off x="4864608" y="4709160"/>
            <a:ext cx="6629400" cy="932688"/>
          </a:xfrm>
          <a:prstGeom prst="roundRect">
            <a:avLst>
              <a:gd name="adj" fmla="val 11765"/>
            </a:avLst>
          </a:prstGeom>
          <a:solidFill>
            <a:srgbClr val="FFFFFF"/>
          </a:solidFill>
          <a:ln w="12700">
            <a:solidFill>
              <a:srgbClr val="DEE5EE"/>
            </a:solidFill>
            <a:prstDash val="solid"/>
          </a:ln>
        </p:spPr>
      </p:sp>
      <p:sp>
        <p:nvSpPr>
          <p:cNvPr id="27" name="Text 25"/>
          <p:cNvSpPr txBox="1"/>
          <p:nvPr/>
        </p:nvSpPr>
        <p:spPr>
          <a:xfrm>
            <a:off x="5138928" y="4855464"/>
            <a:ext cx="2194560" cy="310896"/>
          </a:xfrm>
          <a:prstGeom prst="rect">
            <a:avLst/>
          </a:prstGeom>
          <a:noFill/>
          <a:ln/>
        </p:spPr>
        <p:txBody>
          <a:bodyPr wrap="square" lIns="0" tIns="0" rIns="0" bIns="0" rtlCol="0" anchor="ctr">
            <a:normAutofit/>
          </a:bodyPr>
          <a:lstStyle/>
          <a:p>
            <a:pPr algn="l" indent="0" marL="0">
              <a:buNone/>
            </a:pPr>
            <a:r>
              <a:rPr lang="en-US" sz="2400" b="1" dirty="0">
                <a:solidFill>
                  <a:srgbClr val="5272F2"/>
                </a:solidFill>
                <a:latin typeface="Aptos" pitchFamily="34" charset="0"/>
                <a:ea typeface="Aptos" pitchFamily="34" charset="-122"/>
                <a:cs typeface="Aptos" pitchFamily="34" charset="-120"/>
              </a:rPr>
              <a:t>Welcome!</a:t>
            </a:r>
            <a:endParaRPr lang="en-US" sz="2400" dirty="0"/>
          </a:p>
        </p:txBody>
      </p:sp>
      <p:sp>
        <p:nvSpPr>
          <p:cNvPr id="28" name="Text 26"/>
          <p:cNvSpPr txBox="1"/>
          <p:nvPr/>
        </p:nvSpPr>
        <p:spPr>
          <a:xfrm>
            <a:off x="5157216" y="5230368"/>
            <a:ext cx="2194560" cy="228600"/>
          </a:xfrm>
          <a:prstGeom prst="rect">
            <a:avLst/>
          </a:prstGeom>
          <a:noFill/>
          <a:ln/>
        </p:spPr>
        <p:txBody>
          <a:bodyPr wrap="square" lIns="0" tIns="0" rIns="0" bIns="0" rtlCol="0" anchor="ctr">
            <a:normAutofit/>
          </a:bodyPr>
          <a:lstStyle/>
          <a:p>
            <a:pPr algn="l" indent="0" marL="0">
              <a:buNone/>
            </a:pPr>
            <a:r>
              <a:rPr lang="en-US" sz="1150" dirty="0">
                <a:solidFill>
                  <a:srgbClr val="5F6F84"/>
                </a:solidFill>
                <a:latin typeface="Aptos" pitchFamily="34" charset="0"/>
                <a:ea typeface="Aptos" pitchFamily="34" charset="-122"/>
                <a:cs typeface="Aptos" pitchFamily="34" charset="-120"/>
              </a:rPr>
              <a:t>Explore my website.</a:t>
            </a:r>
            <a:endParaRPr lang="en-US" sz="1150" dirty="0"/>
          </a:p>
        </p:txBody>
      </p:sp>
      <p:sp>
        <p:nvSpPr>
          <p:cNvPr id="29" name="Shape 27"/>
          <p:cNvSpPr/>
          <p:nvPr/>
        </p:nvSpPr>
        <p:spPr>
          <a:xfrm>
            <a:off x="9290304" y="5001768"/>
            <a:ext cx="1508760" cy="420624"/>
          </a:xfrm>
          <a:prstGeom prst="roundRect">
            <a:avLst>
              <a:gd name="adj" fmla="val 26087"/>
            </a:avLst>
          </a:prstGeom>
          <a:solidFill>
            <a:srgbClr val="16B7A4"/>
          </a:solidFill>
          <a:ln w="1270">
            <a:solidFill>
              <a:srgbClr val="16B7A4">
                <a:alpha val="0"/>
              </a:srgbClr>
            </a:solidFill>
            <a:prstDash val="solid"/>
          </a:ln>
        </p:spPr>
      </p:sp>
      <p:sp>
        <p:nvSpPr>
          <p:cNvPr id="30" name="Text 28"/>
          <p:cNvSpPr txBox="1"/>
          <p:nvPr/>
        </p:nvSpPr>
        <p:spPr>
          <a:xfrm>
            <a:off x="9299448" y="5065776"/>
            <a:ext cx="1490472"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Start</a:t>
            </a:r>
            <a:endParaRPr lang="en-US" sz="1200" dirty="0"/>
          </a:p>
        </p:txBody>
      </p:sp>
      <p:sp>
        <p:nvSpPr>
          <p:cNvPr id="31" name="Text 29"/>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course outline</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04</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SVG: images that stay sharp</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SVG means Scalable Vector Graphics. It is especially useful for icons, logos and simple illustrations.</a:t>
            </a:r>
            <a:endParaRPr lang="en-US" sz="1250" dirty="0"/>
          </a:p>
        </p:txBody>
      </p:sp>
      <p:sp>
        <p:nvSpPr>
          <p:cNvPr id="5" name="Shape 3"/>
          <p:cNvSpPr/>
          <p:nvPr/>
        </p:nvSpPr>
        <p:spPr>
          <a:xfrm>
            <a:off x="658368" y="1709928"/>
            <a:ext cx="4892040" cy="4151376"/>
          </a:xfrm>
          <a:prstGeom prst="roundRect">
            <a:avLst>
              <a:gd name="adj" fmla="val 2643"/>
            </a:avLst>
          </a:prstGeom>
          <a:solidFill>
            <a:srgbClr val="FFFFFF"/>
          </a:solidFill>
          <a:ln w="12700">
            <a:solidFill>
              <a:srgbClr val="DEE5EE"/>
            </a:solidFill>
            <a:prstDash val="solid"/>
          </a:ln>
        </p:spPr>
      </p:sp>
      <p:sp>
        <p:nvSpPr>
          <p:cNvPr id="6" name="Text 4"/>
          <p:cNvSpPr txBox="1"/>
          <p:nvPr/>
        </p:nvSpPr>
        <p:spPr>
          <a:xfrm>
            <a:off x="914400" y="1938528"/>
            <a:ext cx="2286000" cy="274320"/>
          </a:xfrm>
          <a:prstGeom prst="rect">
            <a:avLst/>
          </a:prstGeom>
          <a:noFill/>
          <a:ln/>
        </p:spPr>
        <p:txBody>
          <a:bodyPr wrap="square" lIns="0" tIns="0" rIns="0" bIns="0" rtlCol="0" anchor="ctr">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Vector illustration</a:t>
            </a:r>
            <a:endParaRPr lang="en-US" sz="1700" dirty="0"/>
          </a:p>
        </p:txBody>
      </p:sp>
      <p:sp>
        <p:nvSpPr>
          <p:cNvPr id="7" name="Shape 5"/>
          <p:cNvSpPr/>
          <p:nvPr/>
        </p:nvSpPr>
        <p:spPr>
          <a:xfrm>
            <a:off x="1325880" y="2560320"/>
            <a:ext cx="1078992" cy="1078992"/>
          </a:xfrm>
          <a:prstGeom prst="ellipse">
            <a:avLst/>
          </a:prstGeom>
          <a:solidFill>
            <a:srgbClr val="DDF7F2"/>
          </a:solidFill>
          <a:ln w="12700">
            <a:solidFill>
              <a:srgbClr val="B9E9E0"/>
            </a:solidFill>
            <a:prstDash val="solid"/>
          </a:ln>
        </p:spPr>
      </p:sp>
      <p:sp>
        <p:nvSpPr>
          <p:cNvPr id="8" name="Shape 6"/>
          <p:cNvSpPr/>
          <p:nvPr/>
        </p:nvSpPr>
        <p:spPr>
          <a:xfrm>
            <a:off x="1600200" y="2798064"/>
            <a:ext cx="530352" cy="530352"/>
          </a:xfrm>
          <a:prstGeom prst="ellipse">
            <a:avLst/>
          </a:prstGeom>
          <a:solidFill>
            <a:srgbClr val="16B7A4"/>
          </a:solidFill>
          <a:ln w="12700">
            <a:solidFill>
              <a:srgbClr val="16B7A4"/>
            </a:solidFill>
            <a:prstDash val="solid"/>
          </a:ln>
        </p:spPr>
      </p:sp>
      <p:sp>
        <p:nvSpPr>
          <p:cNvPr id="9" name="Shape 7"/>
          <p:cNvSpPr/>
          <p:nvPr/>
        </p:nvSpPr>
        <p:spPr>
          <a:xfrm>
            <a:off x="1700784" y="3054096"/>
            <a:ext cx="329184" cy="0"/>
          </a:xfrm>
          <a:prstGeom prst="line">
            <a:avLst/>
          </a:prstGeom>
          <a:noFill/>
          <a:ln w="31750">
            <a:solidFill>
              <a:srgbClr val="FFFFFF"/>
            </a:solidFill>
            <a:prstDash val="solid"/>
          </a:ln>
        </p:spPr>
      </p:sp>
      <p:sp>
        <p:nvSpPr>
          <p:cNvPr id="10" name="Text 8"/>
          <p:cNvSpPr txBox="1"/>
          <p:nvPr/>
        </p:nvSpPr>
        <p:spPr>
          <a:xfrm>
            <a:off x="914400" y="3840480"/>
            <a:ext cx="4160520" cy="256032"/>
          </a:xfrm>
          <a:prstGeom prst="rect">
            <a:avLst/>
          </a:prstGeom>
          <a:noFill/>
          <a:ln/>
        </p:spPr>
        <p:txBody>
          <a:bodyPr wrap="square" lIns="0" tIns="0" rIns="0" bIns="0" rtlCol="0" anchor="ctr">
            <a:normAutofit/>
          </a:bodyPr>
          <a:lstStyle/>
          <a:p>
            <a:pPr algn="l" indent="0" marL="0">
              <a:buNone/>
            </a:pPr>
            <a:r>
              <a:rPr lang="en-US" sz="1300" b="1" dirty="0">
                <a:solidFill>
                  <a:srgbClr val="182230"/>
                </a:solidFill>
                <a:latin typeface="Aptos" pitchFamily="34" charset="0"/>
                <a:ea typeface="Aptos" pitchFamily="34" charset="-122"/>
                <a:cs typeface="Aptos" pitchFamily="34" charset="-120"/>
              </a:rPr>
              <a:t>Same shape, different sizes</a:t>
            </a:r>
            <a:endParaRPr lang="en-US" sz="1300" dirty="0"/>
          </a:p>
        </p:txBody>
      </p:sp>
      <p:sp>
        <p:nvSpPr>
          <p:cNvPr id="11" name="Shape 9"/>
          <p:cNvSpPr/>
          <p:nvPr/>
        </p:nvSpPr>
        <p:spPr>
          <a:xfrm>
            <a:off x="914400" y="4315968"/>
            <a:ext cx="292608" cy="292608"/>
          </a:xfrm>
          <a:prstGeom prst="ellipse">
            <a:avLst/>
          </a:prstGeom>
          <a:solidFill>
            <a:srgbClr val="5272F2"/>
          </a:solidFill>
          <a:ln w="12700">
            <a:solidFill>
              <a:srgbClr val="5272F2"/>
            </a:solidFill>
            <a:prstDash val="solid"/>
          </a:ln>
        </p:spPr>
      </p:sp>
      <p:sp>
        <p:nvSpPr>
          <p:cNvPr id="12" name="Shape 10"/>
          <p:cNvSpPr/>
          <p:nvPr/>
        </p:nvSpPr>
        <p:spPr>
          <a:xfrm>
            <a:off x="1965960" y="4315968"/>
            <a:ext cx="493776" cy="493776"/>
          </a:xfrm>
          <a:prstGeom prst="ellipse">
            <a:avLst/>
          </a:prstGeom>
          <a:solidFill>
            <a:srgbClr val="16B7A4"/>
          </a:solidFill>
          <a:ln w="12700">
            <a:solidFill>
              <a:srgbClr val="16B7A4"/>
            </a:solidFill>
            <a:prstDash val="solid"/>
          </a:ln>
        </p:spPr>
      </p:sp>
      <p:sp>
        <p:nvSpPr>
          <p:cNvPr id="13" name="Shape 11"/>
          <p:cNvSpPr/>
          <p:nvPr/>
        </p:nvSpPr>
        <p:spPr>
          <a:xfrm>
            <a:off x="3017520" y="4315968"/>
            <a:ext cx="749808" cy="749808"/>
          </a:xfrm>
          <a:prstGeom prst="ellipse">
            <a:avLst/>
          </a:prstGeom>
          <a:solidFill>
            <a:srgbClr val="FF826E"/>
          </a:solidFill>
          <a:ln w="12700">
            <a:solidFill>
              <a:srgbClr val="FF826E"/>
            </a:solidFill>
            <a:prstDash val="solid"/>
          </a:ln>
        </p:spPr>
      </p:sp>
      <p:sp>
        <p:nvSpPr>
          <p:cNvPr id="14" name="Text 12"/>
          <p:cNvSpPr txBox="1"/>
          <p:nvPr/>
        </p:nvSpPr>
        <p:spPr>
          <a:xfrm>
            <a:off x="914400" y="5166360"/>
            <a:ext cx="4160520" cy="411480"/>
          </a:xfrm>
          <a:prstGeom prst="rect">
            <a:avLst/>
          </a:prstGeom>
          <a:noFill/>
          <a:ln/>
        </p:spPr>
        <p:txBody>
          <a:bodyPr wrap="square" lIns="0" tIns="0" rIns="0" bIns="0" rtlCol="0" anchor="t">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SVG stores shape instructions, not a fixed grid of pixels.</a:t>
            </a:r>
            <a:endParaRPr lang="en-US" sz="1250" dirty="0"/>
          </a:p>
        </p:txBody>
      </p:sp>
      <p:sp>
        <p:nvSpPr>
          <p:cNvPr id="15" name="Shape 13"/>
          <p:cNvSpPr/>
          <p:nvPr/>
        </p:nvSpPr>
        <p:spPr>
          <a:xfrm>
            <a:off x="5806440" y="1709928"/>
            <a:ext cx="5687568" cy="4151376"/>
          </a:xfrm>
          <a:prstGeom prst="roundRect">
            <a:avLst>
              <a:gd name="adj" fmla="val 2643"/>
            </a:avLst>
          </a:prstGeom>
          <a:solidFill>
            <a:srgbClr val="101B2B"/>
          </a:solidFill>
          <a:ln w="1270">
            <a:solidFill>
              <a:srgbClr val="101B2B">
                <a:alpha val="0"/>
              </a:srgbClr>
            </a:solidFill>
            <a:prstDash val="solid"/>
          </a:ln>
        </p:spPr>
      </p:sp>
      <p:sp>
        <p:nvSpPr>
          <p:cNvPr id="16" name="Text 14"/>
          <p:cNvSpPr txBox="1"/>
          <p:nvPr/>
        </p:nvSpPr>
        <p:spPr>
          <a:xfrm>
            <a:off x="6108192" y="1956816"/>
            <a:ext cx="2743200" cy="27432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A tiny SVG example</a:t>
            </a:r>
            <a:endParaRPr lang="en-US" sz="1700" dirty="0"/>
          </a:p>
        </p:txBody>
      </p:sp>
      <p:sp>
        <p:nvSpPr>
          <p:cNvPr id="17" name="Shape 15"/>
          <p:cNvSpPr/>
          <p:nvPr/>
        </p:nvSpPr>
        <p:spPr>
          <a:xfrm>
            <a:off x="6080760" y="2423160"/>
            <a:ext cx="5102352" cy="2103120"/>
          </a:xfrm>
          <a:prstGeom prst="roundRect">
            <a:avLst>
              <a:gd name="adj" fmla="val 5217"/>
            </a:avLst>
          </a:prstGeom>
          <a:solidFill>
            <a:srgbClr val="101B2B"/>
          </a:solidFill>
          <a:ln w="1270">
            <a:solidFill>
              <a:srgbClr val="101B2B">
                <a:alpha val="0"/>
              </a:srgbClr>
            </a:solidFill>
            <a:prstDash val="solid"/>
          </a:ln>
        </p:spPr>
      </p:sp>
      <p:sp>
        <p:nvSpPr>
          <p:cNvPr id="18" name="Shape 16"/>
          <p:cNvSpPr/>
          <p:nvPr/>
        </p:nvSpPr>
        <p:spPr>
          <a:xfrm>
            <a:off x="6245352" y="2560320"/>
            <a:ext cx="82296" cy="82296"/>
          </a:xfrm>
          <a:prstGeom prst="ellipse">
            <a:avLst/>
          </a:prstGeom>
          <a:solidFill>
            <a:srgbClr val="FF826E"/>
          </a:solidFill>
          <a:ln w="12700">
            <a:solidFill>
              <a:srgbClr val="FF826E"/>
            </a:solidFill>
            <a:prstDash val="solid"/>
          </a:ln>
        </p:spPr>
      </p:sp>
      <p:sp>
        <p:nvSpPr>
          <p:cNvPr id="19" name="Shape 17"/>
          <p:cNvSpPr/>
          <p:nvPr/>
        </p:nvSpPr>
        <p:spPr>
          <a:xfrm>
            <a:off x="6373368" y="2560320"/>
            <a:ext cx="82296" cy="82296"/>
          </a:xfrm>
          <a:prstGeom prst="ellipse">
            <a:avLst/>
          </a:prstGeom>
          <a:solidFill>
            <a:srgbClr val="F4C45E"/>
          </a:solidFill>
          <a:ln w="12700">
            <a:solidFill>
              <a:srgbClr val="F4C45E"/>
            </a:solidFill>
            <a:prstDash val="solid"/>
          </a:ln>
        </p:spPr>
      </p:sp>
      <p:sp>
        <p:nvSpPr>
          <p:cNvPr id="20" name="Shape 18"/>
          <p:cNvSpPr/>
          <p:nvPr/>
        </p:nvSpPr>
        <p:spPr>
          <a:xfrm>
            <a:off x="6501384" y="2560320"/>
            <a:ext cx="82296" cy="82296"/>
          </a:xfrm>
          <a:prstGeom prst="ellipse">
            <a:avLst/>
          </a:prstGeom>
          <a:solidFill>
            <a:srgbClr val="16B7A4"/>
          </a:solidFill>
          <a:ln w="12700">
            <a:solidFill>
              <a:srgbClr val="16B7A4"/>
            </a:solidFill>
            <a:prstDash val="solid"/>
          </a:ln>
        </p:spPr>
      </p:sp>
      <p:sp>
        <p:nvSpPr>
          <p:cNvPr id="21" name="Text 19"/>
          <p:cNvSpPr/>
          <p:nvPr/>
        </p:nvSpPr>
        <p:spPr>
          <a:xfrm>
            <a:off x="6281928" y="2816352"/>
            <a:ext cx="4718304" cy="1591056"/>
          </a:xfrm>
          <a:prstGeom prst="rect">
            <a:avLst/>
          </a:prstGeom>
          <a:noFill/>
          <a:ln/>
        </p:spPr>
        <p:txBody>
          <a:bodyPr wrap="square" lIns="0" tIns="0" rIns="0" bIns="0" rtlCol="0" anchor="t">
            <a:normAutofit/>
          </a:bodyPr>
          <a:lstStyle/>
          <a:p>
            <a:pPr indent="0" marL="0">
              <a:buNone/>
            </a:pPr>
            <a:r>
              <a:rPr lang="en-US" sz="1130" dirty="0">
                <a:solidFill>
                  <a:srgbClr val="FF9EAA"/>
                </a:solidFill>
                <a:latin typeface="Consolas" pitchFamily="34" charset="0"/>
                <a:ea typeface="Consolas" pitchFamily="34" charset="-122"/>
                <a:cs typeface="Consolas" pitchFamily="34" charset="-120"/>
              </a:rPr>
              <a:t>&lt;svg viewBox="0 0 100 100"&gt;</a:t>
            </a:r>
            <a:endParaRPr lang="en-US" sz="1130" dirty="0"/>
          </a:p>
          <a:p>
            <a:pPr indent="0" marL="0">
              <a:buNone/>
            </a:pPr>
            <a:r>
              <a:rPr lang="en-US" sz="1130" dirty="0">
                <a:solidFill>
                  <a:srgbClr val="DCE8F5"/>
                </a:solidFill>
                <a:latin typeface="Consolas" pitchFamily="34" charset="0"/>
                <a:ea typeface="Consolas" pitchFamily="34" charset="-122"/>
                <a:cs typeface="Consolas" pitchFamily="34" charset="-120"/>
              </a:rPr>
              <a:t>  &lt;circle cx="50" cy="50" r="35"</a:t>
            </a:r>
            <a:endParaRPr lang="en-US" sz="1130" dirty="0"/>
          </a:p>
          <a:p>
            <a:pPr indent="0" marL="0">
              <a:buNone/>
            </a:pPr>
            <a:r>
              <a:rPr lang="en-US" sz="1130" dirty="0">
                <a:solidFill>
                  <a:srgbClr val="9AE6B4"/>
                </a:solidFill>
                <a:latin typeface="Consolas" pitchFamily="34" charset="0"/>
                <a:ea typeface="Consolas" pitchFamily="34" charset="-122"/>
                <a:cs typeface="Consolas" pitchFamily="34" charset="-120"/>
              </a:rPr>
              <a:t>          fill="teal" /&gt;</a:t>
            </a:r>
            <a:endParaRPr lang="en-US" sz="1130" dirty="0"/>
          </a:p>
          <a:p>
            <a:pPr indent="0" marL="0">
              <a:buNone/>
            </a:pPr>
            <a:r>
              <a:rPr lang="en-US" sz="1130" dirty="0">
                <a:solidFill>
                  <a:srgbClr val="FF9EAA"/>
                </a:solidFill>
                <a:latin typeface="Consolas" pitchFamily="34" charset="0"/>
                <a:ea typeface="Consolas" pitchFamily="34" charset="-122"/>
                <a:cs typeface="Consolas" pitchFamily="34" charset="-120"/>
              </a:rPr>
              <a:t>&lt;/svg&gt;</a:t>
            </a:r>
            <a:endParaRPr lang="en-US" sz="1130" dirty="0"/>
          </a:p>
        </p:txBody>
      </p:sp>
      <p:sp>
        <p:nvSpPr>
          <p:cNvPr id="22" name="Shape 20"/>
          <p:cNvSpPr/>
          <p:nvPr/>
        </p:nvSpPr>
        <p:spPr>
          <a:xfrm>
            <a:off x="6181344" y="4892040"/>
            <a:ext cx="82296" cy="82296"/>
          </a:xfrm>
          <a:prstGeom prst="ellipse">
            <a:avLst/>
          </a:prstGeom>
          <a:solidFill>
            <a:srgbClr val="16B7A4"/>
          </a:solidFill>
          <a:ln w="12700">
            <a:solidFill>
              <a:srgbClr val="16B7A4"/>
            </a:solidFill>
            <a:prstDash val="solid"/>
          </a:ln>
        </p:spPr>
      </p:sp>
      <p:sp>
        <p:nvSpPr>
          <p:cNvPr id="23" name="Text 21"/>
          <p:cNvSpPr txBox="1"/>
          <p:nvPr/>
        </p:nvSpPr>
        <p:spPr>
          <a:xfrm>
            <a:off x="6382512" y="4782312"/>
            <a:ext cx="4599432" cy="320040"/>
          </a:xfrm>
          <a:prstGeom prst="rect">
            <a:avLst/>
          </a:prstGeom>
          <a:noFill/>
          <a:ln/>
        </p:spPr>
        <p:txBody>
          <a:bodyPr wrap="square" lIns="0" tIns="0" rIns="0" bIns="0" rtlCol="0" anchor="t">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Scales without becoming blurry</a:t>
            </a:r>
            <a:endParaRPr lang="en-US" sz="1250" dirty="0"/>
          </a:p>
        </p:txBody>
      </p:sp>
      <p:sp>
        <p:nvSpPr>
          <p:cNvPr id="24" name="Shape 22"/>
          <p:cNvSpPr/>
          <p:nvPr/>
        </p:nvSpPr>
        <p:spPr>
          <a:xfrm>
            <a:off x="6181344" y="5285232"/>
            <a:ext cx="82296" cy="82296"/>
          </a:xfrm>
          <a:prstGeom prst="ellipse">
            <a:avLst/>
          </a:prstGeom>
          <a:solidFill>
            <a:srgbClr val="FF826E"/>
          </a:solidFill>
          <a:ln w="12700">
            <a:solidFill>
              <a:srgbClr val="FF826E"/>
            </a:solidFill>
            <a:prstDash val="solid"/>
          </a:ln>
        </p:spPr>
      </p:sp>
      <p:sp>
        <p:nvSpPr>
          <p:cNvPr id="25" name="Text 23"/>
          <p:cNvSpPr txBox="1"/>
          <p:nvPr/>
        </p:nvSpPr>
        <p:spPr>
          <a:xfrm>
            <a:off x="6382512" y="5175504"/>
            <a:ext cx="4599432" cy="457200"/>
          </a:xfrm>
          <a:prstGeom prst="rect">
            <a:avLst/>
          </a:prstGeom>
          <a:noFill/>
          <a:ln/>
        </p:spPr>
        <p:txBody>
          <a:bodyPr wrap="square" lIns="0" tIns="0" rIns="0" bIns="0" rtlCol="0" anchor="t">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Not the best choice for detailed photographs</a:t>
            </a:r>
            <a:endParaRPr lang="en-US" sz="1250" dirty="0"/>
          </a:p>
        </p:txBody>
      </p:sp>
      <p:sp>
        <p:nvSpPr>
          <p:cNvPr id="26" name="Text 24"/>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Source: The Odin Project — SVG lesson</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05</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HTML tables: organize information</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Use a table when people need to compare values arranged in rows and columns—not to lay out an entire page.</a:t>
            </a:r>
            <a:endParaRPr lang="en-US" sz="1250" dirty="0"/>
          </a:p>
        </p:txBody>
      </p:sp>
      <p:sp>
        <p:nvSpPr>
          <p:cNvPr id="5" name="Shape 3"/>
          <p:cNvSpPr/>
          <p:nvPr/>
        </p:nvSpPr>
        <p:spPr>
          <a:xfrm>
            <a:off x="658368" y="1737360"/>
            <a:ext cx="5266944" cy="4133088"/>
          </a:xfrm>
          <a:prstGeom prst="roundRect">
            <a:avLst>
              <a:gd name="adj" fmla="val 2655"/>
            </a:avLst>
          </a:prstGeom>
          <a:solidFill>
            <a:srgbClr val="FFFFFF"/>
          </a:solidFill>
          <a:ln w="12700">
            <a:solidFill>
              <a:srgbClr val="DEE5EE"/>
            </a:solidFill>
            <a:prstDash val="solid"/>
          </a:ln>
        </p:spPr>
      </p:sp>
      <p:sp>
        <p:nvSpPr>
          <p:cNvPr id="6" name="Text 4"/>
          <p:cNvSpPr txBox="1"/>
          <p:nvPr/>
        </p:nvSpPr>
        <p:spPr>
          <a:xfrm>
            <a:off x="914400" y="1975104"/>
            <a:ext cx="4389120" cy="292608"/>
          </a:xfrm>
          <a:prstGeom prst="rect">
            <a:avLst/>
          </a:prstGeom>
          <a:noFill/>
          <a:ln/>
        </p:spPr>
        <p:txBody>
          <a:bodyPr wrap="square" lIns="0" tIns="0" rIns="0" bIns="0" rtlCol="0" anchor="ctr">
            <a:normAutofit/>
          </a:bodyPr>
          <a:lstStyle/>
          <a:p>
            <a:pPr algn="l" indent="0" marL="0">
              <a:buNone/>
            </a:pPr>
            <a:r>
              <a:rPr lang="en-US" sz="1800" b="1" dirty="0">
                <a:solidFill>
                  <a:srgbClr val="101828"/>
                </a:solidFill>
                <a:latin typeface="Aptos" pitchFamily="34" charset="0"/>
                <a:ea typeface="Aptos" pitchFamily="34" charset="-122"/>
                <a:cs typeface="Aptos" pitchFamily="34" charset="-120"/>
              </a:rPr>
              <a:t>Example: class timetable</a:t>
            </a:r>
            <a:endParaRPr lang="en-US" sz="1800" dirty="0"/>
          </a:p>
        </p:txBody>
      </p:sp>
      <p:sp>
        <p:nvSpPr>
          <p:cNvPr id="7" name="Shape 5"/>
          <p:cNvSpPr/>
          <p:nvPr/>
        </p:nvSpPr>
        <p:spPr>
          <a:xfrm>
            <a:off x="914400" y="2487168"/>
            <a:ext cx="1325880" cy="512064"/>
          </a:xfrm>
          <a:prstGeom prst="rect">
            <a:avLst>
              <a:gd name="adj" fmla="val 21429"/>
            </a:avLst>
          </a:prstGeom>
          <a:solidFill>
            <a:srgbClr val="101828"/>
          </a:solidFill>
          <a:ln w="12700">
            <a:solidFill>
              <a:srgbClr val="101828"/>
            </a:solidFill>
            <a:prstDash val="solid"/>
          </a:ln>
        </p:spPr>
      </p:sp>
      <p:sp>
        <p:nvSpPr>
          <p:cNvPr id="8" name="Text 6"/>
          <p:cNvSpPr txBox="1"/>
          <p:nvPr/>
        </p:nvSpPr>
        <p:spPr>
          <a:xfrm>
            <a:off x="987552" y="2542032"/>
            <a:ext cx="1179576" cy="402336"/>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Day</a:t>
            </a:r>
            <a:endParaRPr lang="en-US" sz="1150" dirty="0"/>
          </a:p>
        </p:txBody>
      </p:sp>
      <p:sp>
        <p:nvSpPr>
          <p:cNvPr id="9" name="Shape 7"/>
          <p:cNvSpPr/>
          <p:nvPr/>
        </p:nvSpPr>
        <p:spPr>
          <a:xfrm>
            <a:off x="2240280" y="2487168"/>
            <a:ext cx="1298448" cy="512064"/>
          </a:xfrm>
          <a:prstGeom prst="rect">
            <a:avLst>
              <a:gd name="adj" fmla="val 21429"/>
            </a:avLst>
          </a:prstGeom>
          <a:solidFill>
            <a:srgbClr val="101828"/>
          </a:solidFill>
          <a:ln w="12700">
            <a:solidFill>
              <a:srgbClr val="101828"/>
            </a:solidFill>
            <a:prstDash val="solid"/>
          </a:ln>
        </p:spPr>
      </p:sp>
      <p:sp>
        <p:nvSpPr>
          <p:cNvPr id="10" name="Text 8"/>
          <p:cNvSpPr txBox="1"/>
          <p:nvPr/>
        </p:nvSpPr>
        <p:spPr>
          <a:xfrm>
            <a:off x="2313432" y="2542032"/>
            <a:ext cx="1152144" cy="402336"/>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Time</a:t>
            </a:r>
            <a:endParaRPr lang="en-US" sz="1150" dirty="0"/>
          </a:p>
        </p:txBody>
      </p:sp>
      <p:sp>
        <p:nvSpPr>
          <p:cNvPr id="11" name="Shape 9"/>
          <p:cNvSpPr/>
          <p:nvPr/>
        </p:nvSpPr>
        <p:spPr>
          <a:xfrm>
            <a:off x="3538728" y="2487168"/>
            <a:ext cx="1508760" cy="512064"/>
          </a:xfrm>
          <a:prstGeom prst="rect">
            <a:avLst>
              <a:gd name="adj" fmla="val 21429"/>
            </a:avLst>
          </a:prstGeom>
          <a:solidFill>
            <a:srgbClr val="101828"/>
          </a:solidFill>
          <a:ln w="12700">
            <a:solidFill>
              <a:srgbClr val="101828"/>
            </a:solidFill>
            <a:prstDash val="solid"/>
          </a:ln>
        </p:spPr>
      </p:sp>
      <p:sp>
        <p:nvSpPr>
          <p:cNvPr id="12" name="Text 10"/>
          <p:cNvSpPr txBox="1"/>
          <p:nvPr/>
        </p:nvSpPr>
        <p:spPr>
          <a:xfrm>
            <a:off x="3611880" y="2542032"/>
            <a:ext cx="1362456" cy="402336"/>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Topic</a:t>
            </a:r>
            <a:endParaRPr lang="en-US" sz="1150" dirty="0"/>
          </a:p>
        </p:txBody>
      </p:sp>
      <p:sp>
        <p:nvSpPr>
          <p:cNvPr id="13" name="Shape 11"/>
          <p:cNvSpPr/>
          <p:nvPr/>
        </p:nvSpPr>
        <p:spPr>
          <a:xfrm>
            <a:off x="914400" y="2999232"/>
            <a:ext cx="1325880" cy="512064"/>
          </a:xfrm>
          <a:prstGeom prst="rect">
            <a:avLst>
              <a:gd name="adj" fmla="val 21429"/>
            </a:avLst>
          </a:prstGeom>
          <a:solidFill>
            <a:srgbClr val="FFFFFF"/>
          </a:solidFill>
          <a:ln w="12700">
            <a:solidFill>
              <a:srgbClr val="DEE5EE"/>
            </a:solidFill>
            <a:prstDash val="solid"/>
          </a:ln>
        </p:spPr>
      </p:sp>
      <p:sp>
        <p:nvSpPr>
          <p:cNvPr id="14" name="Text 12"/>
          <p:cNvSpPr txBox="1"/>
          <p:nvPr/>
        </p:nvSpPr>
        <p:spPr>
          <a:xfrm>
            <a:off x="987552" y="3054096"/>
            <a:ext cx="1179576"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Mon</a:t>
            </a:r>
            <a:endParaRPr lang="en-US" sz="1250" dirty="0"/>
          </a:p>
        </p:txBody>
      </p:sp>
      <p:sp>
        <p:nvSpPr>
          <p:cNvPr id="15" name="Shape 13"/>
          <p:cNvSpPr/>
          <p:nvPr/>
        </p:nvSpPr>
        <p:spPr>
          <a:xfrm>
            <a:off x="2240280" y="2999232"/>
            <a:ext cx="1298448" cy="512064"/>
          </a:xfrm>
          <a:prstGeom prst="rect">
            <a:avLst>
              <a:gd name="adj" fmla="val 21429"/>
            </a:avLst>
          </a:prstGeom>
          <a:solidFill>
            <a:srgbClr val="FFFFFF"/>
          </a:solidFill>
          <a:ln w="12700">
            <a:solidFill>
              <a:srgbClr val="DEE5EE"/>
            </a:solidFill>
            <a:prstDash val="solid"/>
          </a:ln>
        </p:spPr>
      </p:sp>
      <p:sp>
        <p:nvSpPr>
          <p:cNvPr id="16" name="Text 14"/>
          <p:cNvSpPr txBox="1"/>
          <p:nvPr/>
        </p:nvSpPr>
        <p:spPr>
          <a:xfrm>
            <a:off x="2313432" y="3054096"/>
            <a:ext cx="1152144"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10:00</a:t>
            </a:r>
            <a:endParaRPr lang="en-US" sz="1250" dirty="0"/>
          </a:p>
        </p:txBody>
      </p:sp>
      <p:sp>
        <p:nvSpPr>
          <p:cNvPr id="17" name="Shape 15"/>
          <p:cNvSpPr/>
          <p:nvPr/>
        </p:nvSpPr>
        <p:spPr>
          <a:xfrm>
            <a:off x="3538728" y="2999232"/>
            <a:ext cx="1508760" cy="512064"/>
          </a:xfrm>
          <a:prstGeom prst="rect">
            <a:avLst>
              <a:gd name="adj" fmla="val 21429"/>
            </a:avLst>
          </a:prstGeom>
          <a:solidFill>
            <a:srgbClr val="FFFFFF"/>
          </a:solidFill>
          <a:ln w="12700">
            <a:solidFill>
              <a:srgbClr val="DEE5EE"/>
            </a:solidFill>
            <a:prstDash val="solid"/>
          </a:ln>
        </p:spPr>
      </p:sp>
      <p:sp>
        <p:nvSpPr>
          <p:cNvPr id="18" name="Text 16"/>
          <p:cNvSpPr txBox="1"/>
          <p:nvPr/>
        </p:nvSpPr>
        <p:spPr>
          <a:xfrm>
            <a:off x="3611880" y="3054096"/>
            <a:ext cx="1362456"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HTML</a:t>
            </a:r>
            <a:endParaRPr lang="en-US" sz="1250" dirty="0"/>
          </a:p>
        </p:txBody>
      </p:sp>
      <p:sp>
        <p:nvSpPr>
          <p:cNvPr id="19" name="Shape 17"/>
          <p:cNvSpPr/>
          <p:nvPr/>
        </p:nvSpPr>
        <p:spPr>
          <a:xfrm>
            <a:off x="914400" y="3511296"/>
            <a:ext cx="1325880" cy="512064"/>
          </a:xfrm>
          <a:prstGeom prst="rect">
            <a:avLst>
              <a:gd name="adj" fmla="val 21429"/>
            </a:avLst>
          </a:prstGeom>
          <a:solidFill>
            <a:srgbClr val="F0F4F9"/>
          </a:solidFill>
          <a:ln w="12700">
            <a:solidFill>
              <a:srgbClr val="DEE5EE"/>
            </a:solidFill>
            <a:prstDash val="solid"/>
          </a:ln>
        </p:spPr>
      </p:sp>
      <p:sp>
        <p:nvSpPr>
          <p:cNvPr id="20" name="Text 18"/>
          <p:cNvSpPr txBox="1"/>
          <p:nvPr/>
        </p:nvSpPr>
        <p:spPr>
          <a:xfrm>
            <a:off x="987552" y="3566160"/>
            <a:ext cx="1179576"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Wed</a:t>
            </a:r>
            <a:endParaRPr lang="en-US" sz="1250" dirty="0"/>
          </a:p>
        </p:txBody>
      </p:sp>
      <p:sp>
        <p:nvSpPr>
          <p:cNvPr id="21" name="Shape 19"/>
          <p:cNvSpPr/>
          <p:nvPr/>
        </p:nvSpPr>
        <p:spPr>
          <a:xfrm>
            <a:off x="2240280" y="3511296"/>
            <a:ext cx="1298448" cy="512064"/>
          </a:xfrm>
          <a:prstGeom prst="rect">
            <a:avLst>
              <a:gd name="adj" fmla="val 21429"/>
            </a:avLst>
          </a:prstGeom>
          <a:solidFill>
            <a:srgbClr val="F0F4F9"/>
          </a:solidFill>
          <a:ln w="12700">
            <a:solidFill>
              <a:srgbClr val="DEE5EE"/>
            </a:solidFill>
            <a:prstDash val="solid"/>
          </a:ln>
        </p:spPr>
      </p:sp>
      <p:sp>
        <p:nvSpPr>
          <p:cNvPr id="22" name="Text 20"/>
          <p:cNvSpPr txBox="1"/>
          <p:nvPr/>
        </p:nvSpPr>
        <p:spPr>
          <a:xfrm>
            <a:off x="2313432" y="3566160"/>
            <a:ext cx="1152144"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12:00</a:t>
            </a:r>
            <a:endParaRPr lang="en-US" sz="1250" dirty="0"/>
          </a:p>
        </p:txBody>
      </p:sp>
      <p:sp>
        <p:nvSpPr>
          <p:cNvPr id="23" name="Shape 21"/>
          <p:cNvSpPr/>
          <p:nvPr/>
        </p:nvSpPr>
        <p:spPr>
          <a:xfrm>
            <a:off x="3538728" y="3511296"/>
            <a:ext cx="1508760" cy="512064"/>
          </a:xfrm>
          <a:prstGeom prst="rect">
            <a:avLst>
              <a:gd name="adj" fmla="val 21429"/>
            </a:avLst>
          </a:prstGeom>
          <a:solidFill>
            <a:srgbClr val="F0F4F9"/>
          </a:solidFill>
          <a:ln w="12700">
            <a:solidFill>
              <a:srgbClr val="DEE5EE"/>
            </a:solidFill>
            <a:prstDash val="solid"/>
          </a:ln>
        </p:spPr>
      </p:sp>
      <p:sp>
        <p:nvSpPr>
          <p:cNvPr id="24" name="Text 22"/>
          <p:cNvSpPr txBox="1"/>
          <p:nvPr/>
        </p:nvSpPr>
        <p:spPr>
          <a:xfrm>
            <a:off x="3611880" y="3566160"/>
            <a:ext cx="1362456"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CSS</a:t>
            </a:r>
            <a:endParaRPr lang="en-US" sz="1250" dirty="0"/>
          </a:p>
        </p:txBody>
      </p:sp>
      <p:sp>
        <p:nvSpPr>
          <p:cNvPr id="25" name="Shape 23"/>
          <p:cNvSpPr/>
          <p:nvPr/>
        </p:nvSpPr>
        <p:spPr>
          <a:xfrm>
            <a:off x="914400" y="4023360"/>
            <a:ext cx="1325880" cy="512064"/>
          </a:xfrm>
          <a:prstGeom prst="rect">
            <a:avLst>
              <a:gd name="adj" fmla="val 21429"/>
            </a:avLst>
          </a:prstGeom>
          <a:solidFill>
            <a:srgbClr val="FFFFFF"/>
          </a:solidFill>
          <a:ln w="12700">
            <a:solidFill>
              <a:srgbClr val="DEE5EE"/>
            </a:solidFill>
            <a:prstDash val="solid"/>
          </a:ln>
        </p:spPr>
      </p:sp>
      <p:sp>
        <p:nvSpPr>
          <p:cNvPr id="26" name="Text 24"/>
          <p:cNvSpPr txBox="1"/>
          <p:nvPr/>
        </p:nvSpPr>
        <p:spPr>
          <a:xfrm>
            <a:off x="987552" y="4078224"/>
            <a:ext cx="1179576"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Fri</a:t>
            </a:r>
            <a:endParaRPr lang="en-US" sz="1250" dirty="0"/>
          </a:p>
        </p:txBody>
      </p:sp>
      <p:sp>
        <p:nvSpPr>
          <p:cNvPr id="27" name="Shape 25"/>
          <p:cNvSpPr/>
          <p:nvPr/>
        </p:nvSpPr>
        <p:spPr>
          <a:xfrm>
            <a:off x="2240280" y="4023360"/>
            <a:ext cx="1298448" cy="512064"/>
          </a:xfrm>
          <a:prstGeom prst="rect">
            <a:avLst>
              <a:gd name="adj" fmla="val 21429"/>
            </a:avLst>
          </a:prstGeom>
          <a:solidFill>
            <a:srgbClr val="FFFFFF"/>
          </a:solidFill>
          <a:ln w="12700">
            <a:solidFill>
              <a:srgbClr val="DEE5EE"/>
            </a:solidFill>
            <a:prstDash val="solid"/>
          </a:ln>
        </p:spPr>
      </p:sp>
      <p:sp>
        <p:nvSpPr>
          <p:cNvPr id="28" name="Text 26"/>
          <p:cNvSpPr txBox="1"/>
          <p:nvPr/>
        </p:nvSpPr>
        <p:spPr>
          <a:xfrm>
            <a:off x="2313432" y="4078224"/>
            <a:ext cx="1152144"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09:00</a:t>
            </a:r>
            <a:endParaRPr lang="en-US" sz="1250" dirty="0"/>
          </a:p>
        </p:txBody>
      </p:sp>
      <p:sp>
        <p:nvSpPr>
          <p:cNvPr id="29" name="Shape 27"/>
          <p:cNvSpPr/>
          <p:nvPr/>
        </p:nvSpPr>
        <p:spPr>
          <a:xfrm>
            <a:off x="3538728" y="4023360"/>
            <a:ext cx="1508760" cy="512064"/>
          </a:xfrm>
          <a:prstGeom prst="rect">
            <a:avLst>
              <a:gd name="adj" fmla="val 21429"/>
            </a:avLst>
          </a:prstGeom>
          <a:solidFill>
            <a:srgbClr val="FFFFFF"/>
          </a:solidFill>
          <a:ln w="12700">
            <a:solidFill>
              <a:srgbClr val="DEE5EE"/>
            </a:solidFill>
            <a:prstDash val="solid"/>
          </a:ln>
        </p:spPr>
      </p:sp>
      <p:sp>
        <p:nvSpPr>
          <p:cNvPr id="30" name="Text 28"/>
          <p:cNvSpPr txBox="1"/>
          <p:nvPr/>
        </p:nvSpPr>
        <p:spPr>
          <a:xfrm>
            <a:off x="3611880" y="4078224"/>
            <a:ext cx="1362456" cy="402336"/>
          </a:xfrm>
          <a:prstGeom prst="rect">
            <a:avLst/>
          </a:prstGeom>
          <a:noFill/>
          <a:ln/>
        </p:spPr>
        <p:txBody>
          <a:bodyPr wrap="square" lIns="0" tIns="0" rIns="0" bIns="0" rtlCol="0" anchor="ctr">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Grid</a:t>
            </a:r>
            <a:endParaRPr lang="en-US" sz="1250" dirty="0"/>
          </a:p>
        </p:txBody>
      </p:sp>
      <p:sp>
        <p:nvSpPr>
          <p:cNvPr id="31" name="Text 29"/>
          <p:cNvSpPr txBox="1"/>
          <p:nvPr/>
        </p:nvSpPr>
        <p:spPr>
          <a:xfrm>
            <a:off x="914400" y="4846320"/>
            <a:ext cx="4526280" cy="457200"/>
          </a:xfrm>
          <a:prstGeom prst="rect">
            <a:avLst/>
          </a:prstGeom>
          <a:noFill/>
          <a:ln/>
        </p:spPr>
        <p:txBody>
          <a:bodyPr wrap="square" lIns="0" tIns="0" rIns="0" bIns="0" rtlCol="0" anchor="t">
            <a:normAutofit/>
          </a:bodyPr>
          <a:lstStyle/>
          <a:p>
            <a:pPr algn="l" indent="0" marL="0">
              <a:buNone/>
            </a:pPr>
            <a:r>
              <a:rPr lang="en-US" sz="1200" dirty="0">
                <a:solidFill>
                  <a:srgbClr val="5F6F84"/>
                </a:solidFill>
                <a:latin typeface="Aptos" pitchFamily="34" charset="0"/>
                <a:ea typeface="Aptos" pitchFamily="34" charset="-122"/>
                <a:cs typeface="Aptos" pitchFamily="34" charset="-120"/>
              </a:rPr>
              <a:t>A screen-reader-friendly table also needs meaningful headers.</a:t>
            </a:r>
            <a:endParaRPr lang="en-US" sz="1200" dirty="0"/>
          </a:p>
        </p:txBody>
      </p:sp>
      <p:sp>
        <p:nvSpPr>
          <p:cNvPr id="32" name="Shape 30"/>
          <p:cNvSpPr/>
          <p:nvPr/>
        </p:nvSpPr>
        <p:spPr>
          <a:xfrm>
            <a:off x="6236208" y="1737360"/>
            <a:ext cx="5257800" cy="4133088"/>
          </a:xfrm>
          <a:prstGeom prst="roundRect">
            <a:avLst>
              <a:gd name="adj" fmla="val 2655"/>
            </a:avLst>
          </a:prstGeom>
          <a:solidFill>
            <a:srgbClr val="101B2B"/>
          </a:solidFill>
          <a:ln w="1270">
            <a:solidFill>
              <a:srgbClr val="101B2B">
                <a:alpha val="0"/>
              </a:srgbClr>
            </a:solidFill>
            <a:prstDash val="solid"/>
          </a:ln>
        </p:spPr>
      </p:sp>
      <p:sp>
        <p:nvSpPr>
          <p:cNvPr id="33" name="Text 31"/>
          <p:cNvSpPr txBox="1"/>
          <p:nvPr/>
        </p:nvSpPr>
        <p:spPr>
          <a:xfrm>
            <a:off x="6510528" y="1975104"/>
            <a:ext cx="1828800" cy="27432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HTML structure</a:t>
            </a:r>
            <a:endParaRPr lang="en-US" sz="1700" dirty="0"/>
          </a:p>
        </p:txBody>
      </p:sp>
      <p:sp>
        <p:nvSpPr>
          <p:cNvPr id="34" name="Shape 32"/>
          <p:cNvSpPr/>
          <p:nvPr/>
        </p:nvSpPr>
        <p:spPr>
          <a:xfrm>
            <a:off x="6473952" y="2432304"/>
            <a:ext cx="4754880" cy="2423160"/>
          </a:xfrm>
          <a:prstGeom prst="roundRect">
            <a:avLst>
              <a:gd name="adj" fmla="val 4528"/>
            </a:avLst>
          </a:prstGeom>
          <a:solidFill>
            <a:srgbClr val="101B2B"/>
          </a:solidFill>
          <a:ln w="1270">
            <a:solidFill>
              <a:srgbClr val="101B2B">
                <a:alpha val="0"/>
              </a:srgbClr>
            </a:solidFill>
            <a:prstDash val="solid"/>
          </a:ln>
        </p:spPr>
      </p:sp>
      <p:sp>
        <p:nvSpPr>
          <p:cNvPr id="35" name="Shape 33"/>
          <p:cNvSpPr/>
          <p:nvPr/>
        </p:nvSpPr>
        <p:spPr>
          <a:xfrm>
            <a:off x="6638544" y="2569464"/>
            <a:ext cx="82296" cy="82296"/>
          </a:xfrm>
          <a:prstGeom prst="ellipse">
            <a:avLst/>
          </a:prstGeom>
          <a:solidFill>
            <a:srgbClr val="FF826E"/>
          </a:solidFill>
          <a:ln w="12700">
            <a:solidFill>
              <a:srgbClr val="FF826E"/>
            </a:solidFill>
            <a:prstDash val="solid"/>
          </a:ln>
        </p:spPr>
      </p:sp>
      <p:sp>
        <p:nvSpPr>
          <p:cNvPr id="36" name="Shape 34"/>
          <p:cNvSpPr/>
          <p:nvPr/>
        </p:nvSpPr>
        <p:spPr>
          <a:xfrm>
            <a:off x="6766560" y="2569464"/>
            <a:ext cx="82296" cy="82296"/>
          </a:xfrm>
          <a:prstGeom prst="ellipse">
            <a:avLst/>
          </a:prstGeom>
          <a:solidFill>
            <a:srgbClr val="F4C45E"/>
          </a:solidFill>
          <a:ln w="12700">
            <a:solidFill>
              <a:srgbClr val="F4C45E"/>
            </a:solidFill>
            <a:prstDash val="solid"/>
          </a:ln>
        </p:spPr>
      </p:sp>
      <p:sp>
        <p:nvSpPr>
          <p:cNvPr id="37" name="Shape 35"/>
          <p:cNvSpPr/>
          <p:nvPr/>
        </p:nvSpPr>
        <p:spPr>
          <a:xfrm>
            <a:off x="6894576" y="2569464"/>
            <a:ext cx="82296" cy="82296"/>
          </a:xfrm>
          <a:prstGeom prst="ellipse">
            <a:avLst/>
          </a:prstGeom>
          <a:solidFill>
            <a:srgbClr val="16B7A4"/>
          </a:solidFill>
          <a:ln w="12700">
            <a:solidFill>
              <a:srgbClr val="16B7A4"/>
            </a:solidFill>
            <a:prstDash val="solid"/>
          </a:ln>
        </p:spPr>
      </p:sp>
      <p:sp>
        <p:nvSpPr>
          <p:cNvPr id="38" name="Text 36"/>
          <p:cNvSpPr/>
          <p:nvPr/>
        </p:nvSpPr>
        <p:spPr>
          <a:xfrm>
            <a:off x="6675120" y="2825496"/>
            <a:ext cx="4370832" cy="1911096"/>
          </a:xfrm>
          <a:prstGeom prst="rect">
            <a:avLst/>
          </a:prstGeom>
          <a:noFill/>
          <a:ln/>
        </p:spPr>
        <p:txBody>
          <a:bodyPr wrap="square" lIns="0" tIns="0" rIns="0" bIns="0" rtlCol="0" anchor="t">
            <a:normAutofit/>
          </a:bodyPr>
          <a:lstStyle/>
          <a:p>
            <a:pPr indent="0" marL="0">
              <a:buNone/>
            </a:pPr>
            <a:r>
              <a:rPr lang="en-US" sz="1030" dirty="0">
                <a:solidFill>
                  <a:srgbClr val="FF9EAA"/>
                </a:solidFill>
                <a:latin typeface="Consolas" pitchFamily="34" charset="0"/>
                <a:ea typeface="Consolas" pitchFamily="34" charset="-122"/>
                <a:cs typeface="Consolas" pitchFamily="34" charset="-120"/>
              </a:rPr>
              <a:t>&lt;table&gt;</a:t>
            </a:r>
            <a:endParaRPr lang="en-US" sz="1030" dirty="0"/>
          </a:p>
          <a:p>
            <a:pPr indent="0" marL="0">
              <a:buNone/>
            </a:pPr>
            <a:r>
              <a:rPr lang="en-US" sz="1030" dirty="0">
                <a:solidFill>
                  <a:srgbClr val="DCE8F5"/>
                </a:solidFill>
                <a:latin typeface="Consolas" pitchFamily="34" charset="0"/>
                <a:ea typeface="Consolas" pitchFamily="34" charset="-122"/>
                <a:cs typeface="Consolas" pitchFamily="34" charset="-120"/>
              </a:rPr>
              <a:t>  &lt;tr&gt;&lt;th&gt;Day&lt;/th&gt;&lt;th&gt;Topic&lt;/th&gt;&lt;/tr&gt;</a:t>
            </a:r>
            <a:endParaRPr lang="en-US" sz="1030" dirty="0"/>
          </a:p>
          <a:p>
            <a:pPr indent="0" marL="0">
              <a:buNone/>
            </a:pPr>
            <a:r>
              <a:rPr lang="en-US" sz="1030" dirty="0">
                <a:solidFill>
                  <a:srgbClr val="9AE6B4"/>
                </a:solidFill>
                <a:latin typeface="Consolas" pitchFamily="34" charset="0"/>
                <a:ea typeface="Consolas" pitchFamily="34" charset="-122"/>
                <a:cs typeface="Consolas" pitchFamily="34" charset="-120"/>
              </a:rPr>
              <a:t>  &lt;tr&gt;&lt;td&gt;Mon&lt;/td&gt;&lt;td&gt;HTML&lt;/td&gt;&lt;/tr&gt;</a:t>
            </a:r>
            <a:endParaRPr lang="en-US" sz="1030" dirty="0"/>
          </a:p>
          <a:p>
            <a:pPr indent="0" marL="0">
              <a:buNone/>
            </a:pPr>
            <a:r>
              <a:rPr lang="en-US" sz="1030" dirty="0">
                <a:solidFill>
                  <a:srgbClr val="9AE6B4"/>
                </a:solidFill>
                <a:latin typeface="Consolas" pitchFamily="34" charset="0"/>
                <a:ea typeface="Consolas" pitchFamily="34" charset="-122"/>
                <a:cs typeface="Consolas" pitchFamily="34" charset="-120"/>
              </a:rPr>
              <a:t>  &lt;tr&gt;&lt;td&gt;Wed&lt;/td&gt;&lt;td&gt;CSS&lt;/td&gt;&lt;/tr&gt;</a:t>
            </a:r>
            <a:endParaRPr lang="en-US" sz="1030" dirty="0"/>
          </a:p>
          <a:p>
            <a:pPr indent="0" marL="0">
              <a:buNone/>
            </a:pPr>
            <a:r>
              <a:rPr lang="en-US" sz="1030" dirty="0">
                <a:solidFill>
                  <a:srgbClr val="FF9EAA"/>
                </a:solidFill>
                <a:latin typeface="Consolas" pitchFamily="34" charset="0"/>
                <a:ea typeface="Consolas" pitchFamily="34" charset="-122"/>
                <a:cs typeface="Consolas" pitchFamily="34" charset="-120"/>
              </a:rPr>
              <a:t>&lt;/table&gt;</a:t>
            </a:r>
            <a:endParaRPr lang="en-US" sz="1030" dirty="0"/>
          </a:p>
        </p:txBody>
      </p:sp>
      <p:sp>
        <p:nvSpPr>
          <p:cNvPr id="39" name="Shape 37"/>
          <p:cNvSpPr/>
          <p:nvPr/>
        </p:nvSpPr>
        <p:spPr>
          <a:xfrm>
            <a:off x="6510528" y="5138928"/>
            <a:ext cx="1371600" cy="283464"/>
          </a:xfrm>
          <a:prstGeom prst="roundRect">
            <a:avLst>
              <a:gd name="adj" fmla="val 38710"/>
            </a:avLst>
          </a:prstGeom>
          <a:solidFill>
            <a:srgbClr val="25354A"/>
          </a:solidFill>
          <a:ln w="1270">
            <a:solidFill>
              <a:srgbClr val="25354A">
                <a:alpha val="0"/>
              </a:srgbClr>
            </a:solidFill>
            <a:prstDash val="solid"/>
          </a:ln>
        </p:spPr>
      </p:sp>
      <p:sp>
        <p:nvSpPr>
          <p:cNvPr id="40" name="Text 38"/>
          <p:cNvSpPr txBox="1"/>
          <p:nvPr/>
        </p:nvSpPr>
        <p:spPr>
          <a:xfrm>
            <a:off x="6583680" y="5152644"/>
            <a:ext cx="122529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D4DFEC"/>
                </a:solidFill>
                <a:latin typeface="Aptos" pitchFamily="34" charset="0"/>
                <a:ea typeface="Aptos" pitchFamily="34" charset="-122"/>
                <a:cs typeface="Aptos" pitchFamily="34" charset="-120"/>
              </a:rPr>
              <a:t>table = table</a:t>
            </a:r>
            <a:endParaRPr lang="en-US" sz="900" dirty="0"/>
          </a:p>
        </p:txBody>
      </p:sp>
      <p:sp>
        <p:nvSpPr>
          <p:cNvPr id="41" name="Shape 39"/>
          <p:cNvSpPr/>
          <p:nvPr/>
        </p:nvSpPr>
        <p:spPr>
          <a:xfrm>
            <a:off x="8028432" y="5138928"/>
            <a:ext cx="1097280" cy="283464"/>
          </a:xfrm>
          <a:prstGeom prst="roundRect">
            <a:avLst>
              <a:gd name="adj" fmla="val 38710"/>
            </a:avLst>
          </a:prstGeom>
          <a:solidFill>
            <a:srgbClr val="25354A"/>
          </a:solidFill>
          <a:ln w="1270">
            <a:solidFill>
              <a:srgbClr val="25354A">
                <a:alpha val="0"/>
              </a:srgbClr>
            </a:solidFill>
            <a:prstDash val="solid"/>
          </a:ln>
        </p:spPr>
      </p:sp>
      <p:sp>
        <p:nvSpPr>
          <p:cNvPr id="42" name="Text 40"/>
          <p:cNvSpPr txBox="1"/>
          <p:nvPr/>
        </p:nvSpPr>
        <p:spPr>
          <a:xfrm>
            <a:off x="8101584" y="5152644"/>
            <a:ext cx="95097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D4DFEC"/>
                </a:solidFill>
                <a:latin typeface="Aptos" pitchFamily="34" charset="0"/>
                <a:ea typeface="Aptos" pitchFamily="34" charset="-122"/>
                <a:cs typeface="Aptos" pitchFamily="34" charset="-120"/>
              </a:rPr>
              <a:t>tr = row</a:t>
            </a:r>
            <a:endParaRPr lang="en-US" sz="900" dirty="0"/>
          </a:p>
        </p:txBody>
      </p:sp>
      <p:sp>
        <p:nvSpPr>
          <p:cNvPr id="43" name="Shape 41"/>
          <p:cNvSpPr/>
          <p:nvPr/>
        </p:nvSpPr>
        <p:spPr>
          <a:xfrm>
            <a:off x="9272016" y="5138928"/>
            <a:ext cx="1691640" cy="283464"/>
          </a:xfrm>
          <a:prstGeom prst="roundRect">
            <a:avLst>
              <a:gd name="adj" fmla="val 38710"/>
            </a:avLst>
          </a:prstGeom>
          <a:solidFill>
            <a:srgbClr val="25354A"/>
          </a:solidFill>
          <a:ln w="1270">
            <a:solidFill>
              <a:srgbClr val="25354A">
                <a:alpha val="0"/>
              </a:srgbClr>
            </a:solidFill>
            <a:prstDash val="solid"/>
          </a:ln>
        </p:spPr>
      </p:sp>
      <p:sp>
        <p:nvSpPr>
          <p:cNvPr id="44" name="Text 42"/>
          <p:cNvSpPr txBox="1"/>
          <p:nvPr/>
        </p:nvSpPr>
        <p:spPr>
          <a:xfrm>
            <a:off x="9345168" y="5152644"/>
            <a:ext cx="154533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D4DFEC"/>
                </a:solidFill>
                <a:latin typeface="Aptos" pitchFamily="34" charset="0"/>
                <a:ea typeface="Aptos" pitchFamily="34" charset="-122"/>
                <a:cs typeface="Aptos" pitchFamily="34" charset="-120"/>
              </a:rPr>
              <a:t>th / td = cells</a:t>
            </a:r>
            <a:endParaRPr lang="en-US" sz="900" dirty="0"/>
          </a:p>
        </p:txBody>
      </p:sp>
      <p:sp>
        <p:nvSpPr>
          <p:cNvPr id="45" name="Text 43"/>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Source: The Odin Project — Tables lesson</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06</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CSS foundations: units, text and spacing</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A few small properties make layouts easier to read and more adaptable.</a:t>
            </a:r>
            <a:endParaRPr lang="en-US" sz="1250" dirty="0"/>
          </a:p>
        </p:txBody>
      </p:sp>
      <p:sp>
        <p:nvSpPr>
          <p:cNvPr id="5" name="Shape 3"/>
          <p:cNvSpPr/>
          <p:nvPr/>
        </p:nvSpPr>
        <p:spPr>
          <a:xfrm>
            <a:off x="658368" y="1719072"/>
            <a:ext cx="5623560" cy="804672"/>
          </a:xfrm>
          <a:prstGeom prst="roundRect">
            <a:avLst>
              <a:gd name="adj" fmla="val 13636"/>
            </a:avLst>
          </a:prstGeom>
          <a:solidFill>
            <a:srgbClr val="FFFFFF"/>
          </a:solidFill>
          <a:ln w="12700">
            <a:solidFill>
              <a:srgbClr val="DEE5EE"/>
            </a:solidFill>
            <a:prstDash val="solid"/>
          </a:ln>
        </p:spPr>
      </p:sp>
      <p:sp>
        <p:nvSpPr>
          <p:cNvPr id="6" name="Shape 4"/>
          <p:cNvSpPr/>
          <p:nvPr/>
        </p:nvSpPr>
        <p:spPr>
          <a:xfrm>
            <a:off x="822960" y="1901952"/>
            <a:ext cx="484632" cy="429768"/>
          </a:xfrm>
          <a:prstGeom prst="roundRect">
            <a:avLst>
              <a:gd name="adj" fmla="val 25532"/>
            </a:avLst>
          </a:prstGeom>
          <a:solidFill>
            <a:srgbClr val="E8EDFF"/>
          </a:solidFill>
          <a:ln w="1270">
            <a:solidFill>
              <a:srgbClr val="E8EDFF">
                <a:alpha val="0"/>
              </a:srgbClr>
            </a:solidFill>
            <a:prstDash val="solid"/>
          </a:ln>
        </p:spPr>
      </p:sp>
      <p:sp>
        <p:nvSpPr>
          <p:cNvPr id="7" name="Text 5"/>
          <p:cNvSpPr txBox="1"/>
          <p:nvPr/>
        </p:nvSpPr>
        <p:spPr>
          <a:xfrm>
            <a:off x="859536" y="1938528"/>
            <a:ext cx="411480" cy="292608"/>
          </a:xfrm>
          <a:prstGeom prst="rect">
            <a:avLst/>
          </a:prstGeom>
          <a:noFill/>
          <a:ln/>
        </p:spPr>
        <p:txBody>
          <a:bodyPr wrap="square" lIns="0" tIns="0" rIns="0" bIns="0" rtlCol="0" anchor="ctr">
            <a:normAutofit/>
          </a:bodyPr>
          <a:lstStyle/>
          <a:p>
            <a:pPr algn="ctr" indent="0" marL="0">
              <a:buNone/>
            </a:pPr>
            <a:r>
              <a:rPr lang="en-US" sz="1000" b="1" dirty="0">
                <a:solidFill>
                  <a:srgbClr val="5272F2"/>
                </a:solidFill>
                <a:latin typeface="Aptos" pitchFamily="34" charset="0"/>
                <a:ea typeface="Aptos" pitchFamily="34" charset="-122"/>
                <a:cs typeface="Aptos" pitchFamily="34" charset="-120"/>
              </a:rPr>
              <a:t>01</a:t>
            </a:r>
            <a:endParaRPr lang="en-US" sz="1000" dirty="0"/>
          </a:p>
        </p:txBody>
      </p:sp>
      <p:sp>
        <p:nvSpPr>
          <p:cNvPr id="8" name="Text 6"/>
          <p:cNvSpPr txBox="1"/>
          <p:nvPr/>
        </p:nvSpPr>
        <p:spPr>
          <a:xfrm>
            <a:off x="1490472" y="1837944"/>
            <a:ext cx="1508760" cy="228600"/>
          </a:xfrm>
          <a:prstGeom prst="rect">
            <a:avLst/>
          </a:prstGeom>
          <a:noFill/>
          <a:ln/>
        </p:spPr>
        <p:txBody>
          <a:bodyPr wrap="square" lIns="0" tIns="0" rIns="0" bIns="0" rtlCol="0" anchor="ctr">
            <a:normAutofit/>
          </a:bodyPr>
          <a:lstStyle/>
          <a:p>
            <a:pPr algn="l" indent="0" marL="0">
              <a:buNone/>
            </a:pPr>
            <a:r>
              <a:rPr lang="en-US" sz="1400" b="1" dirty="0">
                <a:solidFill>
                  <a:srgbClr val="101828"/>
                </a:solidFill>
                <a:latin typeface="Aptos" pitchFamily="34" charset="0"/>
                <a:ea typeface="Aptos" pitchFamily="34" charset="-122"/>
                <a:cs typeface="Aptos" pitchFamily="34" charset="-120"/>
              </a:rPr>
              <a:t>Default styles</a:t>
            </a:r>
            <a:endParaRPr lang="en-US" sz="1400" dirty="0"/>
          </a:p>
        </p:txBody>
      </p:sp>
      <p:sp>
        <p:nvSpPr>
          <p:cNvPr id="9" name="Text 7"/>
          <p:cNvSpPr txBox="1"/>
          <p:nvPr/>
        </p:nvSpPr>
        <p:spPr>
          <a:xfrm>
            <a:off x="2852928" y="1828800"/>
            <a:ext cx="3127248" cy="521208"/>
          </a:xfrm>
          <a:prstGeom prst="rect">
            <a:avLst/>
          </a:prstGeom>
          <a:noFill/>
          <a:ln/>
        </p:spPr>
        <p:txBody>
          <a:bodyPr wrap="square" lIns="0" tIns="0" rIns="0" bIns="0" rtlCol="0" anchor="t">
            <a:normAutofit/>
          </a:bodyPr>
          <a:lstStyle/>
          <a:p>
            <a:pPr algn="l" indent="0" marL="0">
              <a:buNone/>
            </a:pPr>
            <a:r>
              <a:rPr lang="en-US" sz="1050" dirty="0">
                <a:solidFill>
                  <a:srgbClr val="5F6F84"/>
                </a:solidFill>
                <a:latin typeface="Aptos" pitchFamily="34" charset="0"/>
                <a:ea typeface="Aptos" pitchFamily="34" charset="-122"/>
                <a:cs typeface="Aptos" pitchFamily="34" charset="-120"/>
              </a:rPr>
              <a:t>Browsers apply some styles automatically. A CSS reset or normalization can make results more consistent.</a:t>
            </a:r>
            <a:endParaRPr lang="en-US" sz="1050" dirty="0"/>
          </a:p>
        </p:txBody>
      </p:sp>
      <p:sp>
        <p:nvSpPr>
          <p:cNvPr id="10" name="Shape 8"/>
          <p:cNvSpPr/>
          <p:nvPr/>
        </p:nvSpPr>
        <p:spPr>
          <a:xfrm>
            <a:off x="658368" y="2706624"/>
            <a:ext cx="5623560" cy="804672"/>
          </a:xfrm>
          <a:prstGeom prst="roundRect">
            <a:avLst>
              <a:gd name="adj" fmla="val 13636"/>
            </a:avLst>
          </a:prstGeom>
          <a:solidFill>
            <a:srgbClr val="FFFFFF"/>
          </a:solidFill>
          <a:ln w="12700">
            <a:solidFill>
              <a:srgbClr val="DEE5EE"/>
            </a:solidFill>
            <a:prstDash val="solid"/>
          </a:ln>
        </p:spPr>
      </p:sp>
      <p:sp>
        <p:nvSpPr>
          <p:cNvPr id="11" name="Shape 9"/>
          <p:cNvSpPr/>
          <p:nvPr/>
        </p:nvSpPr>
        <p:spPr>
          <a:xfrm>
            <a:off x="822960" y="2889504"/>
            <a:ext cx="484632" cy="429768"/>
          </a:xfrm>
          <a:prstGeom prst="roundRect">
            <a:avLst>
              <a:gd name="adj" fmla="val 25532"/>
            </a:avLst>
          </a:prstGeom>
          <a:solidFill>
            <a:srgbClr val="DDF7F2"/>
          </a:solidFill>
          <a:ln w="1270">
            <a:solidFill>
              <a:srgbClr val="DDF7F2">
                <a:alpha val="0"/>
              </a:srgbClr>
            </a:solidFill>
            <a:prstDash val="solid"/>
          </a:ln>
        </p:spPr>
      </p:sp>
      <p:sp>
        <p:nvSpPr>
          <p:cNvPr id="12" name="Text 10"/>
          <p:cNvSpPr txBox="1"/>
          <p:nvPr/>
        </p:nvSpPr>
        <p:spPr>
          <a:xfrm>
            <a:off x="859536" y="2926080"/>
            <a:ext cx="411480" cy="292608"/>
          </a:xfrm>
          <a:prstGeom prst="rect">
            <a:avLst/>
          </a:prstGeom>
          <a:noFill/>
          <a:ln/>
        </p:spPr>
        <p:txBody>
          <a:bodyPr wrap="square" lIns="0" tIns="0" rIns="0" bIns="0" rtlCol="0" anchor="ctr">
            <a:normAutofit/>
          </a:bodyPr>
          <a:lstStyle/>
          <a:p>
            <a:pPr algn="ctr" indent="0" marL="0">
              <a:buNone/>
            </a:pPr>
            <a:r>
              <a:rPr lang="en-US" sz="1000" b="1" dirty="0">
                <a:solidFill>
                  <a:srgbClr val="16B7A4"/>
                </a:solidFill>
                <a:latin typeface="Aptos" pitchFamily="34" charset="0"/>
                <a:ea typeface="Aptos" pitchFamily="34" charset="-122"/>
                <a:cs typeface="Aptos" pitchFamily="34" charset="-120"/>
              </a:rPr>
              <a:t>02</a:t>
            </a:r>
            <a:endParaRPr lang="en-US" sz="1000" dirty="0"/>
          </a:p>
        </p:txBody>
      </p:sp>
      <p:sp>
        <p:nvSpPr>
          <p:cNvPr id="13" name="Text 11"/>
          <p:cNvSpPr txBox="1"/>
          <p:nvPr/>
        </p:nvSpPr>
        <p:spPr>
          <a:xfrm>
            <a:off x="1490472" y="2825496"/>
            <a:ext cx="1508760" cy="228600"/>
          </a:xfrm>
          <a:prstGeom prst="rect">
            <a:avLst/>
          </a:prstGeom>
          <a:noFill/>
          <a:ln/>
        </p:spPr>
        <p:txBody>
          <a:bodyPr wrap="square" lIns="0" tIns="0" rIns="0" bIns="0" rtlCol="0" anchor="ctr">
            <a:normAutofit/>
          </a:bodyPr>
          <a:lstStyle/>
          <a:p>
            <a:pPr algn="l" indent="0" marL="0">
              <a:buNone/>
            </a:pPr>
            <a:r>
              <a:rPr lang="en-US" sz="1400" b="1" dirty="0">
                <a:solidFill>
                  <a:srgbClr val="101828"/>
                </a:solidFill>
                <a:latin typeface="Aptos" pitchFamily="34" charset="0"/>
                <a:ea typeface="Aptos" pitchFamily="34" charset="-122"/>
                <a:cs typeface="Aptos" pitchFamily="34" charset="-120"/>
              </a:rPr>
              <a:t>Units</a:t>
            </a:r>
            <a:endParaRPr lang="en-US" sz="1400" dirty="0"/>
          </a:p>
        </p:txBody>
      </p:sp>
      <p:sp>
        <p:nvSpPr>
          <p:cNvPr id="14" name="Text 12"/>
          <p:cNvSpPr txBox="1"/>
          <p:nvPr/>
        </p:nvSpPr>
        <p:spPr>
          <a:xfrm>
            <a:off x="2852928" y="2816352"/>
            <a:ext cx="3127248" cy="521208"/>
          </a:xfrm>
          <a:prstGeom prst="rect">
            <a:avLst/>
          </a:prstGeom>
          <a:noFill/>
          <a:ln/>
        </p:spPr>
        <p:txBody>
          <a:bodyPr wrap="square" lIns="0" tIns="0" rIns="0" bIns="0" rtlCol="0" anchor="t">
            <a:normAutofit/>
          </a:bodyPr>
          <a:lstStyle/>
          <a:p>
            <a:pPr algn="l" indent="0" marL="0">
              <a:buNone/>
            </a:pPr>
            <a:r>
              <a:rPr lang="en-US" sz="1050" dirty="0">
                <a:solidFill>
                  <a:srgbClr val="5F6F84"/>
                </a:solidFill>
                <a:latin typeface="Aptos" pitchFamily="34" charset="0"/>
                <a:ea typeface="Aptos" pitchFamily="34" charset="-122"/>
                <a:cs typeface="Aptos" pitchFamily="34" charset="-120"/>
              </a:rPr>
              <a:t>px is fixed; rem relates to the root text size; % depends on the parent or context.</a:t>
            </a:r>
            <a:endParaRPr lang="en-US" sz="1050" dirty="0"/>
          </a:p>
        </p:txBody>
      </p:sp>
      <p:sp>
        <p:nvSpPr>
          <p:cNvPr id="15" name="Shape 13"/>
          <p:cNvSpPr/>
          <p:nvPr/>
        </p:nvSpPr>
        <p:spPr>
          <a:xfrm>
            <a:off x="658368" y="3694176"/>
            <a:ext cx="5623560" cy="804672"/>
          </a:xfrm>
          <a:prstGeom prst="roundRect">
            <a:avLst>
              <a:gd name="adj" fmla="val 13636"/>
            </a:avLst>
          </a:prstGeom>
          <a:solidFill>
            <a:srgbClr val="FFFFFF"/>
          </a:solidFill>
          <a:ln w="12700">
            <a:solidFill>
              <a:srgbClr val="DEE5EE"/>
            </a:solidFill>
            <a:prstDash val="solid"/>
          </a:ln>
        </p:spPr>
      </p:sp>
      <p:sp>
        <p:nvSpPr>
          <p:cNvPr id="16" name="Shape 14"/>
          <p:cNvSpPr/>
          <p:nvPr/>
        </p:nvSpPr>
        <p:spPr>
          <a:xfrm>
            <a:off x="822960" y="3877056"/>
            <a:ext cx="484632" cy="429768"/>
          </a:xfrm>
          <a:prstGeom prst="roundRect">
            <a:avLst>
              <a:gd name="adj" fmla="val 25532"/>
            </a:avLst>
          </a:prstGeom>
          <a:solidFill>
            <a:srgbClr val="FFE8E3"/>
          </a:solidFill>
          <a:ln w="1270">
            <a:solidFill>
              <a:srgbClr val="FFE8E3">
                <a:alpha val="0"/>
              </a:srgbClr>
            </a:solidFill>
            <a:prstDash val="solid"/>
          </a:ln>
        </p:spPr>
      </p:sp>
      <p:sp>
        <p:nvSpPr>
          <p:cNvPr id="17" name="Text 15"/>
          <p:cNvSpPr txBox="1"/>
          <p:nvPr/>
        </p:nvSpPr>
        <p:spPr>
          <a:xfrm>
            <a:off x="859536" y="3913632"/>
            <a:ext cx="411480" cy="292608"/>
          </a:xfrm>
          <a:prstGeom prst="rect">
            <a:avLst/>
          </a:prstGeom>
          <a:noFill/>
          <a:ln/>
        </p:spPr>
        <p:txBody>
          <a:bodyPr wrap="square" lIns="0" tIns="0" rIns="0" bIns="0" rtlCol="0" anchor="ctr">
            <a:normAutofit/>
          </a:bodyPr>
          <a:lstStyle/>
          <a:p>
            <a:pPr algn="ctr" indent="0" marL="0">
              <a:buNone/>
            </a:pPr>
            <a:r>
              <a:rPr lang="en-US" sz="1000" b="1" dirty="0">
                <a:solidFill>
                  <a:srgbClr val="FF826E"/>
                </a:solidFill>
                <a:latin typeface="Aptos" pitchFamily="34" charset="0"/>
                <a:ea typeface="Aptos" pitchFamily="34" charset="-122"/>
                <a:cs typeface="Aptos" pitchFamily="34" charset="-120"/>
              </a:rPr>
              <a:t>03</a:t>
            </a:r>
            <a:endParaRPr lang="en-US" sz="1000" dirty="0"/>
          </a:p>
        </p:txBody>
      </p:sp>
      <p:sp>
        <p:nvSpPr>
          <p:cNvPr id="18" name="Text 16"/>
          <p:cNvSpPr txBox="1"/>
          <p:nvPr/>
        </p:nvSpPr>
        <p:spPr>
          <a:xfrm>
            <a:off x="1490472" y="3813048"/>
            <a:ext cx="1508760" cy="228600"/>
          </a:xfrm>
          <a:prstGeom prst="rect">
            <a:avLst/>
          </a:prstGeom>
          <a:noFill/>
          <a:ln/>
        </p:spPr>
        <p:txBody>
          <a:bodyPr wrap="square" lIns="0" tIns="0" rIns="0" bIns="0" rtlCol="0" anchor="ctr">
            <a:normAutofit/>
          </a:bodyPr>
          <a:lstStyle/>
          <a:p>
            <a:pPr algn="l" indent="0" marL="0">
              <a:buNone/>
            </a:pPr>
            <a:r>
              <a:rPr lang="en-US" sz="1400" b="1" dirty="0">
                <a:solidFill>
                  <a:srgbClr val="101828"/>
                </a:solidFill>
                <a:latin typeface="Aptos" pitchFamily="34" charset="0"/>
                <a:ea typeface="Aptos" pitchFamily="34" charset="-122"/>
                <a:cs typeface="Aptos" pitchFamily="34" charset="-120"/>
              </a:rPr>
              <a:t>Text styles</a:t>
            </a:r>
            <a:endParaRPr lang="en-US" sz="1400" dirty="0"/>
          </a:p>
        </p:txBody>
      </p:sp>
      <p:sp>
        <p:nvSpPr>
          <p:cNvPr id="19" name="Text 17"/>
          <p:cNvSpPr txBox="1"/>
          <p:nvPr/>
        </p:nvSpPr>
        <p:spPr>
          <a:xfrm>
            <a:off x="2852928" y="3803904"/>
            <a:ext cx="3127248" cy="521208"/>
          </a:xfrm>
          <a:prstGeom prst="rect">
            <a:avLst/>
          </a:prstGeom>
          <a:noFill/>
          <a:ln/>
        </p:spPr>
        <p:txBody>
          <a:bodyPr wrap="square" lIns="0" tIns="0" rIns="0" bIns="0" rtlCol="0" anchor="t">
            <a:normAutofit/>
          </a:bodyPr>
          <a:lstStyle/>
          <a:p>
            <a:pPr algn="l" indent="0" marL="0">
              <a:buNone/>
            </a:pPr>
            <a:r>
              <a:rPr lang="en-US" sz="1050" dirty="0">
                <a:solidFill>
                  <a:srgbClr val="5F6F84"/>
                </a:solidFill>
                <a:latin typeface="Aptos" pitchFamily="34" charset="0"/>
                <a:ea typeface="Aptos" pitchFamily="34" charset="-122"/>
                <a:cs typeface="Aptos" pitchFamily="34" charset="-120"/>
              </a:rPr>
              <a:t>Use font-size, font-weight, line-height and text-align to support readability.</a:t>
            </a:r>
            <a:endParaRPr lang="en-US" sz="1050" dirty="0"/>
          </a:p>
        </p:txBody>
      </p:sp>
      <p:sp>
        <p:nvSpPr>
          <p:cNvPr id="20" name="Shape 18"/>
          <p:cNvSpPr/>
          <p:nvPr/>
        </p:nvSpPr>
        <p:spPr>
          <a:xfrm>
            <a:off x="658368" y="4681728"/>
            <a:ext cx="5623560" cy="804672"/>
          </a:xfrm>
          <a:prstGeom prst="roundRect">
            <a:avLst>
              <a:gd name="adj" fmla="val 13636"/>
            </a:avLst>
          </a:prstGeom>
          <a:solidFill>
            <a:srgbClr val="FFFFFF"/>
          </a:solidFill>
          <a:ln w="12700">
            <a:solidFill>
              <a:srgbClr val="DEE5EE"/>
            </a:solidFill>
            <a:prstDash val="solid"/>
          </a:ln>
        </p:spPr>
      </p:sp>
      <p:sp>
        <p:nvSpPr>
          <p:cNvPr id="21" name="Shape 19"/>
          <p:cNvSpPr/>
          <p:nvPr/>
        </p:nvSpPr>
        <p:spPr>
          <a:xfrm>
            <a:off x="822960" y="4864608"/>
            <a:ext cx="484632" cy="429768"/>
          </a:xfrm>
          <a:prstGeom prst="roundRect">
            <a:avLst>
              <a:gd name="adj" fmla="val 25532"/>
            </a:avLst>
          </a:prstGeom>
          <a:solidFill>
            <a:srgbClr val="EEE8FF"/>
          </a:solidFill>
          <a:ln w="1270">
            <a:solidFill>
              <a:srgbClr val="EEE8FF">
                <a:alpha val="0"/>
              </a:srgbClr>
            </a:solidFill>
            <a:prstDash val="solid"/>
          </a:ln>
        </p:spPr>
      </p:sp>
      <p:sp>
        <p:nvSpPr>
          <p:cNvPr id="22" name="Text 20"/>
          <p:cNvSpPr txBox="1"/>
          <p:nvPr/>
        </p:nvSpPr>
        <p:spPr>
          <a:xfrm>
            <a:off x="859536" y="4901184"/>
            <a:ext cx="411480" cy="292608"/>
          </a:xfrm>
          <a:prstGeom prst="rect">
            <a:avLst/>
          </a:prstGeom>
          <a:noFill/>
          <a:ln/>
        </p:spPr>
        <p:txBody>
          <a:bodyPr wrap="square" lIns="0" tIns="0" rIns="0" bIns="0" rtlCol="0" anchor="ctr">
            <a:normAutofit/>
          </a:bodyPr>
          <a:lstStyle/>
          <a:p>
            <a:pPr algn="ctr" indent="0" marL="0">
              <a:buNone/>
            </a:pPr>
            <a:r>
              <a:rPr lang="en-US" sz="1000" b="1" dirty="0">
                <a:solidFill>
                  <a:srgbClr val="8C6FE8"/>
                </a:solidFill>
                <a:latin typeface="Aptos" pitchFamily="34" charset="0"/>
                <a:ea typeface="Aptos" pitchFamily="34" charset="-122"/>
                <a:cs typeface="Aptos" pitchFamily="34" charset="-120"/>
              </a:rPr>
              <a:t>04</a:t>
            </a:r>
            <a:endParaRPr lang="en-US" sz="1000" dirty="0"/>
          </a:p>
        </p:txBody>
      </p:sp>
      <p:sp>
        <p:nvSpPr>
          <p:cNvPr id="23" name="Text 21"/>
          <p:cNvSpPr txBox="1"/>
          <p:nvPr/>
        </p:nvSpPr>
        <p:spPr>
          <a:xfrm>
            <a:off x="1490472" y="4800600"/>
            <a:ext cx="1508760" cy="228600"/>
          </a:xfrm>
          <a:prstGeom prst="rect">
            <a:avLst/>
          </a:prstGeom>
          <a:noFill/>
          <a:ln/>
        </p:spPr>
        <p:txBody>
          <a:bodyPr wrap="square" lIns="0" tIns="0" rIns="0" bIns="0" rtlCol="0" anchor="ctr">
            <a:normAutofit/>
          </a:bodyPr>
          <a:lstStyle/>
          <a:p>
            <a:pPr algn="l" indent="0" marL="0">
              <a:buNone/>
            </a:pPr>
            <a:r>
              <a:rPr lang="en-US" sz="1400" b="1" dirty="0">
                <a:solidFill>
                  <a:srgbClr val="101828"/>
                </a:solidFill>
                <a:latin typeface="Aptos" pitchFamily="34" charset="0"/>
                <a:ea typeface="Aptos" pitchFamily="34" charset="-122"/>
                <a:cs typeface="Aptos" pitchFamily="34" charset="-120"/>
              </a:rPr>
              <a:t>Spacing</a:t>
            </a:r>
            <a:endParaRPr lang="en-US" sz="1400" dirty="0"/>
          </a:p>
        </p:txBody>
      </p:sp>
      <p:sp>
        <p:nvSpPr>
          <p:cNvPr id="24" name="Text 22"/>
          <p:cNvSpPr txBox="1"/>
          <p:nvPr/>
        </p:nvSpPr>
        <p:spPr>
          <a:xfrm>
            <a:off x="2852928" y="4791456"/>
            <a:ext cx="3127248" cy="521208"/>
          </a:xfrm>
          <a:prstGeom prst="rect">
            <a:avLst/>
          </a:prstGeom>
          <a:noFill/>
          <a:ln/>
        </p:spPr>
        <p:txBody>
          <a:bodyPr wrap="square" lIns="0" tIns="0" rIns="0" bIns="0" rtlCol="0" anchor="t">
            <a:normAutofit/>
          </a:bodyPr>
          <a:lstStyle/>
          <a:p>
            <a:pPr algn="l" indent="0" marL="0">
              <a:buNone/>
            </a:pPr>
            <a:r>
              <a:rPr lang="en-US" sz="1050" dirty="0">
                <a:solidFill>
                  <a:srgbClr val="5F6F84"/>
                </a:solidFill>
                <a:latin typeface="Aptos" pitchFamily="34" charset="0"/>
                <a:ea typeface="Aptos" pitchFamily="34" charset="-122"/>
                <a:cs typeface="Aptos" pitchFamily="34" charset="-120"/>
              </a:rPr>
              <a:t>margin adds space outside an element; padding adds space inside its border.</a:t>
            </a:r>
            <a:endParaRPr lang="en-US" sz="1050" dirty="0"/>
          </a:p>
        </p:txBody>
      </p:sp>
      <p:sp>
        <p:nvSpPr>
          <p:cNvPr id="25" name="Shape 23"/>
          <p:cNvSpPr/>
          <p:nvPr/>
        </p:nvSpPr>
        <p:spPr>
          <a:xfrm>
            <a:off x="6565392" y="1719072"/>
            <a:ext cx="4937760" cy="4261104"/>
          </a:xfrm>
          <a:prstGeom prst="roundRect">
            <a:avLst>
              <a:gd name="adj" fmla="val 2575"/>
            </a:avLst>
          </a:prstGeom>
          <a:solidFill>
            <a:srgbClr val="FFFFFF"/>
          </a:solidFill>
          <a:ln w="12700">
            <a:solidFill>
              <a:srgbClr val="DEE5EE"/>
            </a:solidFill>
            <a:prstDash val="solid"/>
          </a:ln>
        </p:spPr>
      </p:sp>
      <p:sp>
        <p:nvSpPr>
          <p:cNvPr id="26" name="Text 24"/>
          <p:cNvSpPr txBox="1"/>
          <p:nvPr/>
        </p:nvSpPr>
        <p:spPr>
          <a:xfrm>
            <a:off x="6858000" y="1956816"/>
            <a:ext cx="2194560" cy="274320"/>
          </a:xfrm>
          <a:prstGeom prst="rect">
            <a:avLst/>
          </a:prstGeom>
          <a:noFill/>
          <a:ln/>
        </p:spPr>
        <p:txBody>
          <a:bodyPr wrap="square" lIns="0" tIns="0" rIns="0" bIns="0" rtlCol="0" anchor="ctr">
            <a:normAutofit/>
          </a:bodyPr>
          <a:lstStyle/>
          <a:p>
            <a:pPr algn="l" indent="0" marL="0">
              <a:buNone/>
            </a:pPr>
            <a:r>
              <a:rPr lang="en-US" sz="1800" b="1" dirty="0">
                <a:solidFill>
                  <a:srgbClr val="101828"/>
                </a:solidFill>
                <a:latin typeface="Aptos" pitchFamily="34" charset="0"/>
                <a:ea typeface="Aptos" pitchFamily="34" charset="-122"/>
                <a:cs typeface="Aptos" pitchFamily="34" charset="-120"/>
              </a:rPr>
              <a:t>Example CSS</a:t>
            </a:r>
            <a:endParaRPr lang="en-US" sz="1800" dirty="0"/>
          </a:p>
        </p:txBody>
      </p:sp>
      <p:sp>
        <p:nvSpPr>
          <p:cNvPr id="27" name="Shape 25"/>
          <p:cNvSpPr/>
          <p:nvPr/>
        </p:nvSpPr>
        <p:spPr>
          <a:xfrm>
            <a:off x="6839712" y="2414016"/>
            <a:ext cx="4370832" cy="1993392"/>
          </a:xfrm>
          <a:prstGeom prst="roundRect">
            <a:avLst>
              <a:gd name="adj" fmla="val 5505"/>
            </a:avLst>
          </a:prstGeom>
          <a:solidFill>
            <a:srgbClr val="101B2B"/>
          </a:solidFill>
          <a:ln w="1270">
            <a:solidFill>
              <a:srgbClr val="101B2B">
                <a:alpha val="0"/>
              </a:srgbClr>
            </a:solidFill>
            <a:prstDash val="solid"/>
          </a:ln>
        </p:spPr>
      </p:sp>
      <p:sp>
        <p:nvSpPr>
          <p:cNvPr id="28" name="Shape 26"/>
          <p:cNvSpPr/>
          <p:nvPr/>
        </p:nvSpPr>
        <p:spPr>
          <a:xfrm>
            <a:off x="7004304" y="2551176"/>
            <a:ext cx="82296" cy="82296"/>
          </a:xfrm>
          <a:prstGeom prst="ellipse">
            <a:avLst/>
          </a:prstGeom>
          <a:solidFill>
            <a:srgbClr val="FF826E"/>
          </a:solidFill>
          <a:ln w="12700">
            <a:solidFill>
              <a:srgbClr val="FF826E"/>
            </a:solidFill>
            <a:prstDash val="solid"/>
          </a:ln>
        </p:spPr>
      </p:sp>
      <p:sp>
        <p:nvSpPr>
          <p:cNvPr id="29" name="Shape 27"/>
          <p:cNvSpPr/>
          <p:nvPr/>
        </p:nvSpPr>
        <p:spPr>
          <a:xfrm>
            <a:off x="7132320" y="2551176"/>
            <a:ext cx="82296" cy="82296"/>
          </a:xfrm>
          <a:prstGeom prst="ellipse">
            <a:avLst/>
          </a:prstGeom>
          <a:solidFill>
            <a:srgbClr val="F4C45E"/>
          </a:solidFill>
          <a:ln w="12700">
            <a:solidFill>
              <a:srgbClr val="F4C45E"/>
            </a:solidFill>
            <a:prstDash val="solid"/>
          </a:ln>
        </p:spPr>
      </p:sp>
      <p:sp>
        <p:nvSpPr>
          <p:cNvPr id="30" name="Shape 28"/>
          <p:cNvSpPr/>
          <p:nvPr/>
        </p:nvSpPr>
        <p:spPr>
          <a:xfrm>
            <a:off x="7260336" y="2551176"/>
            <a:ext cx="82296" cy="82296"/>
          </a:xfrm>
          <a:prstGeom prst="ellipse">
            <a:avLst/>
          </a:prstGeom>
          <a:solidFill>
            <a:srgbClr val="16B7A4"/>
          </a:solidFill>
          <a:ln w="12700">
            <a:solidFill>
              <a:srgbClr val="16B7A4"/>
            </a:solidFill>
            <a:prstDash val="solid"/>
          </a:ln>
        </p:spPr>
      </p:sp>
      <p:sp>
        <p:nvSpPr>
          <p:cNvPr id="31" name="Text 29"/>
          <p:cNvSpPr/>
          <p:nvPr/>
        </p:nvSpPr>
        <p:spPr>
          <a:xfrm>
            <a:off x="7040880" y="2807208"/>
            <a:ext cx="3986784" cy="1481328"/>
          </a:xfrm>
          <a:prstGeom prst="rect">
            <a:avLst/>
          </a:prstGeom>
          <a:noFill/>
          <a:ln/>
        </p:spPr>
        <p:txBody>
          <a:bodyPr wrap="square" lIns="0" tIns="0" rIns="0" bIns="0" rtlCol="0" anchor="t">
            <a:normAutofit/>
          </a:bodyPr>
          <a:lstStyle/>
          <a:p>
            <a:pPr indent="0" marL="0">
              <a:buNone/>
            </a:pPr>
            <a:r>
              <a:rPr lang="en-US" sz="1150" dirty="0">
                <a:solidFill>
                  <a:srgbClr val="FF9EAA"/>
                </a:solidFill>
                <a:latin typeface="Consolas" pitchFamily="34" charset="0"/>
                <a:ea typeface="Consolas" pitchFamily="34" charset="-122"/>
                <a:cs typeface="Consolas" pitchFamily="34" charset="-120"/>
              </a:rPr>
              <a:t>.card {</a:t>
            </a:r>
            <a:endParaRPr lang="en-US" sz="1150" dirty="0"/>
          </a:p>
          <a:p>
            <a:pPr indent="0" marL="0">
              <a:buNone/>
            </a:pPr>
            <a:r>
              <a:rPr lang="en-US" sz="1150" dirty="0">
                <a:solidFill>
                  <a:srgbClr val="DCE8F5"/>
                </a:solidFill>
                <a:latin typeface="Consolas" pitchFamily="34" charset="0"/>
                <a:ea typeface="Consolas" pitchFamily="34" charset="-122"/>
                <a:cs typeface="Consolas" pitchFamily="34" charset="-120"/>
              </a:rPr>
              <a:t>  width: 90%;</a:t>
            </a:r>
            <a:endParaRPr lang="en-US" sz="1150" dirty="0"/>
          </a:p>
          <a:p>
            <a:pPr indent="0" marL="0">
              <a:buNone/>
            </a:pPr>
            <a:r>
              <a:rPr lang="en-US" sz="1150" dirty="0">
                <a:solidFill>
                  <a:srgbClr val="9AE6B4"/>
                </a:solidFill>
                <a:latin typeface="Consolas" pitchFamily="34" charset="0"/>
                <a:ea typeface="Consolas" pitchFamily="34" charset="-122"/>
                <a:cs typeface="Consolas" pitchFamily="34" charset="-120"/>
              </a:rPr>
              <a:t>  padding: 1rem;</a:t>
            </a:r>
            <a:endParaRPr lang="en-US" sz="1150" dirty="0"/>
          </a:p>
          <a:p>
            <a:pPr indent="0" marL="0">
              <a:buNone/>
            </a:pPr>
            <a:r>
              <a:rPr lang="en-US" sz="1150" dirty="0">
                <a:solidFill>
                  <a:srgbClr val="DCE8F5"/>
                </a:solidFill>
                <a:latin typeface="Consolas" pitchFamily="34" charset="0"/>
                <a:ea typeface="Consolas" pitchFamily="34" charset="-122"/>
                <a:cs typeface="Consolas" pitchFamily="34" charset="-120"/>
              </a:rPr>
              <a:t>  font-size: 1rem;</a:t>
            </a:r>
            <a:endParaRPr lang="en-US" sz="1150" dirty="0"/>
          </a:p>
          <a:p>
            <a:pPr indent="0" marL="0">
              <a:buNone/>
            </a:pPr>
            <a:r>
              <a:rPr lang="en-US" sz="1150" dirty="0">
                <a:solidFill>
                  <a:srgbClr val="DCE8F5"/>
                </a:solidFill>
                <a:latin typeface="Consolas" pitchFamily="34" charset="0"/>
                <a:ea typeface="Consolas" pitchFamily="34" charset="-122"/>
                <a:cs typeface="Consolas" pitchFamily="34" charset="-120"/>
              </a:rPr>
              <a:t>  line-height: 1.5;</a:t>
            </a:r>
            <a:endParaRPr lang="en-US" sz="1150" dirty="0"/>
          </a:p>
          <a:p>
            <a:pPr indent="0" marL="0">
              <a:buNone/>
            </a:pPr>
            <a:r>
              <a:rPr lang="en-US" sz="1150" dirty="0">
                <a:solidFill>
                  <a:srgbClr val="FF9EAA"/>
                </a:solidFill>
                <a:latin typeface="Consolas" pitchFamily="34" charset="0"/>
                <a:ea typeface="Consolas" pitchFamily="34" charset="-122"/>
                <a:cs typeface="Consolas" pitchFamily="34" charset="-120"/>
              </a:rPr>
              <a:t>}</a:t>
            </a:r>
            <a:endParaRPr lang="en-US" sz="1150" dirty="0"/>
          </a:p>
        </p:txBody>
      </p:sp>
      <p:sp>
        <p:nvSpPr>
          <p:cNvPr id="32" name="Shape 30"/>
          <p:cNvSpPr/>
          <p:nvPr/>
        </p:nvSpPr>
        <p:spPr>
          <a:xfrm>
            <a:off x="6858000" y="4681728"/>
            <a:ext cx="4343400" cy="950976"/>
          </a:xfrm>
          <a:prstGeom prst="roundRect">
            <a:avLst>
              <a:gd name="adj" fmla="val 11538"/>
            </a:avLst>
          </a:prstGeom>
          <a:solidFill>
            <a:srgbClr val="F0F7F8"/>
          </a:solidFill>
          <a:ln w="12700">
            <a:solidFill>
              <a:srgbClr val="D1E8E5"/>
            </a:solidFill>
            <a:prstDash val="solid"/>
          </a:ln>
        </p:spPr>
      </p:sp>
      <p:sp>
        <p:nvSpPr>
          <p:cNvPr id="33" name="Text 31"/>
          <p:cNvSpPr txBox="1"/>
          <p:nvPr/>
        </p:nvSpPr>
        <p:spPr>
          <a:xfrm>
            <a:off x="7104888" y="4846320"/>
            <a:ext cx="2194560" cy="256032"/>
          </a:xfrm>
          <a:prstGeom prst="rect">
            <a:avLst/>
          </a:prstGeom>
          <a:noFill/>
          <a:ln/>
        </p:spPr>
        <p:txBody>
          <a:bodyPr wrap="square" lIns="0" tIns="0" rIns="0" bIns="0" rtlCol="0" anchor="ctr">
            <a:normAutofit/>
          </a:bodyPr>
          <a:lstStyle/>
          <a:p>
            <a:pPr algn="l" indent="0" marL="0">
              <a:buNone/>
            </a:pPr>
            <a:r>
              <a:rPr lang="en-US" sz="1600" b="1" dirty="0">
                <a:solidFill>
                  <a:srgbClr val="101828"/>
                </a:solidFill>
                <a:latin typeface="Aptos" pitchFamily="34" charset="0"/>
                <a:ea typeface="Aptos" pitchFamily="34" charset="-122"/>
                <a:cs typeface="Aptos" pitchFamily="34" charset="-120"/>
              </a:rPr>
              <a:t>A readable card</a:t>
            </a:r>
            <a:endParaRPr lang="en-US" sz="1600" dirty="0"/>
          </a:p>
        </p:txBody>
      </p:sp>
      <p:sp>
        <p:nvSpPr>
          <p:cNvPr id="34" name="Text 32"/>
          <p:cNvSpPr txBox="1"/>
          <p:nvPr/>
        </p:nvSpPr>
        <p:spPr>
          <a:xfrm>
            <a:off x="7104888" y="5175504"/>
            <a:ext cx="3730752" cy="256032"/>
          </a:xfrm>
          <a:prstGeom prst="rect">
            <a:avLst/>
          </a:prstGeom>
          <a:noFill/>
          <a:ln/>
        </p:spPr>
        <p:txBody>
          <a:bodyPr wrap="square" lIns="0" tIns="0" rIns="0" bIns="0" rtlCol="0" anchor="ctr">
            <a:normAutofit/>
          </a:bodyPr>
          <a:lstStyle/>
          <a:p>
            <a:pPr algn="l" indent="0" marL="0">
              <a:buNone/>
            </a:pPr>
            <a:r>
              <a:rPr lang="en-US" sz="1150" dirty="0">
                <a:solidFill>
                  <a:srgbClr val="5F6F84"/>
                </a:solidFill>
                <a:latin typeface="Aptos" pitchFamily="34" charset="0"/>
                <a:ea typeface="Aptos" pitchFamily="34" charset="-122"/>
                <a:cs typeface="Aptos" pitchFamily="34" charset="-120"/>
              </a:rPr>
              <a:t>Comfortable spacing makes content feel less crowded.</a:t>
            </a:r>
            <a:endParaRPr lang="en-US" sz="1150" dirty="0"/>
          </a:p>
        </p:txBody>
      </p:sp>
      <p:sp>
        <p:nvSpPr>
          <p:cNvPr id="35" name="Text 33"/>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course outline</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07</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CSS selectors: choose exactly what to style</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Selectors tell the browser which HTML elements should receive a style.</a:t>
            </a:r>
            <a:endParaRPr lang="en-US" sz="1250" dirty="0"/>
          </a:p>
        </p:txBody>
      </p:sp>
      <p:sp>
        <p:nvSpPr>
          <p:cNvPr id="5" name="Shape 3"/>
          <p:cNvSpPr/>
          <p:nvPr/>
        </p:nvSpPr>
        <p:spPr>
          <a:xfrm>
            <a:off x="713232" y="1783080"/>
            <a:ext cx="2560320" cy="1463040"/>
          </a:xfrm>
          <a:prstGeom prst="roundRect">
            <a:avLst>
              <a:gd name="adj" fmla="val 7500"/>
            </a:avLst>
          </a:prstGeom>
          <a:solidFill>
            <a:srgbClr val="FFFFFF"/>
          </a:solidFill>
          <a:ln w="12700">
            <a:solidFill>
              <a:srgbClr val="DEE5EE"/>
            </a:solidFill>
            <a:prstDash val="solid"/>
          </a:ln>
        </p:spPr>
      </p:sp>
      <p:sp>
        <p:nvSpPr>
          <p:cNvPr id="6" name="Shape 4"/>
          <p:cNvSpPr/>
          <p:nvPr/>
        </p:nvSpPr>
        <p:spPr>
          <a:xfrm>
            <a:off x="877824" y="1938528"/>
            <a:ext cx="1051560" cy="283464"/>
          </a:xfrm>
          <a:prstGeom prst="roundRect">
            <a:avLst>
              <a:gd name="adj" fmla="val 38710"/>
            </a:avLst>
          </a:prstGeom>
          <a:solidFill>
            <a:srgbClr val="E8EDFF"/>
          </a:solidFill>
          <a:ln w="1270">
            <a:solidFill>
              <a:srgbClr val="E8EDFF">
                <a:alpha val="0"/>
              </a:srgbClr>
            </a:solidFill>
            <a:prstDash val="solid"/>
          </a:ln>
        </p:spPr>
      </p:sp>
      <p:sp>
        <p:nvSpPr>
          <p:cNvPr id="7" name="Text 5"/>
          <p:cNvSpPr txBox="1"/>
          <p:nvPr/>
        </p:nvSpPr>
        <p:spPr>
          <a:xfrm>
            <a:off x="950976" y="1952244"/>
            <a:ext cx="90525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5272F2"/>
                </a:solidFill>
                <a:latin typeface="Aptos" pitchFamily="34" charset="0"/>
                <a:ea typeface="Aptos" pitchFamily="34" charset="-122"/>
                <a:cs typeface="Aptos" pitchFamily="34" charset="-120"/>
              </a:rPr>
              <a:t>Element</a:t>
            </a:r>
            <a:endParaRPr lang="en-US" sz="900" dirty="0"/>
          </a:p>
        </p:txBody>
      </p:sp>
      <p:sp>
        <p:nvSpPr>
          <p:cNvPr id="8" name="Text 6"/>
          <p:cNvSpPr txBox="1"/>
          <p:nvPr/>
        </p:nvSpPr>
        <p:spPr>
          <a:xfrm>
            <a:off x="896112" y="2377440"/>
            <a:ext cx="2194560" cy="310896"/>
          </a:xfrm>
          <a:prstGeom prst="rect">
            <a:avLst/>
          </a:prstGeom>
          <a:noFill/>
          <a:ln/>
        </p:spPr>
        <p:txBody>
          <a:bodyPr wrap="square" lIns="0" tIns="0" rIns="0" bIns="0" rtlCol="0" anchor="ctr">
            <a:normAutofit/>
          </a:bodyPr>
          <a:lstStyle/>
          <a:p>
            <a:pPr algn="ctr" indent="0" marL="0">
              <a:buNone/>
            </a:pPr>
            <a:r>
              <a:rPr lang="en-US" sz="1600" b="1" dirty="0">
                <a:solidFill>
                  <a:srgbClr val="101828"/>
                </a:solidFill>
                <a:latin typeface="Consolas" pitchFamily="34" charset="0"/>
                <a:ea typeface="Consolas" pitchFamily="34" charset="-122"/>
                <a:cs typeface="Consolas" pitchFamily="34" charset="-120"/>
              </a:rPr>
              <a:t>p</a:t>
            </a:r>
            <a:endParaRPr lang="en-US" sz="1600" dirty="0"/>
          </a:p>
        </p:txBody>
      </p:sp>
      <p:sp>
        <p:nvSpPr>
          <p:cNvPr id="9" name="Text 7"/>
          <p:cNvSpPr txBox="1"/>
          <p:nvPr/>
        </p:nvSpPr>
        <p:spPr>
          <a:xfrm>
            <a:off x="877824" y="2807208"/>
            <a:ext cx="2231136" cy="301752"/>
          </a:xfrm>
          <a:prstGeom prst="rect">
            <a:avLst/>
          </a:prstGeom>
          <a:noFill/>
          <a:ln/>
        </p:spPr>
        <p:txBody>
          <a:bodyPr wrap="square" lIns="0" tIns="0" rIns="0" bIns="0" rtlCol="0" anchor="ctr">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Styles every paragraph.</a:t>
            </a:r>
            <a:endParaRPr lang="en-US" sz="1050" dirty="0"/>
          </a:p>
        </p:txBody>
      </p:sp>
      <p:sp>
        <p:nvSpPr>
          <p:cNvPr id="10" name="Shape 8"/>
          <p:cNvSpPr/>
          <p:nvPr/>
        </p:nvSpPr>
        <p:spPr>
          <a:xfrm>
            <a:off x="3456432" y="1783080"/>
            <a:ext cx="2560320" cy="1463040"/>
          </a:xfrm>
          <a:prstGeom prst="roundRect">
            <a:avLst>
              <a:gd name="adj" fmla="val 7500"/>
            </a:avLst>
          </a:prstGeom>
          <a:solidFill>
            <a:srgbClr val="FFFFFF"/>
          </a:solidFill>
          <a:ln w="12700">
            <a:solidFill>
              <a:srgbClr val="DEE5EE"/>
            </a:solidFill>
            <a:prstDash val="solid"/>
          </a:ln>
        </p:spPr>
      </p:sp>
      <p:sp>
        <p:nvSpPr>
          <p:cNvPr id="11" name="Shape 9"/>
          <p:cNvSpPr/>
          <p:nvPr/>
        </p:nvSpPr>
        <p:spPr>
          <a:xfrm>
            <a:off x="3621024" y="1938528"/>
            <a:ext cx="1051560" cy="283464"/>
          </a:xfrm>
          <a:prstGeom prst="roundRect">
            <a:avLst>
              <a:gd name="adj" fmla="val 38710"/>
            </a:avLst>
          </a:prstGeom>
          <a:solidFill>
            <a:srgbClr val="DDF7F2"/>
          </a:solidFill>
          <a:ln w="1270">
            <a:solidFill>
              <a:srgbClr val="DDF7F2">
                <a:alpha val="0"/>
              </a:srgbClr>
            </a:solidFill>
            <a:prstDash val="solid"/>
          </a:ln>
        </p:spPr>
      </p:sp>
      <p:sp>
        <p:nvSpPr>
          <p:cNvPr id="12" name="Text 10"/>
          <p:cNvSpPr txBox="1"/>
          <p:nvPr/>
        </p:nvSpPr>
        <p:spPr>
          <a:xfrm>
            <a:off x="3694176" y="1952244"/>
            <a:ext cx="90525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16B7A4"/>
                </a:solidFill>
                <a:latin typeface="Aptos" pitchFamily="34" charset="0"/>
                <a:ea typeface="Aptos" pitchFamily="34" charset="-122"/>
                <a:cs typeface="Aptos" pitchFamily="34" charset="-120"/>
              </a:rPr>
              <a:t>Class</a:t>
            </a:r>
            <a:endParaRPr lang="en-US" sz="900" dirty="0"/>
          </a:p>
        </p:txBody>
      </p:sp>
      <p:sp>
        <p:nvSpPr>
          <p:cNvPr id="13" name="Text 11"/>
          <p:cNvSpPr txBox="1"/>
          <p:nvPr/>
        </p:nvSpPr>
        <p:spPr>
          <a:xfrm>
            <a:off x="3639312" y="2377440"/>
            <a:ext cx="2194560" cy="310896"/>
          </a:xfrm>
          <a:prstGeom prst="rect">
            <a:avLst/>
          </a:prstGeom>
          <a:noFill/>
          <a:ln/>
        </p:spPr>
        <p:txBody>
          <a:bodyPr wrap="square" lIns="0" tIns="0" rIns="0" bIns="0" rtlCol="0" anchor="ctr">
            <a:normAutofit/>
          </a:bodyPr>
          <a:lstStyle/>
          <a:p>
            <a:pPr algn="ctr" indent="0" marL="0">
              <a:buNone/>
            </a:pPr>
            <a:r>
              <a:rPr lang="en-US" sz="1600" b="1" dirty="0">
                <a:solidFill>
                  <a:srgbClr val="101828"/>
                </a:solidFill>
                <a:latin typeface="Consolas" pitchFamily="34" charset="0"/>
                <a:ea typeface="Consolas" pitchFamily="34" charset="-122"/>
                <a:cs typeface="Consolas" pitchFamily="34" charset="-120"/>
              </a:rPr>
              <a:t>.notice</a:t>
            </a:r>
            <a:endParaRPr lang="en-US" sz="1600" dirty="0"/>
          </a:p>
        </p:txBody>
      </p:sp>
      <p:sp>
        <p:nvSpPr>
          <p:cNvPr id="14" name="Text 12"/>
          <p:cNvSpPr txBox="1"/>
          <p:nvPr/>
        </p:nvSpPr>
        <p:spPr>
          <a:xfrm>
            <a:off x="3621024" y="2807208"/>
            <a:ext cx="2231136" cy="301752"/>
          </a:xfrm>
          <a:prstGeom prst="rect">
            <a:avLst/>
          </a:prstGeom>
          <a:noFill/>
          <a:ln/>
        </p:spPr>
        <p:txBody>
          <a:bodyPr wrap="square" lIns="0" tIns="0" rIns="0" bIns="0" rtlCol="0" anchor="ctr">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Styles elements with this class.</a:t>
            </a:r>
            <a:endParaRPr lang="en-US" sz="1050" dirty="0"/>
          </a:p>
        </p:txBody>
      </p:sp>
      <p:sp>
        <p:nvSpPr>
          <p:cNvPr id="15" name="Shape 13"/>
          <p:cNvSpPr/>
          <p:nvPr/>
        </p:nvSpPr>
        <p:spPr>
          <a:xfrm>
            <a:off x="6199632" y="1783080"/>
            <a:ext cx="2560320" cy="1463040"/>
          </a:xfrm>
          <a:prstGeom prst="roundRect">
            <a:avLst>
              <a:gd name="adj" fmla="val 7500"/>
            </a:avLst>
          </a:prstGeom>
          <a:solidFill>
            <a:srgbClr val="FFFFFF"/>
          </a:solidFill>
          <a:ln w="12700">
            <a:solidFill>
              <a:srgbClr val="DEE5EE"/>
            </a:solidFill>
            <a:prstDash val="solid"/>
          </a:ln>
        </p:spPr>
      </p:sp>
      <p:sp>
        <p:nvSpPr>
          <p:cNvPr id="16" name="Shape 14"/>
          <p:cNvSpPr/>
          <p:nvPr/>
        </p:nvSpPr>
        <p:spPr>
          <a:xfrm>
            <a:off x="6364224" y="1938528"/>
            <a:ext cx="1051560" cy="283464"/>
          </a:xfrm>
          <a:prstGeom prst="roundRect">
            <a:avLst>
              <a:gd name="adj" fmla="val 38710"/>
            </a:avLst>
          </a:prstGeom>
          <a:solidFill>
            <a:srgbClr val="FFE8E3"/>
          </a:solidFill>
          <a:ln w="1270">
            <a:solidFill>
              <a:srgbClr val="FFE8E3">
                <a:alpha val="0"/>
              </a:srgbClr>
            </a:solidFill>
            <a:prstDash val="solid"/>
          </a:ln>
        </p:spPr>
      </p:sp>
      <p:sp>
        <p:nvSpPr>
          <p:cNvPr id="17" name="Text 15"/>
          <p:cNvSpPr txBox="1"/>
          <p:nvPr/>
        </p:nvSpPr>
        <p:spPr>
          <a:xfrm>
            <a:off x="6437376" y="1952244"/>
            <a:ext cx="90525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FF826E"/>
                </a:solidFill>
                <a:latin typeface="Aptos" pitchFamily="34" charset="0"/>
                <a:ea typeface="Aptos" pitchFamily="34" charset="-122"/>
                <a:cs typeface="Aptos" pitchFamily="34" charset="-120"/>
              </a:rPr>
              <a:t>Pseudo-class</a:t>
            </a:r>
            <a:endParaRPr lang="en-US" sz="900" dirty="0"/>
          </a:p>
        </p:txBody>
      </p:sp>
      <p:sp>
        <p:nvSpPr>
          <p:cNvPr id="18" name="Text 16"/>
          <p:cNvSpPr txBox="1"/>
          <p:nvPr/>
        </p:nvSpPr>
        <p:spPr>
          <a:xfrm>
            <a:off x="6382512" y="2377440"/>
            <a:ext cx="2194560" cy="310896"/>
          </a:xfrm>
          <a:prstGeom prst="rect">
            <a:avLst/>
          </a:prstGeom>
          <a:noFill/>
          <a:ln/>
        </p:spPr>
        <p:txBody>
          <a:bodyPr wrap="square" lIns="0" tIns="0" rIns="0" bIns="0" rtlCol="0" anchor="ctr">
            <a:normAutofit/>
          </a:bodyPr>
          <a:lstStyle/>
          <a:p>
            <a:pPr algn="ctr" indent="0" marL="0">
              <a:buNone/>
            </a:pPr>
            <a:r>
              <a:rPr lang="en-US" sz="1600" b="1" dirty="0">
                <a:solidFill>
                  <a:srgbClr val="101828"/>
                </a:solidFill>
                <a:latin typeface="Consolas" pitchFamily="34" charset="0"/>
                <a:ea typeface="Consolas" pitchFamily="34" charset="-122"/>
                <a:cs typeface="Consolas" pitchFamily="34" charset="-120"/>
              </a:rPr>
              <a:t>.btn:hover</a:t>
            </a:r>
            <a:endParaRPr lang="en-US" sz="1600" dirty="0"/>
          </a:p>
        </p:txBody>
      </p:sp>
      <p:sp>
        <p:nvSpPr>
          <p:cNvPr id="19" name="Text 17"/>
          <p:cNvSpPr txBox="1"/>
          <p:nvPr/>
        </p:nvSpPr>
        <p:spPr>
          <a:xfrm>
            <a:off x="6364224" y="2807208"/>
            <a:ext cx="2231136" cy="301752"/>
          </a:xfrm>
          <a:prstGeom prst="rect">
            <a:avLst/>
          </a:prstGeom>
          <a:noFill/>
          <a:ln/>
        </p:spPr>
        <p:txBody>
          <a:bodyPr wrap="square" lIns="0" tIns="0" rIns="0" bIns="0" rtlCol="0" anchor="ctr">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Styles a state, like hover.</a:t>
            </a:r>
            <a:endParaRPr lang="en-US" sz="1050" dirty="0"/>
          </a:p>
        </p:txBody>
      </p:sp>
      <p:sp>
        <p:nvSpPr>
          <p:cNvPr id="20" name="Shape 18"/>
          <p:cNvSpPr/>
          <p:nvPr/>
        </p:nvSpPr>
        <p:spPr>
          <a:xfrm>
            <a:off x="8942832" y="1783080"/>
            <a:ext cx="2560320" cy="1463040"/>
          </a:xfrm>
          <a:prstGeom prst="roundRect">
            <a:avLst>
              <a:gd name="adj" fmla="val 7500"/>
            </a:avLst>
          </a:prstGeom>
          <a:solidFill>
            <a:srgbClr val="FFFFFF"/>
          </a:solidFill>
          <a:ln w="12700">
            <a:solidFill>
              <a:srgbClr val="DEE5EE"/>
            </a:solidFill>
            <a:prstDash val="solid"/>
          </a:ln>
        </p:spPr>
      </p:sp>
      <p:sp>
        <p:nvSpPr>
          <p:cNvPr id="21" name="Shape 19"/>
          <p:cNvSpPr/>
          <p:nvPr/>
        </p:nvSpPr>
        <p:spPr>
          <a:xfrm>
            <a:off x="9107424" y="1938528"/>
            <a:ext cx="1051560" cy="283464"/>
          </a:xfrm>
          <a:prstGeom prst="roundRect">
            <a:avLst>
              <a:gd name="adj" fmla="val 38710"/>
            </a:avLst>
          </a:prstGeom>
          <a:solidFill>
            <a:srgbClr val="EEE8FF"/>
          </a:solidFill>
          <a:ln w="1270">
            <a:solidFill>
              <a:srgbClr val="EEE8FF">
                <a:alpha val="0"/>
              </a:srgbClr>
            </a:solidFill>
            <a:prstDash val="solid"/>
          </a:ln>
        </p:spPr>
      </p:sp>
      <p:sp>
        <p:nvSpPr>
          <p:cNvPr id="22" name="Text 20"/>
          <p:cNvSpPr txBox="1"/>
          <p:nvPr/>
        </p:nvSpPr>
        <p:spPr>
          <a:xfrm>
            <a:off x="9180576" y="1952244"/>
            <a:ext cx="90525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8C6FE8"/>
                </a:solidFill>
                <a:latin typeface="Aptos" pitchFamily="34" charset="0"/>
                <a:ea typeface="Aptos" pitchFamily="34" charset="-122"/>
                <a:cs typeface="Aptos" pitchFamily="34" charset="-120"/>
              </a:rPr>
              <a:t>Attribute</a:t>
            </a:r>
            <a:endParaRPr lang="en-US" sz="900" dirty="0"/>
          </a:p>
        </p:txBody>
      </p:sp>
      <p:sp>
        <p:nvSpPr>
          <p:cNvPr id="23" name="Text 21"/>
          <p:cNvSpPr txBox="1"/>
          <p:nvPr/>
        </p:nvSpPr>
        <p:spPr>
          <a:xfrm>
            <a:off x="9125712" y="2377440"/>
            <a:ext cx="2194560" cy="310896"/>
          </a:xfrm>
          <a:prstGeom prst="rect">
            <a:avLst/>
          </a:prstGeom>
          <a:noFill/>
          <a:ln/>
        </p:spPr>
        <p:txBody>
          <a:bodyPr wrap="square" lIns="0" tIns="0" rIns="0" bIns="0" rtlCol="0" anchor="ctr">
            <a:normAutofit/>
          </a:bodyPr>
          <a:lstStyle/>
          <a:p>
            <a:pPr algn="ctr" indent="0" marL="0">
              <a:buNone/>
            </a:pPr>
            <a:r>
              <a:rPr lang="en-US" sz="1200" b="1" dirty="0">
                <a:solidFill>
                  <a:srgbClr val="101828"/>
                </a:solidFill>
                <a:latin typeface="Consolas" pitchFamily="34" charset="0"/>
                <a:ea typeface="Consolas" pitchFamily="34" charset="-122"/>
                <a:cs typeface="Consolas" pitchFamily="34" charset="-120"/>
              </a:rPr>
              <a:t>input[type="email"]</a:t>
            </a:r>
            <a:endParaRPr lang="en-US" sz="1200" dirty="0"/>
          </a:p>
        </p:txBody>
      </p:sp>
      <p:sp>
        <p:nvSpPr>
          <p:cNvPr id="24" name="Text 22"/>
          <p:cNvSpPr txBox="1"/>
          <p:nvPr/>
        </p:nvSpPr>
        <p:spPr>
          <a:xfrm>
            <a:off x="9107424" y="2807208"/>
            <a:ext cx="2231136" cy="301752"/>
          </a:xfrm>
          <a:prstGeom prst="rect">
            <a:avLst/>
          </a:prstGeom>
          <a:noFill/>
          <a:ln/>
        </p:spPr>
        <p:txBody>
          <a:bodyPr wrap="square" lIns="0" tIns="0" rIns="0" bIns="0" rtlCol="0" anchor="ctr">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Targets a specific input type.</a:t>
            </a:r>
            <a:endParaRPr lang="en-US" sz="1050" dirty="0"/>
          </a:p>
        </p:txBody>
      </p:sp>
      <p:sp>
        <p:nvSpPr>
          <p:cNvPr id="25" name="Shape 23"/>
          <p:cNvSpPr/>
          <p:nvPr/>
        </p:nvSpPr>
        <p:spPr>
          <a:xfrm>
            <a:off x="713232" y="3675888"/>
            <a:ext cx="6720840" cy="2011680"/>
          </a:xfrm>
          <a:prstGeom prst="roundRect">
            <a:avLst>
              <a:gd name="adj" fmla="val 5455"/>
            </a:avLst>
          </a:prstGeom>
          <a:solidFill>
            <a:srgbClr val="101B2B"/>
          </a:solidFill>
          <a:ln w="1270">
            <a:solidFill>
              <a:srgbClr val="101B2B">
                <a:alpha val="0"/>
              </a:srgbClr>
            </a:solidFill>
            <a:prstDash val="solid"/>
          </a:ln>
        </p:spPr>
      </p:sp>
      <p:sp>
        <p:nvSpPr>
          <p:cNvPr id="26" name="Text 24"/>
          <p:cNvSpPr txBox="1"/>
          <p:nvPr/>
        </p:nvSpPr>
        <p:spPr>
          <a:xfrm>
            <a:off x="987552" y="3913632"/>
            <a:ext cx="1280160" cy="256032"/>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Example</a:t>
            </a:r>
            <a:endParaRPr lang="en-US" sz="1600" dirty="0"/>
          </a:p>
        </p:txBody>
      </p:sp>
      <p:sp>
        <p:nvSpPr>
          <p:cNvPr id="27" name="Shape 25"/>
          <p:cNvSpPr/>
          <p:nvPr/>
        </p:nvSpPr>
        <p:spPr>
          <a:xfrm>
            <a:off x="960120" y="4315968"/>
            <a:ext cx="6172200" cy="1078992"/>
          </a:xfrm>
          <a:prstGeom prst="roundRect">
            <a:avLst>
              <a:gd name="adj" fmla="val 10169"/>
            </a:avLst>
          </a:prstGeom>
          <a:solidFill>
            <a:srgbClr val="101B2B"/>
          </a:solidFill>
          <a:ln w="1270">
            <a:solidFill>
              <a:srgbClr val="101B2B">
                <a:alpha val="0"/>
              </a:srgbClr>
            </a:solidFill>
            <a:prstDash val="solid"/>
          </a:ln>
        </p:spPr>
      </p:sp>
      <p:sp>
        <p:nvSpPr>
          <p:cNvPr id="28" name="Shape 26"/>
          <p:cNvSpPr/>
          <p:nvPr/>
        </p:nvSpPr>
        <p:spPr>
          <a:xfrm>
            <a:off x="1124712" y="4453128"/>
            <a:ext cx="82296" cy="82296"/>
          </a:xfrm>
          <a:prstGeom prst="ellipse">
            <a:avLst/>
          </a:prstGeom>
          <a:solidFill>
            <a:srgbClr val="FF826E"/>
          </a:solidFill>
          <a:ln w="12700">
            <a:solidFill>
              <a:srgbClr val="FF826E"/>
            </a:solidFill>
            <a:prstDash val="solid"/>
          </a:ln>
        </p:spPr>
      </p:sp>
      <p:sp>
        <p:nvSpPr>
          <p:cNvPr id="29" name="Shape 27"/>
          <p:cNvSpPr/>
          <p:nvPr/>
        </p:nvSpPr>
        <p:spPr>
          <a:xfrm>
            <a:off x="1252728" y="4453128"/>
            <a:ext cx="82296" cy="82296"/>
          </a:xfrm>
          <a:prstGeom prst="ellipse">
            <a:avLst/>
          </a:prstGeom>
          <a:solidFill>
            <a:srgbClr val="F4C45E"/>
          </a:solidFill>
          <a:ln w="12700">
            <a:solidFill>
              <a:srgbClr val="F4C45E"/>
            </a:solidFill>
            <a:prstDash val="solid"/>
          </a:ln>
        </p:spPr>
      </p:sp>
      <p:sp>
        <p:nvSpPr>
          <p:cNvPr id="30" name="Shape 28"/>
          <p:cNvSpPr/>
          <p:nvPr/>
        </p:nvSpPr>
        <p:spPr>
          <a:xfrm>
            <a:off x="1380744" y="4453128"/>
            <a:ext cx="82296" cy="82296"/>
          </a:xfrm>
          <a:prstGeom prst="ellipse">
            <a:avLst/>
          </a:prstGeom>
          <a:solidFill>
            <a:srgbClr val="16B7A4"/>
          </a:solidFill>
          <a:ln w="12700">
            <a:solidFill>
              <a:srgbClr val="16B7A4"/>
            </a:solidFill>
            <a:prstDash val="solid"/>
          </a:ln>
        </p:spPr>
      </p:sp>
      <p:sp>
        <p:nvSpPr>
          <p:cNvPr id="31" name="Text 29"/>
          <p:cNvSpPr/>
          <p:nvPr/>
        </p:nvSpPr>
        <p:spPr>
          <a:xfrm>
            <a:off x="1161288" y="4709160"/>
            <a:ext cx="5788152" cy="566928"/>
          </a:xfrm>
          <a:prstGeom prst="rect">
            <a:avLst/>
          </a:prstGeom>
          <a:noFill/>
          <a:ln/>
        </p:spPr>
        <p:txBody>
          <a:bodyPr wrap="square" lIns="0" tIns="0" rIns="0" bIns="0" rtlCol="0" anchor="t">
            <a:normAutofit/>
          </a:bodyPr>
          <a:lstStyle/>
          <a:p>
            <a:pPr indent="0" marL="0">
              <a:buNone/>
            </a:pPr>
            <a:r>
              <a:rPr lang="en-US" sz="1170" dirty="0">
                <a:solidFill>
                  <a:srgbClr val="9AE6B4"/>
                </a:solidFill>
                <a:latin typeface="Consolas" pitchFamily="34" charset="0"/>
                <a:ea typeface="Consolas" pitchFamily="34" charset="-122"/>
                <a:cs typeface="Consolas" pitchFamily="34" charset="-120"/>
              </a:rPr>
              <a:t>.notice { background: #DDF7F2; }</a:t>
            </a:r>
            <a:endParaRPr lang="en-US" sz="1170" dirty="0"/>
          </a:p>
          <a:p>
            <a:pPr indent="0" marL="0">
              <a:buNone/>
            </a:pPr>
            <a:r>
              <a:rPr lang="en-US" sz="1170" dirty="0">
                <a:solidFill>
                  <a:srgbClr val="F8D477"/>
                </a:solidFill>
                <a:latin typeface="Consolas" pitchFamily="34" charset="0"/>
                <a:ea typeface="Consolas" pitchFamily="34" charset="-122"/>
                <a:cs typeface="Consolas" pitchFamily="34" charset="-120"/>
              </a:rPr>
              <a:t>.btn:hover { background: #19263C; }</a:t>
            </a:r>
            <a:endParaRPr lang="en-US" sz="1170" dirty="0"/>
          </a:p>
        </p:txBody>
      </p:sp>
      <p:sp>
        <p:nvSpPr>
          <p:cNvPr id="32" name="Shape 30"/>
          <p:cNvSpPr/>
          <p:nvPr/>
        </p:nvSpPr>
        <p:spPr>
          <a:xfrm>
            <a:off x="7754112" y="3675888"/>
            <a:ext cx="3730752" cy="2011680"/>
          </a:xfrm>
          <a:prstGeom prst="roundRect">
            <a:avLst>
              <a:gd name="adj" fmla="val 5455"/>
            </a:avLst>
          </a:prstGeom>
          <a:solidFill>
            <a:srgbClr val="FFF4D6"/>
          </a:solidFill>
          <a:ln w="12700">
            <a:solidFill>
              <a:srgbClr val="F4E4AF"/>
            </a:solidFill>
            <a:prstDash val="solid"/>
          </a:ln>
        </p:spPr>
      </p:sp>
      <p:sp>
        <p:nvSpPr>
          <p:cNvPr id="33" name="Text 31"/>
          <p:cNvSpPr txBox="1"/>
          <p:nvPr/>
        </p:nvSpPr>
        <p:spPr>
          <a:xfrm>
            <a:off x="8046720" y="3968496"/>
            <a:ext cx="1828800" cy="274320"/>
          </a:xfrm>
          <a:prstGeom prst="rect">
            <a:avLst/>
          </a:prstGeom>
          <a:noFill/>
          <a:ln/>
        </p:spPr>
        <p:txBody>
          <a:bodyPr wrap="square" lIns="0" tIns="0" rIns="0" bIns="0" rtlCol="0" anchor="ctr">
            <a:normAutofit/>
          </a:bodyPr>
          <a:lstStyle/>
          <a:p>
            <a:pPr algn="l" indent="0" marL="0">
              <a:buNone/>
            </a:pPr>
            <a:r>
              <a:rPr lang="en-US" sz="1600" b="1" dirty="0">
                <a:solidFill>
                  <a:srgbClr val="946600"/>
                </a:solidFill>
                <a:latin typeface="Aptos" pitchFamily="34" charset="0"/>
                <a:ea typeface="Aptos" pitchFamily="34" charset="-122"/>
                <a:cs typeface="Aptos" pitchFamily="34" charset="-120"/>
              </a:rPr>
              <a:t>Beginner tip</a:t>
            </a:r>
            <a:endParaRPr lang="en-US" sz="1600" dirty="0"/>
          </a:p>
        </p:txBody>
      </p:sp>
      <p:sp>
        <p:nvSpPr>
          <p:cNvPr id="34" name="Text 32"/>
          <p:cNvSpPr txBox="1"/>
          <p:nvPr/>
        </p:nvSpPr>
        <p:spPr>
          <a:xfrm>
            <a:off x="8046720" y="4407408"/>
            <a:ext cx="3017520" cy="822960"/>
          </a:xfrm>
          <a:prstGeom prst="rect">
            <a:avLst/>
          </a:prstGeom>
          <a:noFill/>
          <a:ln/>
        </p:spPr>
        <p:txBody>
          <a:bodyPr wrap="square" lIns="0" tIns="0" rIns="0" bIns="0" rtlCol="0" anchor="t">
            <a:normAutofit/>
          </a:bodyPr>
          <a:lstStyle/>
          <a:p>
            <a:pPr algn="l" indent="0" marL="0">
              <a:buNone/>
            </a:pPr>
            <a:r>
              <a:rPr lang="en-US" sz="1300" dirty="0">
                <a:solidFill>
                  <a:srgbClr val="182230"/>
                </a:solidFill>
                <a:latin typeface="Aptos" pitchFamily="34" charset="0"/>
                <a:ea typeface="Aptos" pitchFamily="34" charset="-122"/>
                <a:cs typeface="Aptos" pitchFamily="34" charset="-120"/>
              </a:rPr>
              <a:t>Use classes for reusable styles. Keep IDs unique and save advanced selector combinations for when they are useful.</a:t>
            </a:r>
            <a:endParaRPr lang="en-US" sz="1300" dirty="0"/>
          </a:p>
        </p:txBody>
      </p:sp>
      <p:sp>
        <p:nvSpPr>
          <p:cNvPr id="35" name="Text 33"/>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course outline</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08</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Positioning: where an element sits</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Start with normal document flow. Use special positioning only when the design needs it.</a:t>
            </a:r>
            <a:endParaRPr lang="en-US" sz="1250" dirty="0"/>
          </a:p>
        </p:txBody>
      </p:sp>
      <p:sp>
        <p:nvSpPr>
          <p:cNvPr id="5" name="Shape 3"/>
          <p:cNvSpPr/>
          <p:nvPr/>
        </p:nvSpPr>
        <p:spPr>
          <a:xfrm>
            <a:off x="731520" y="1847088"/>
            <a:ext cx="1874520" cy="3401568"/>
          </a:xfrm>
          <a:prstGeom prst="roundRect">
            <a:avLst>
              <a:gd name="adj" fmla="val 5854"/>
            </a:avLst>
          </a:prstGeom>
          <a:solidFill>
            <a:srgbClr val="FFFFFF"/>
          </a:solidFill>
          <a:ln w="12700">
            <a:solidFill>
              <a:srgbClr val="DEE5EE"/>
            </a:solidFill>
            <a:prstDash val="solid"/>
          </a:ln>
        </p:spPr>
      </p:sp>
      <p:sp>
        <p:nvSpPr>
          <p:cNvPr id="6" name="Shape 4"/>
          <p:cNvSpPr/>
          <p:nvPr/>
        </p:nvSpPr>
        <p:spPr>
          <a:xfrm>
            <a:off x="896112" y="2057400"/>
            <a:ext cx="1536192" cy="384048"/>
          </a:xfrm>
          <a:prstGeom prst="roundRect">
            <a:avLst>
              <a:gd name="adj" fmla="val 28571"/>
            </a:avLst>
          </a:prstGeom>
          <a:solidFill>
            <a:srgbClr val="E8EDFF"/>
          </a:solidFill>
          <a:ln w="1270">
            <a:solidFill>
              <a:srgbClr val="E8EDFF">
                <a:alpha val="0"/>
              </a:srgbClr>
            </a:solidFill>
            <a:prstDash val="solid"/>
          </a:ln>
        </p:spPr>
      </p:sp>
      <p:sp>
        <p:nvSpPr>
          <p:cNvPr id="7" name="Text 5"/>
          <p:cNvSpPr txBox="1"/>
          <p:nvPr/>
        </p:nvSpPr>
        <p:spPr>
          <a:xfrm>
            <a:off x="923544" y="2103120"/>
            <a:ext cx="1481328" cy="274320"/>
          </a:xfrm>
          <a:prstGeom prst="rect">
            <a:avLst/>
          </a:prstGeom>
          <a:noFill/>
          <a:ln/>
        </p:spPr>
        <p:txBody>
          <a:bodyPr wrap="square" lIns="0" tIns="0" rIns="0" bIns="0" rtlCol="0" anchor="ctr">
            <a:normAutofit/>
          </a:bodyPr>
          <a:lstStyle/>
          <a:p>
            <a:pPr algn="ctr" indent="0" marL="0">
              <a:buNone/>
            </a:pPr>
            <a:r>
              <a:rPr lang="en-US" sz="1400" b="1" dirty="0">
                <a:solidFill>
                  <a:srgbClr val="5272F2"/>
                </a:solidFill>
                <a:latin typeface="Consolas" pitchFamily="34" charset="0"/>
                <a:ea typeface="Consolas" pitchFamily="34" charset="-122"/>
                <a:cs typeface="Consolas" pitchFamily="34" charset="-120"/>
              </a:rPr>
              <a:t>static</a:t>
            </a:r>
            <a:endParaRPr lang="en-US" sz="1400" dirty="0"/>
          </a:p>
        </p:txBody>
      </p:sp>
      <p:sp>
        <p:nvSpPr>
          <p:cNvPr id="8" name="Text 6"/>
          <p:cNvSpPr txBox="1"/>
          <p:nvPr/>
        </p:nvSpPr>
        <p:spPr>
          <a:xfrm>
            <a:off x="896112" y="2660904"/>
            <a:ext cx="1536192" cy="292608"/>
          </a:xfrm>
          <a:prstGeom prst="rect">
            <a:avLst/>
          </a:prstGeom>
          <a:noFill/>
          <a:ln/>
        </p:spPr>
        <p:txBody>
          <a:bodyPr wrap="square" lIns="0" tIns="0" rIns="0" bIns="0" rtlCol="0" anchor="ctr">
            <a:normAutofit/>
          </a:bodyPr>
          <a:lstStyle/>
          <a:p>
            <a:pPr algn="ctr" indent="0" marL="0">
              <a:buNone/>
            </a:pPr>
            <a:r>
              <a:rPr lang="en-US" sz="1250" b="1" dirty="0">
                <a:solidFill>
                  <a:srgbClr val="101828"/>
                </a:solidFill>
                <a:latin typeface="Aptos" pitchFamily="34" charset="0"/>
                <a:ea typeface="Aptos" pitchFamily="34" charset="-122"/>
                <a:cs typeface="Aptos" pitchFamily="34" charset="-120"/>
              </a:rPr>
              <a:t>Normal flow</a:t>
            </a:r>
            <a:endParaRPr lang="en-US" sz="1250" dirty="0"/>
          </a:p>
        </p:txBody>
      </p:sp>
      <p:sp>
        <p:nvSpPr>
          <p:cNvPr id="9" name="Shape 7"/>
          <p:cNvSpPr/>
          <p:nvPr/>
        </p:nvSpPr>
        <p:spPr>
          <a:xfrm>
            <a:off x="950976" y="3127248"/>
            <a:ext cx="1435608" cy="786384"/>
          </a:xfrm>
          <a:prstGeom prst="rect">
            <a:avLst>
              <a:gd name="adj" fmla="val 13953"/>
            </a:avLst>
          </a:prstGeom>
          <a:solidFill>
            <a:srgbClr val="F3F6FA"/>
          </a:solidFill>
          <a:ln w="12700">
            <a:solidFill>
              <a:srgbClr val="D9E2ED"/>
            </a:solidFill>
            <a:prstDash val="solid"/>
          </a:ln>
        </p:spPr>
      </p:sp>
      <p:sp>
        <p:nvSpPr>
          <p:cNvPr id="10" name="Shape 8"/>
          <p:cNvSpPr/>
          <p:nvPr/>
        </p:nvSpPr>
        <p:spPr>
          <a:xfrm>
            <a:off x="1069848" y="3255264"/>
            <a:ext cx="1197864" cy="137160"/>
          </a:xfrm>
          <a:prstGeom prst="rect">
            <a:avLst>
              <a:gd name="adj" fmla="val 80000"/>
            </a:avLst>
          </a:prstGeom>
          <a:solidFill>
            <a:srgbClr val="D8E0EA"/>
          </a:solidFill>
          <a:ln w="1270">
            <a:solidFill>
              <a:srgbClr val="D8E0EA">
                <a:alpha val="0"/>
              </a:srgbClr>
            </a:solidFill>
            <a:prstDash val="solid"/>
          </a:ln>
        </p:spPr>
      </p:sp>
      <p:sp>
        <p:nvSpPr>
          <p:cNvPr id="11" name="Shape 9"/>
          <p:cNvSpPr/>
          <p:nvPr/>
        </p:nvSpPr>
        <p:spPr>
          <a:xfrm>
            <a:off x="1069848" y="3465576"/>
            <a:ext cx="1197864" cy="137160"/>
          </a:xfrm>
          <a:prstGeom prst="rect">
            <a:avLst>
              <a:gd name="adj" fmla="val 80000"/>
            </a:avLst>
          </a:prstGeom>
          <a:solidFill>
            <a:srgbClr val="D8E0EA"/>
          </a:solidFill>
          <a:ln w="1270">
            <a:solidFill>
              <a:srgbClr val="D8E0EA">
                <a:alpha val="0"/>
              </a:srgbClr>
            </a:solidFill>
            <a:prstDash val="solid"/>
          </a:ln>
        </p:spPr>
      </p:sp>
      <p:sp>
        <p:nvSpPr>
          <p:cNvPr id="12" name="Shape 10"/>
          <p:cNvSpPr/>
          <p:nvPr/>
        </p:nvSpPr>
        <p:spPr>
          <a:xfrm>
            <a:off x="1069848" y="3675888"/>
            <a:ext cx="1197864" cy="137160"/>
          </a:xfrm>
          <a:prstGeom prst="rect">
            <a:avLst>
              <a:gd name="adj" fmla="val 80000"/>
            </a:avLst>
          </a:prstGeom>
          <a:solidFill>
            <a:srgbClr val="D8E0EA"/>
          </a:solidFill>
          <a:ln w="1270">
            <a:solidFill>
              <a:srgbClr val="D8E0EA">
                <a:alpha val="0"/>
              </a:srgbClr>
            </a:solidFill>
            <a:prstDash val="solid"/>
          </a:ln>
        </p:spPr>
      </p:sp>
      <p:sp>
        <p:nvSpPr>
          <p:cNvPr id="13" name="Shape 11"/>
          <p:cNvSpPr/>
          <p:nvPr/>
        </p:nvSpPr>
        <p:spPr>
          <a:xfrm>
            <a:off x="1069848" y="3255264"/>
            <a:ext cx="274320" cy="164592"/>
          </a:xfrm>
          <a:prstGeom prst="rect">
            <a:avLst>
              <a:gd name="adj" fmla="val 66667"/>
            </a:avLst>
          </a:prstGeom>
          <a:solidFill>
            <a:srgbClr val="5272F2"/>
          </a:solidFill>
          <a:ln w="1270">
            <a:solidFill>
              <a:srgbClr val="5272F2">
                <a:alpha val="0"/>
              </a:srgbClr>
            </a:solidFill>
            <a:prstDash val="solid"/>
          </a:ln>
        </p:spPr>
      </p:sp>
      <p:sp>
        <p:nvSpPr>
          <p:cNvPr id="14" name="Text 12"/>
          <p:cNvSpPr txBox="1"/>
          <p:nvPr/>
        </p:nvSpPr>
        <p:spPr>
          <a:xfrm>
            <a:off x="877824" y="4160520"/>
            <a:ext cx="1581912" cy="713232"/>
          </a:xfrm>
          <a:prstGeom prst="rect">
            <a:avLst/>
          </a:prstGeom>
          <a:noFill/>
          <a:ln/>
        </p:spPr>
        <p:txBody>
          <a:bodyPr wrap="square" lIns="0" tIns="0" rIns="0" bIns="0" rtlCol="0" anchor="t">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The default. Top/left do not move it.</a:t>
            </a:r>
            <a:endParaRPr lang="en-US" sz="1050" dirty="0"/>
          </a:p>
        </p:txBody>
      </p:sp>
      <p:sp>
        <p:nvSpPr>
          <p:cNvPr id="15" name="Shape 13"/>
          <p:cNvSpPr/>
          <p:nvPr/>
        </p:nvSpPr>
        <p:spPr>
          <a:xfrm>
            <a:off x="2971800" y="1847088"/>
            <a:ext cx="1874520" cy="3401568"/>
          </a:xfrm>
          <a:prstGeom prst="roundRect">
            <a:avLst>
              <a:gd name="adj" fmla="val 5854"/>
            </a:avLst>
          </a:prstGeom>
          <a:solidFill>
            <a:srgbClr val="FFFFFF"/>
          </a:solidFill>
          <a:ln w="12700">
            <a:solidFill>
              <a:srgbClr val="DEE5EE"/>
            </a:solidFill>
            <a:prstDash val="solid"/>
          </a:ln>
        </p:spPr>
      </p:sp>
      <p:sp>
        <p:nvSpPr>
          <p:cNvPr id="16" name="Shape 14"/>
          <p:cNvSpPr/>
          <p:nvPr/>
        </p:nvSpPr>
        <p:spPr>
          <a:xfrm>
            <a:off x="3136392" y="2057400"/>
            <a:ext cx="1536192" cy="384048"/>
          </a:xfrm>
          <a:prstGeom prst="roundRect">
            <a:avLst>
              <a:gd name="adj" fmla="val 28571"/>
            </a:avLst>
          </a:prstGeom>
          <a:solidFill>
            <a:srgbClr val="DDF7F2"/>
          </a:solidFill>
          <a:ln w="1270">
            <a:solidFill>
              <a:srgbClr val="DDF7F2">
                <a:alpha val="0"/>
              </a:srgbClr>
            </a:solidFill>
            <a:prstDash val="solid"/>
          </a:ln>
        </p:spPr>
      </p:sp>
      <p:sp>
        <p:nvSpPr>
          <p:cNvPr id="17" name="Text 15"/>
          <p:cNvSpPr txBox="1"/>
          <p:nvPr/>
        </p:nvSpPr>
        <p:spPr>
          <a:xfrm>
            <a:off x="3163824" y="2103120"/>
            <a:ext cx="1481328" cy="274320"/>
          </a:xfrm>
          <a:prstGeom prst="rect">
            <a:avLst/>
          </a:prstGeom>
          <a:noFill/>
          <a:ln/>
        </p:spPr>
        <p:txBody>
          <a:bodyPr wrap="square" lIns="0" tIns="0" rIns="0" bIns="0" rtlCol="0" anchor="ctr">
            <a:normAutofit/>
          </a:bodyPr>
          <a:lstStyle/>
          <a:p>
            <a:pPr algn="ctr" indent="0" marL="0">
              <a:buNone/>
            </a:pPr>
            <a:r>
              <a:rPr lang="en-US" sz="1400" b="1" dirty="0">
                <a:solidFill>
                  <a:srgbClr val="16B7A4"/>
                </a:solidFill>
                <a:latin typeface="Consolas" pitchFamily="34" charset="0"/>
                <a:ea typeface="Consolas" pitchFamily="34" charset="-122"/>
                <a:cs typeface="Consolas" pitchFamily="34" charset="-120"/>
              </a:rPr>
              <a:t>relative</a:t>
            </a:r>
            <a:endParaRPr lang="en-US" sz="1400" dirty="0"/>
          </a:p>
        </p:txBody>
      </p:sp>
      <p:sp>
        <p:nvSpPr>
          <p:cNvPr id="18" name="Text 16"/>
          <p:cNvSpPr txBox="1"/>
          <p:nvPr/>
        </p:nvSpPr>
        <p:spPr>
          <a:xfrm>
            <a:off x="3136392" y="2660904"/>
            <a:ext cx="1536192" cy="292608"/>
          </a:xfrm>
          <a:prstGeom prst="rect">
            <a:avLst/>
          </a:prstGeom>
          <a:noFill/>
          <a:ln/>
        </p:spPr>
        <p:txBody>
          <a:bodyPr wrap="square" lIns="0" tIns="0" rIns="0" bIns="0" rtlCol="0" anchor="ctr">
            <a:normAutofit/>
          </a:bodyPr>
          <a:lstStyle/>
          <a:p>
            <a:pPr algn="ctr" indent="0" marL="0">
              <a:buNone/>
            </a:pPr>
            <a:r>
              <a:rPr lang="en-US" sz="1250" b="1" dirty="0">
                <a:solidFill>
                  <a:srgbClr val="101828"/>
                </a:solidFill>
                <a:latin typeface="Aptos" pitchFamily="34" charset="0"/>
                <a:ea typeface="Aptos" pitchFamily="34" charset="-122"/>
                <a:cs typeface="Aptos" pitchFamily="34" charset="-120"/>
              </a:rPr>
              <a:t>Small adjustment</a:t>
            </a:r>
            <a:endParaRPr lang="en-US" sz="1250" dirty="0"/>
          </a:p>
        </p:txBody>
      </p:sp>
      <p:sp>
        <p:nvSpPr>
          <p:cNvPr id="19" name="Shape 17"/>
          <p:cNvSpPr/>
          <p:nvPr/>
        </p:nvSpPr>
        <p:spPr>
          <a:xfrm>
            <a:off x="3191256" y="3127248"/>
            <a:ext cx="1435608" cy="786384"/>
          </a:xfrm>
          <a:prstGeom prst="rect">
            <a:avLst>
              <a:gd name="adj" fmla="val 13953"/>
            </a:avLst>
          </a:prstGeom>
          <a:solidFill>
            <a:srgbClr val="F3F6FA"/>
          </a:solidFill>
          <a:ln w="12700">
            <a:solidFill>
              <a:srgbClr val="D9E2ED"/>
            </a:solidFill>
            <a:prstDash val="solid"/>
          </a:ln>
        </p:spPr>
      </p:sp>
      <p:sp>
        <p:nvSpPr>
          <p:cNvPr id="20" name="Shape 18"/>
          <p:cNvSpPr/>
          <p:nvPr/>
        </p:nvSpPr>
        <p:spPr>
          <a:xfrm>
            <a:off x="3310128" y="3255264"/>
            <a:ext cx="1197864" cy="137160"/>
          </a:xfrm>
          <a:prstGeom prst="rect">
            <a:avLst>
              <a:gd name="adj" fmla="val 80000"/>
            </a:avLst>
          </a:prstGeom>
          <a:solidFill>
            <a:srgbClr val="D8E0EA"/>
          </a:solidFill>
          <a:ln w="1270">
            <a:solidFill>
              <a:srgbClr val="D8E0EA">
                <a:alpha val="0"/>
              </a:srgbClr>
            </a:solidFill>
            <a:prstDash val="solid"/>
          </a:ln>
        </p:spPr>
      </p:sp>
      <p:sp>
        <p:nvSpPr>
          <p:cNvPr id="21" name="Shape 19"/>
          <p:cNvSpPr/>
          <p:nvPr/>
        </p:nvSpPr>
        <p:spPr>
          <a:xfrm>
            <a:off x="3310128" y="3465576"/>
            <a:ext cx="1197864" cy="137160"/>
          </a:xfrm>
          <a:prstGeom prst="rect">
            <a:avLst>
              <a:gd name="adj" fmla="val 80000"/>
            </a:avLst>
          </a:prstGeom>
          <a:solidFill>
            <a:srgbClr val="D8E0EA"/>
          </a:solidFill>
          <a:ln w="1270">
            <a:solidFill>
              <a:srgbClr val="D8E0EA">
                <a:alpha val="0"/>
              </a:srgbClr>
            </a:solidFill>
            <a:prstDash val="solid"/>
          </a:ln>
        </p:spPr>
      </p:sp>
      <p:sp>
        <p:nvSpPr>
          <p:cNvPr id="22" name="Shape 20"/>
          <p:cNvSpPr/>
          <p:nvPr/>
        </p:nvSpPr>
        <p:spPr>
          <a:xfrm>
            <a:off x="3310128" y="3675888"/>
            <a:ext cx="1197864" cy="137160"/>
          </a:xfrm>
          <a:prstGeom prst="rect">
            <a:avLst>
              <a:gd name="adj" fmla="val 80000"/>
            </a:avLst>
          </a:prstGeom>
          <a:solidFill>
            <a:srgbClr val="D8E0EA"/>
          </a:solidFill>
          <a:ln w="1270">
            <a:solidFill>
              <a:srgbClr val="D8E0EA">
                <a:alpha val="0"/>
              </a:srgbClr>
            </a:solidFill>
            <a:prstDash val="solid"/>
          </a:ln>
        </p:spPr>
      </p:sp>
      <p:sp>
        <p:nvSpPr>
          <p:cNvPr id="23" name="Shape 21"/>
          <p:cNvSpPr/>
          <p:nvPr/>
        </p:nvSpPr>
        <p:spPr>
          <a:xfrm>
            <a:off x="3703320" y="3355848"/>
            <a:ext cx="274320" cy="164592"/>
          </a:xfrm>
          <a:prstGeom prst="rect">
            <a:avLst>
              <a:gd name="adj" fmla="val 66667"/>
            </a:avLst>
          </a:prstGeom>
          <a:solidFill>
            <a:srgbClr val="16B7A4"/>
          </a:solidFill>
          <a:ln w="1270">
            <a:solidFill>
              <a:srgbClr val="16B7A4">
                <a:alpha val="0"/>
              </a:srgbClr>
            </a:solidFill>
            <a:prstDash val="solid"/>
          </a:ln>
        </p:spPr>
      </p:sp>
      <p:sp>
        <p:nvSpPr>
          <p:cNvPr id="24" name="Text 22"/>
          <p:cNvSpPr txBox="1"/>
          <p:nvPr/>
        </p:nvSpPr>
        <p:spPr>
          <a:xfrm>
            <a:off x="3118104" y="4160520"/>
            <a:ext cx="1581912" cy="713232"/>
          </a:xfrm>
          <a:prstGeom prst="rect">
            <a:avLst/>
          </a:prstGeom>
          <a:noFill/>
          <a:ln/>
        </p:spPr>
        <p:txBody>
          <a:bodyPr wrap="square" lIns="0" tIns="0" rIns="0" bIns="0" rtlCol="0" anchor="t">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Moves from its normal position; space stays reserved.</a:t>
            </a:r>
            <a:endParaRPr lang="en-US" sz="1050" dirty="0"/>
          </a:p>
        </p:txBody>
      </p:sp>
      <p:sp>
        <p:nvSpPr>
          <p:cNvPr id="25" name="Shape 23"/>
          <p:cNvSpPr/>
          <p:nvPr/>
        </p:nvSpPr>
        <p:spPr>
          <a:xfrm>
            <a:off x="5212080" y="1847088"/>
            <a:ext cx="1874520" cy="3401568"/>
          </a:xfrm>
          <a:prstGeom prst="roundRect">
            <a:avLst>
              <a:gd name="adj" fmla="val 5854"/>
            </a:avLst>
          </a:prstGeom>
          <a:solidFill>
            <a:srgbClr val="FFFFFF"/>
          </a:solidFill>
          <a:ln w="12700">
            <a:solidFill>
              <a:srgbClr val="DEE5EE"/>
            </a:solidFill>
            <a:prstDash val="solid"/>
          </a:ln>
        </p:spPr>
      </p:sp>
      <p:sp>
        <p:nvSpPr>
          <p:cNvPr id="26" name="Shape 24"/>
          <p:cNvSpPr/>
          <p:nvPr/>
        </p:nvSpPr>
        <p:spPr>
          <a:xfrm>
            <a:off x="5376672" y="2057400"/>
            <a:ext cx="1536192" cy="384048"/>
          </a:xfrm>
          <a:prstGeom prst="roundRect">
            <a:avLst>
              <a:gd name="adj" fmla="val 28571"/>
            </a:avLst>
          </a:prstGeom>
          <a:solidFill>
            <a:srgbClr val="FFE8E3"/>
          </a:solidFill>
          <a:ln w="1270">
            <a:solidFill>
              <a:srgbClr val="FFE8E3">
                <a:alpha val="0"/>
              </a:srgbClr>
            </a:solidFill>
            <a:prstDash val="solid"/>
          </a:ln>
        </p:spPr>
      </p:sp>
      <p:sp>
        <p:nvSpPr>
          <p:cNvPr id="27" name="Text 25"/>
          <p:cNvSpPr txBox="1"/>
          <p:nvPr/>
        </p:nvSpPr>
        <p:spPr>
          <a:xfrm>
            <a:off x="5404104" y="2103120"/>
            <a:ext cx="1481328" cy="274320"/>
          </a:xfrm>
          <a:prstGeom prst="rect">
            <a:avLst/>
          </a:prstGeom>
          <a:noFill/>
          <a:ln/>
        </p:spPr>
        <p:txBody>
          <a:bodyPr wrap="square" lIns="0" tIns="0" rIns="0" bIns="0" rtlCol="0" anchor="ctr">
            <a:normAutofit/>
          </a:bodyPr>
          <a:lstStyle/>
          <a:p>
            <a:pPr algn="ctr" indent="0" marL="0">
              <a:buNone/>
            </a:pPr>
            <a:r>
              <a:rPr lang="en-US" sz="1400" b="1" dirty="0">
                <a:solidFill>
                  <a:srgbClr val="FF826E"/>
                </a:solidFill>
                <a:latin typeface="Consolas" pitchFamily="34" charset="0"/>
                <a:ea typeface="Consolas" pitchFamily="34" charset="-122"/>
                <a:cs typeface="Consolas" pitchFamily="34" charset="-120"/>
              </a:rPr>
              <a:t>absolute</a:t>
            </a:r>
            <a:endParaRPr lang="en-US" sz="1400" dirty="0"/>
          </a:p>
        </p:txBody>
      </p:sp>
      <p:sp>
        <p:nvSpPr>
          <p:cNvPr id="28" name="Text 26"/>
          <p:cNvSpPr txBox="1"/>
          <p:nvPr/>
        </p:nvSpPr>
        <p:spPr>
          <a:xfrm>
            <a:off x="5376672" y="2660904"/>
            <a:ext cx="1536192" cy="292608"/>
          </a:xfrm>
          <a:prstGeom prst="rect">
            <a:avLst/>
          </a:prstGeom>
          <a:noFill/>
          <a:ln/>
        </p:spPr>
        <p:txBody>
          <a:bodyPr wrap="square" lIns="0" tIns="0" rIns="0" bIns="0" rtlCol="0" anchor="ctr">
            <a:normAutofit/>
          </a:bodyPr>
          <a:lstStyle/>
          <a:p>
            <a:pPr algn="ctr" indent="0" marL="0">
              <a:buNone/>
            </a:pPr>
            <a:r>
              <a:rPr lang="en-US" sz="1250" b="1" dirty="0">
                <a:solidFill>
                  <a:srgbClr val="101828"/>
                </a:solidFill>
                <a:latin typeface="Aptos" pitchFamily="34" charset="0"/>
                <a:ea typeface="Aptos" pitchFamily="34" charset="-122"/>
                <a:cs typeface="Aptos" pitchFamily="34" charset="-120"/>
              </a:rPr>
              <a:t>Overlay / anchor</a:t>
            </a:r>
            <a:endParaRPr lang="en-US" sz="1250" dirty="0"/>
          </a:p>
        </p:txBody>
      </p:sp>
      <p:sp>
        <p:nvSpPr>
          <p:cNvPr id="29" name="Shape 27"/>
          <p:cNvSpPr/>
          <p:nvPr/>
        </p:nvSpPr>
        <p:spPr>
          <a:xfrm>
            <a:off x="5431536" y="3127248"/>
            <a:ext cx="1435608" cy="786384"/>
          </a:xfrm>
          <a:prstGeom prst="rect">
            <a:avLst>
              <a:gd name="adj" fmla="val 13953"/>
            </a:avLst>
          </a:prstGeom>
          <a:solidFill>
            <a:srgbClr val="F3F6FA"/>
          </a:solidFill>
          <a:ln w="12700">
            <a:solidFill>
              <a:srgbClr val="D9E2ED"/>
            </a:solidFill>
            <a:prstDash val="solid"/>
          </a:ln>
        </p:spPr>
      </p:sp>
      <p:sp>
        <p:nvSpPr>
          <p:cNvPr id="30" name="Shape 28"/>
          <p:cNvSpPr/>
          <p:nvPr/>
        </p:nvSpPr>
        <p:spPr>
          <a:xfrm>
            <a:off x="5550408" y="3255264"/>
            <a:ext cx="1197864" cy="137160"/>
          </a:xfrm>
          <a:prstGeom prst="rect">
            <a:avLst>
              <a:gd name="adj" fmla="val 80000"/>
            </a:avLst>
          </a:prstGeom>
          <a:solidFill>
            <a:srgbClr val="D8E0EA"/>
          </a:solidFill>
          <a:ln w="1270">
            <a:solidFill>
              <a:srgbClr val="D8E0EA">
                <a:alpha val="0"/>
              </a:srgbClr>
            </a:solidFill>
            <a:prstDash val="solid"/>
          </a:ln>
        </p:spPr>
      </p:sp>
      <p:sp>
        <p:nvSpPr>
          <p:cNvPr id="31" name="Shape 29"/>
          <p:cNvSpPr/>
          <p:nvPr/>
        </p:nvSpPr>
        <p:spPr>
          <a:xfrm>
            <a:off x="5550408" y="3465576"/>
            <a:ext cx="1197864" cy="137160"/>
          </a:xfrm>
          <a:prstGeom prst="rect">
            <a:avLst>
              <a:gd name="adj" fmla="val 80000"/>
            </a:avLst>
          </a:prstGeom>
          <a:solidFill>
            <a:srgbClr val="D8E0EA"/>
          </a:solidFill>
          <a:ln w="1270">
            <a:solidFill>
              <a:srgbClr val="D8E0EA">
                <a:alpha val="0"/>
              </a:srgbClr>
            </a:solidFill>
            <a:prstDash val="solid"/>
          </a:ln>
        </p:spPr>
      </p:sp>
      <p:sp>
        <p:nvSpPr>
          <p:cNvPr id="32" name="Shape 30"/>
          <p:cNvSpPr/>
          <p:nvPr/>
        </p:nvSpPr>
        <p:spPr>
          <a:xfrm>
            <a:off x="5550408" y="3675888"/>
            <a:ext cx="1197864" cy="137160"/>
          </a:xfrm>
          <a:prstGeom prst="rect">
            <a:avLst>
              <a:gd name="adj" fmla="val 80000"/>
            </a:avLst>
          </a:prstGeom>
          <a:solidFill>
            <a:srgbClr val="D8E0EA"/>
          </a:solidFill>
          <a:ln w="1270">
            <a:solidFill>
              <a:srgbClr val="D8E0EA">
                <a:alpha val="0"/>
              </a:srgbClr>
            </a:solidFill>
            <a:prstDash val="solid"/>
          </a:ln>
        </p:spPr>
      </p:sp>
      <p:sp>
        <p:nvSpPr>
          <p:cNvPr id="33" name="Shape 31"/>
          <p:cNvSpPr/>
          <p:nvPr/>
        </p:nvSpPr>
        <p:spPr>
          <a:xfrm>
            <a:off x="6345936" y="3218688"/>
            <a:ext cx="274320" cy="164592"/>
          </a:xfrm>
          <a:prstGeom prst="rect">
            <a:avLst>
              <a:gd name="adj" fmla="val 66667"/>
            </a:avLst>
          </a:prstGeom>
          <a:solidFill>
            <a:srgbClr val="FF826E"/>
          </a:solidFill>
          <a:ln w="1270">
            <a:solidFill>
              <a:srgbClr val="FF826E">
                <a:alpha val="0"/>
              </a:srgbClr>
            </a:solidFill>
            <a:prstDash val="solid"/>
          </a:ln>
        </p:spPr>
      </p:sp>
      <p:sp>
        <p:nvSpPr>
          <p:cNvPr id="34" name="Text 32"/>
          <p:cNvSpPr txBox="1"/>
          <p:nvPr/>
        </p:nvSpPr>
        <p:spPr>
          <a:xfrm>
            <a:off x="5358384" y="4160520"/>
            <a:ext cx="1581912" cy="713232"/>
          </a:xfrm>
          <a:prstGeom prst="rect">
            <a:avLst/>
          </a:prstGeom>
          <a:noFill/>
          <a:ln/>
        </p:spPr>
        <p:txBody>
          <a:bodyPr wrap="square" lIns="0" tIns="0" rIns="0" bIns="0" rtlCol="0" anchor="t">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Removed from normal flow; positioned in relation to an ancestor.</a:t>
            </a:r>
            <a:endParaRPr lang="en-US" sz="1050" dirty="0"/>
          </a:p>
        </p:txBody>
      </p:sp>
      <p:sp>
        <p:nvSpPr>
          <p:cNvPr id="35" name="Shape 33"/>
          <p:cNvSpPr/>
          <p:nvPr/>
        </p:nvSpPr>
        <p:spPr>
          <a:xfrm>
            <a:off x="7452360" y="1847088"/>
            <a:ext cx="1874520" cy="3401568"/>
          </a:xfrm>
          <a:prstGeom prst="roundRect">
            <a:avLst>
              <a:gd name="adj" fmla="val 5854"/>
            </a:avLst>
          </a:prstGeom>
          <a:solidFill>
            <a:srgbClr val="FFFFFF"/>
          </a:solidFill>
          <a:ln w="12700">
            <a:solidFill>
              <a:srgbClr val="DEE5EE"/>
            </a:solidFill>
            <a:prstDash val="solid"/>
          </a:ln>
        </p:spPr>
      </p:sp>
      <p:sp>
        <p:nvSpPr>
          <p:cNvPr id="36" name="Shape 34"/>
          <p:cNvSpPr/>
          <p:nvPr/>
        </p:nvSpPr>
        <p:spPr>
          <a:xfrm>
            <a:off x="7616952" y="2057400"/>
            <a:ext cx="1536192" cy="384048"/>
          </a:xfrm>
          <a:prstGeom prst="roundRect">
            <a:avLst>
              <a:gd name="adj" fmla="val 28571"/>
            </a:avLst>
          </a:prstGeom>
          <a:solidFill>
            <a:srgbClr val="EEE8FF"/>
          </a:solidFill>
          <a:ln w="1270">
            <a:solidFill>
              <a:srgbClr val="EEE8FF">
                <a:alpha val="0"/>
              </a:srgbClr>
            </a:solidFill>
            <a:prstDash val="solid"/>
          </a:ln>
        </p:spPr>
      </p:sp>
      <p:sp>
        <p:nvSpPr>
          <p:cNvPr id="37" name="Text 35"/>
          <p:cNvSpPr txBox="1"/>
          <p:nvPr/>
        </p:nvSpPr>
        <p:spPr>
          <a:xfrm>
            <a:off x="7644384" y="2103120"/>
            <a:ext cx="1481328" cy="274320"/>
          </a:xfrm>
          <a:prstGeom prst="rect">
            <a:avLst/>
          </a:prstGeom>
          <a:noFill/>
          <a:ln/>
        </p:spPr>
        <p:txBody>
          <a:bodyPr wrap="square" lIns="0" tIns="0" rIns="0" bIns="0" rtlCol="0" anchor="ctr">
            <a:normAutofit/>
          </a:bodyPr>
          <a:lstStyle/>
          <a:p>
            <a:pPr algn="ctr" indent="0" marL="0">
              <a:buNone/>
            </a:pPr>
            <a:r>
              <a:rPr lang="en-US" sz="1400" b="1" dirty="0">
                <a:solidFill>
                  <a:srgbClr val="8C6FE8"/>
                </a:solidFill>
                <a:latin typeface="Consolas" pitchFamily="34" charset="0"/>
                <a:ea typeface="Consolas" pitchFamily="34" charset="-122"/>
                <a:cs typeface="Consolas" pitchFamily="34" charset="-120"/>
              </a:rPr>
              <a:t>fixed</a:t>
            </a:r>
            <a:endParaRPr lang="en-US" sz="1400" dirty="0"/>
          </a:p>
        </p:txBody>
      </p:sp>
      <p:sp>
        <p:nvSpPr>
          <p:cNvPr id="38" name="Text 36"/>
          <p:cNvSpPr txBox="1"/>
          <p:nvPr/>
        </p:nvSpPr>
        <p:spPr>
          <a:xfrm>
            <a:off x="7616952" y="2660904"/>
            <a:ext cx="1536192" cy="292608"/>
          </a:xfrm>
          <a:prstGeom prst="rect">
            <a:avLst/>
          </a:prstGeom>
          <a:noFill/>
          <a:ln/>
        </p:spPr>
        <p:txBody>
          <a:bodyPr wrap="square" lIns="0" tIns="0" rIns="0" bIns="0" rtlCol="0" anchor="ctr">
            <a:normAutofit/>
          </a:bodyPr>
          <a:lstStyle/>
          <a:p>
            <a:pPr algn="ctr" indent="0" marL="0">
              <a:buNone/>
            </a:pPr>
            <a:r>
              <a:rPr lang="en-US" sz="1250" b="1" dirty="0">
                <a:solidFill>
                  <a:srgbClr val="101828"/>
                </a:solidFill>
                <a:latin typeface="Aptos" pitchFamily="34" charset="0"/>
                <a:ea typeface="Aptos" pitchFamily="34" charset="-122"/>
                <a:cs typeface="Aptos" pitchFamily="34" charset="-120"/>
              </a:rPr>
              <a:t>Stays on screen</a:t>
            </a:r>
            <a:endParaRPr lang="en-US" sz="1250" dirty="0"/>
          </a:p>
        </p:txBody>
      </p:sp>
      <p:sp>
        <p:nvSpPr>
          <p:cNvPr id="39" name="Shape 37"/>
          <p:cNvSpPr/>
          <p:nvPr/>
        </p:nvSpPr>
        <p:spPr>
          <a:xfrm>
            <a:off x="7671816" y="3127248"/>
            <a:ext cx="1435608" cy="786384"/>
          </a:xfrm>
          <a:prstGeom prst="rect">
            <a:avLst>
              <a:gd name="adj" fmla="val 13953"/>
            </a:avLst>
          </a:prstGeom>
          <a:solidFill>
            <a:srgbClr val="F3F6FA"/>
          </a:solidFill>
          <a:ln w="12700">
            <a:solidFill>
              <a:srgbClr val="D9E2ED"/>
            </a:solidFill>
            <a:prstDash val="solid"/>
          </a:ln>
        </p:spPr>
      </p:sp>
      <p:sp>
        <p:nvSpPr>
          <p:cNvPr id="40" name="Shape 38"/>
          <p:cNvSpPr/>
          <p:nvPr/>
        </p:nvSpPr>
        <p:spPr>
          <a:xfrm>
            <a:off x="7790688" y="3255264"/>
            <a:ext cx="1197864" cy="137160"/>
          </a:xfrm>
          <a:prstGeom prst="rect">
            <a:avLst>
              <a:gd name="adj" fmla="val 80000"/>
            </a:avLst>
          </a:prstGeom>
          <a:solidFill>
            <a:srgbClr val="D8E0EA"/>
          </a:solidFill>
          <a:ln w="1270">
            <a:solidFill>
              <a:srgbClr val="D8E0EA">
                <a:alpha val="0"/>
              </a:srgbClr>
            </a:solidFill>
            <a:prstDash val="solid"/>
          </a:ln>
        </p:spPr>
      </p:sp>
      <p:sp>
        <p:nvSpPr>
          <p:cNvPr id="41" name="Shape 39"/>
          <p:cNvSpPr/>
          <p:nvPr/>
        </p:nvSpPr>
        <p:spPr>
          <a:xfrm>
            <a:off x="7790688" y="3465576"/>
            <a:ext cx="1197864" cy="137160"/>
          </a:xfrm>
          <a:prstGeom prst="rect">
            <a:avLst>
              <a:gd name="adj" fmla="val 80000"/>
            </a:avLst>
          </a:prstGeom>
          <a:solidFill>
            <a:srgbClr val="D8E0EA"/>
          </a:solidFill>
          <a:ln w="1270">
            <a:solidFill>
              <a:srgbClr val="D8E0EA">
                <a:alpha val="0"/>
              </a:srgbClr>
            </a:solidFill>
            <a:prstDash val="solid"/>
          </a:ln>
        </p:spPr>
      </p:sp>
      <p:sp>
        <p:nvSpPr>
          <p:cNvPr id="42" name="Shape 40"/>
          <p:cNvSpPr/>
          <p:nvPr/>
        </p:nvSpPr>
        <p:spPr>
          <a:xfrm>
            <a:off x="7790688" y="3675888"/>
            <a:ext cx="1197864" cy="137160"/>
          </a:xfrm>
          <a:prstGeom prst="rect">
            <a:avLst>
              <a:gd name="adj" fmla="val 80000"/>
            </a:avLst>
          </a:prstGeom>
          <a:solidFill>
            <a:srgbClr val="D8E0EA"/>
          </a:solidFill>
          <a:ln w="1270">
            <a:solidFill>
              <a:srgbClr val="D8E0EA">
                <a:alpha val="0"/>
              </a:srgbClr>
            </a:solidFill>
            <a:prstDash val="solid"/>
          </a:ln>
        </p:spPr>
      </p:sp>
      <p:sp>
        <p:nvSpPr>
          <p:cNvPr id="43" name="Shape 41"/>
          <p:cNvSpPr/>
          <p:nvPr/>
        </p:nvSpPr>
        <p:spPr>
          <a:xfrm>
            <a:off x="8723376" y="3657600"/>
            <a:ext cx="274320" cy="164592"/>
          </a:xfrm>
          <a:prstGeom prst="rect">
            <a:avLst>
              <a:gd name="adj" fmla="val 66667"/>
            </a:avLst>
          </a:prstGeom>
          <a:solidFill>
            <a:srgbClr val="8C6FE8"/>
          </a:solidFill>
          <a:ln w="1270">
            <a:solidFill>
              <a:srgbClr val="8C6FE8">
                <a:alpha val="0"/>
              </a:srgbClr>
            </a:solidFill>
            <a:prstDash val="solid"/>
          </a:ln>
        </p:spPr>
      </p:sp>
      <p:sp>
        <p:nvSpPr>
          <p:cNvPr id="44" name="Text 42"/>
          <p:cNvSpPr txBox="1"/>
          <p:nvPr/>
        </p:nvSpPr>
        <p:spPr>
          <a:xfrm>
            <a:off x="7598664" y="4160520"/>
            <a:ext cx="1581912" cy="713232"/>
          </a:xfrm>
          <a:prstGeom prst="rect">
            <a:avLst/>
          </a:prstGeom>
          <a:noFill/>
          <a:ln/>
        </p:spPr>
        <p:txBody>
          <a:bodyPr wrap="square" lIns="0" tIns="0" rIns="0" bIns="0" rtlCol="0" anchor="t">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Usually attached to the viewport, even while scrolling.</a:t>
            </a:r>
            <a:endParaRPr lang="en-US" sz="1050" dirty="0"/>
          </a:p>
        </p:txBody>
      </p:sp>
      <p:sp>
        <p:nvSpPr>
          <p:cNvPr id="45" name="Shape 43"/>
          <p:cNvSpPr/>
          <p:nvPr/>
        </p:nvSpPr>
        <p:spPr>
          <a:xfrm>
            <a:off x="9692640" y="1847088"/>
            <a:ext cx="1874520" cy="3401568"/>
          </a:xfrm>
          <a:prstGeom prst="roundRect">
            <a:avLst>
              <a:gd name="adj" fmla="val 5854"/>
            </a:avLst>
          </a:prstGeom>
          <a:solidFill>
            <a:srgbClr val="FFFFFF"/>
          </a:solidFill>
          <a:ln w="12700">
            <a:solidFill>
              <a:srgbClr val="DEE5EE"/>
            </a:solidFill>
            <a:prstDash val="solid"/>
          </a:ln>
        </p:spPr>
      </p:sp>
      <p:sp>
        <p:nvSpPr>
          <p:cNvPr id="46" name="Shape 44"/>
          <p:cNvSpPr/>
          <p:nvPr/>
        </p:nvSpPr>
        <p:spPr>
          <a:xfrm>
            <a:off x="9857232" y="2057400"/>
            <a:ext cx="1536192" cy="384048"/>
          </a:xfrm>
          <a:prstGeom prst="roundRect">
            <a:avLst>
              <a:gd name="adj" fmla="val 28571"/>
            </a:avLst>
          </a:prstGeom>
          <a:solidFill>
            <a:srgbClr val="FFF4D6"/>
          </a:solidFill>
          <a:ln w="1270">
            <a:solidFill>
              <a:srgbClr val="FFF4D6">
                <a:alpha val="0"/>
              </a:srgbClr>
            </a:solidFill>
            <a:prstDash val="solid"/>
          </a:ln>
        </p:spPr>
      </p:sp>
      <p:sp>
        <p:nvSpPr>
          <p:cNvPr id="47" name="Text 45"/>
          <p:cNvSpPr txBox="1"/>
          <p:nvPr/>
        </p:nvSpPr>
        <p:spPr>
          <a:xfrm>
            <a:off x="9884664" y="2103120"/>
            <a:ext cx="1481328" cy="274320"/>
          </a:xfrm>
          <a:prstGeom prst="rect">
            <a:avLst/>
          </a:prstGeom>
          <a:noFill/>
          <a:ln/>
        </p:spPr>
        <p:txBody>
          <a:bodyPr wrap="square" lIns="0" tIns="0" rIns="0" bIns="0" rtlCol="0" anchor="ctr">
            <a:normAutofit/>
          </a:bodyPr>
          <a:lstStyle/>
          <a:p>
            <a:pPr algn="ctr" indent="0" marL="0">
              <a:buNone/>
            </a:pPr>
            <a:r>
              <a:rPr lang="en-US" sz="1400" b="1" dirty="0">
                <a:solidFill>
                  <a:srgbClr val="B67C16"/>
                </a:solidFill>
                <a:latin typeface="Consolas" pitchFamily="34" charset="0"/>
                <a:ea typeface="Consolas" pitchFamily="34" charset="-122"/>
                <a:cs typeface="Consolas" pitchFamily="34" charset="-120"/>
              </a:rPr>
              <a:t>sticky</a:t>
            </a:r>
            <a:endParaRPr lang="en-US" sz="1400" dirty="0"/>
          </a:p>
        </p:txBody>
      </p:sp>
      <p:sp>
        <p:nvSpPr>
          <p:cNvPr id="48" name="Text 46"/>
          <p:cNvSpPr txBox="1"/>
          <p:nvPr/>
        </p:nvSpPr>
        <p:spPr>
          <a:xfrm>
            <a:off x="9857232" y="2660904"/>
            <a:ext cx="1536192" cy="292608"/>
          </a:xfrm>
          <a:prstGeom prst="rect">
            <a:avLst/>
          </a:prstGeom>
          <a:noFill/>
          <a:ln/>
        </p:spPr>
        <p:txBody>
          <a:bodyPr wrap="square" lIns="0" tIns="0" rIns="0" bIns="0" rtlCol="0" anchor="ctr">
            <a:normAutofit/>
          </a:bodyPr>
          <a:lstStyle/>
          <a:p>
            <a:pPr algn="ctr" indent="0" marL="0">
              <a:buNone/>
            </a:pPr>
            <a:r>
              <a:rPr lang="en-US" sz="1250" b="1" dirty="0">
                <a:solidFill>
                  <a:srgbClr val="101828"/>
                </a:solidFill>
                <a:latin typeface="Aptos" pitchFamily="34" charset="0"/>
                <a:ea typeface="Aptos" pitchFamily="34" charset="-122"/>
                <a:cs typeface="Aptos" pitchFamily="34" charset="-120"/>
              </a:rPr>
              <a:t>Scroll-aware</a:t>
            </a:r>
            <a:endParaRPr lang="en-US" sz="1250" dirty="0"/>
          </a:p>
        </p:txBody>
      </p:sp>
      <p:sp>
        <p:nvSpPr>
          <p:cNvPr id="49" name="Shape 47"/>
          <p:cNvSpPr/>
          <p:nvPr/>
        </p:nvSpPr>
        <p:spPr>
          <a:xfrm>
            <a:off x="9912096" y="3127248"/>
            <a:ext cx="1435608" cy="786384"/>
          </a:xfrm>
          <a:prstGeom prst="rect">
            <a:avLst>
              <a:gd name="adj" fmla="val 13953"/>
            </a:avLst>
          </a:prstGeom>
          <a:solidFill>
            <a:srgbClr val="F3F6FA"/>
          </a:solidFill>
          <a:ln w="12700">
            <a:solidFill>
              <a:srgbClr val="D9E2ED"/>
            </a:solidFill>
            <a:prstDash val="solid"/>
          </a:ln>
        </p:spPr>
      </p:sp>
      <p:sp>
        <p:nvSpPr>
          <p:cNvPr id="50" name="Shape 48"/>
          <p:cNvSpPr/>
          <p:nvPr/>
        </p:nvSpPr>
        <p:spPr>
          <a:xfrm>
            <a:off x="10030968" y="3255264"/>
            <a:ext cx="1197864" cy="137160"/>
          </a:xfrm>
          <a:prstGeom prst="rect">
            <a:avLst>
              <a:gd name="adj" fmla="val 80000"/>
            </a:avLst>
          </a:prstGeom>
          <a:solidFill>
            <a:srgbClr val="D8E0EA"/>
          </a:solidFill>
          <a:ln w="1270">
            <a:solidFill>
              <a:srgbClr val="D8E0EA">
                <a:alpha val="0"/>
              </a:srgbClr>
            </a:solidFill>
            <a:prstDash val="solid"/>
          </a:ln>
        </p:spPr>
      </p:sp>
      <p:sp>
        <p:nvSpPr>
          <p:cNvPr id="51" name="Shape 49"/>
          <p:cNvSpPr/>
          <p:nvPr/>
        </p:nvSpPr>
        <p:spPr>
          <a:xfrm>
            <a:off x="10030968" y="3465576"/>
            <a:ext cx="1197864" cy="137160"/>
          </a:xfrm>
          <a:prstGeom prst="rect">
            <a:avLst>
              <a:gd name="adj" fmla="val 80000"/>
            </a:avLst>
          </a:prstGeom>
          <a:solidFill>
            <a:srgbClr val="D8E0EA"/>
          </a:solidFill>
          <a:ln w="1270">
            <a:solidFill>
              <a:srgbClr val="D8E0EA">
                <a:alpha val="0"/>
              </a:srgbClr>
            </a:solidFill>
            <a:prstDash val="solid"/>
          </a:ln>
        </p:spPr>
      </p:sp>
      <p:sp>
        <p:nvSpPr>
          <p:cNvPr id="52" name="Shape 50"/>
          <p:cNvSpPr/>
          <p:nvPr/>
        </p:nvSpPr>
        <p:spPr>
          <a:xfrm>
            <a:off x="10030968" y="3675888"/>
            <a:ext cx="1197864" cy="137160"/>
          </a:xfrm>
          <a:prstGeom prst="rect">
            <a:avLst>
              <a:gd name="adj" fmla="val 80000"/>
            </a:avLst>
          </a:prstGeom>
          <a:solidFill>
            <a:srgbClr val="D8E0EA"/>
          </a:solidFill>
          <a:ln w="1270">
            <a:solidFill>
              <a:srgbClr val="D8E0EA">
                <a:alpha val="0"/>
              </a:srgbClr>
            </a:solidFill>
            <a:prstDash val="solid"/>
          </a:ln>
        </p:spPr>
      </p:sp>
      <p:sp>
        <p:nvSpPr>
          <p:cNvPr id="53" name="Shape 51"/>
          <p:cNvSpPr/>
          <p:nvPr/>
        </p:nvSpPr>
        <p:spPr>
          <a:xfrm>
            <a:off x="10030968" y="3255264"/>
            <a:ext cx="274320" cy="164592"/>
          </a:xfrm>
          <a:prstGeom prst="rect">
            <a:avLst>
              <a:gd name="adj" fmla="val 66667"/>
            </a:avLst>
          </a:prstGeom>
          <a:solidFill>
            <a:srgbClr val="B67C16"/>
          </a:solidFill>
          <a:ln w="1270">
            <a:solidFill>
              <a:srgbClr val="B67C16">
                <a:alpha val="0"/>
              </a:srgbClr>
            </a:solidFill>
            <a:prstDash val="solid"/>
          </a:ln>
        </p:spPr>
      </p:sp>
      <p:sp>
        <p:nvSpPr>
          <p:cNvPr id="54" name="Text 52"/>
          <p:cNvSpPr txBox="1"/>
          <p:nvPr/>
        </p:nvSpPr>
        <p:spPr>
          <a:xfrm>
            <a:off x="9838944" y="4160520"/>
            <a:ext cx="1581912" cy="713232"/>
          </a:xfrm>
          <a:prstGeom prst="rect">
            <a:avLst/>
          </a:prstGeom>
          <a:noFill/>
          <a:ln/>
        </p:spPr>
        <p:txBody>
          <a:bodyPr wrap="square" lIns="0" tIns="0" rIns="0" bIns="0" rtlCol="0" anchor="t">
            <a:normAutofit/>
          </a:bodyPr>
          <a:lstStyle/>
          <a:p>
            <a:pPr algn="ctr" indent="0" marL="0">
              <a:buNone/>
            </a:pPr>
            <a:r>
              <a:rPr lang="en-US" sz="1050" dirty="0">
                <a:solidFill>
                  <a:srgbClr val="5F6F84"/>
                </a:solidFill>
                <a:latin typeface="Aptos" pitchFamily="34" charset="0"/>
                <a:ea typeface="Aptos" pitchFamily="34" charset="-122"/>
                <a:cs typeface="Aptos" pitchFamily="34" charset="-120"/>
              </a:rPr>
              <a:t>Behaves normally until a scroll threshold is reached.</a:t>
            </a:r>
            <a:endParaRPr lang="en-US" sz="1050" dirty="0"/>
          </a:p>
        </p:txBody>
      </p:sp>
      <p:sp>
        <p:nvSpPr>
          <p:cNvPr id="55" name="Shape 53"/>
          <p:cNvSpPr/>
          <p:nvPr/>
        </p:nvSpPr>
        <p:spPr>
          <a:xfrm>
            <a:off x="914400" y="5559552"/>
            <a:ext cx="10378440" cy="384048"/>
          </a:xfrm>
          <a:prstGeom prst="roundRect">
            <a:avLst>
              <a:gd name="adj" fmla="val 28571"/>
            </a:avLst>
          </a:prstGeom>
          <a:solidFill>
            <a:srgbClr val="EAF5F6"/>
          </a:solidFill>
          <a:ln w="12700">
            <a:solidFill>
              <a:srgbClr val="D3E8E9"/>
            </a:solidFill>
            <a:prstDash val="solid"/>
          </a:ln>
        </p:spPr>
      </p:sp>
      <p:sp>
        <p:nvSpPr>
          <p:cNvPr id="56" name="Text 54"/>
          <p:cNvSpPr txBox="1"/>
          <p:nvPr/>
        </p:nvSpPr>
        <p:spPr>
          <a:xfrm>
            <a:off x="1097280" y="5614416"/>
            <a:ext cx="10012680" cy="237744"/>
          </a:xfrm>
          <a:prstGeom prst="rect">
            <a:avLst/>
          </a:prstGeom>
          <a:noFill/>
          <a:ln/>
        </p:spPr>
        <p:txBody>
          <a:bodyPr wrap="square" lIns="0" tIns="0" rIns="0" bIns="0" rtlCol="0" anchor="ctr">
            <a:normAutofit/>
          </a:bodyPr>
          <a:lstStyle/>
          <a:p>
            <a:pPr algn="ctr" indent="0" marL="0">
              <a:buNone/>
            </a:pPr>
            <a:r>
              <a:rPr lang="en-US" sz="1160" b="1" dirty="0">
                <a:solidFill>
                  <a:srgbClr val="101828"/>
                </a:solidFill>
                <a:latin typeface="Aptos" pitchFamily="34" charset="0"/>
                <a:ea typeface="Aptos" pitchFamily="34" charset="-122"/>
                <a:cs typeface="Aptos" pitchFamily="34" charset="-120"/>
              </a:rPr>
              <a:t>Rule of thumb: use Flexbox or Grid for page layout; use positioning for specific elements such as badges, overlays or sticky headers.</a:t>
            </a:r>
            <a:endParaRPr lang="en-US" sz="1160" dirty="0"/>
          </a:p>
        </p:txBody>
      </p:sp>
      <p:sp>
        <p:nvSpPr>
          <p:cNvPr id="57" name="Text 55"/>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Source: The Odin Project — Positioning lesson</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09</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CSS functions and custom properties</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They help reuse values and make layouts responsive without repeating numbers everywhere.</a:t>
            </a:r>
            <a:endParaRPr lang="en-US" sz="1250" dirty="0"/>
          </a:p>
        </p:txBody>
      </p:sp>
      <p:sp>
        <p:nvSpPr>
          <p:cNvPr id="5" name="Shape 3"/>
          <p:cNvSpPr/>
          <p:nvPr/>
        </p:nvSpPr>
        <p:spPr>
          <a:xfrm>
            <a:off x="658368" y="1737360"/>
            <a:ext cx="5257800" cy="4133088"/>
          </a:xfrm>
          <a:prstGeom prst="roundRect">
            <a:avLst>
              <a:gd name="adj" fmla="val 2655"/>
            </a:avLst>
          </a:prstGeom>
          <a:solidFill>
            <a:srgbClr val="101B2B"/>
          </a:solidFill>
          <a:ln w="1270">
            <a:solidFill>
              <a:srgbClr val="101B2B">
                <a:alpha val="0"/>
              </a:srgbClr>
            </a:solidFill>
            <a:prstDash val="solid"/>
          </a:ln>
        </p:spPr>
      </p:sp>
      <p:sp>
        <p:nvSpPr>
          <p:cNvPr id="6" name="Text 4"/>
          <p:cNvSpPr txBox="1"/>
          <p:nvPr/>
        </p:nvSpPr>
        <p:spPr>
          <a:xfrm>
            <a:off x="950976" y="1993392"/>
            <a:ext cx="3383280" cy="292608"/>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Reusable design tokens</a:t>
            </a:r>
            <a:endParaRPr lang="en-US" sz="1800" dirty="0"/>
          </a:p>
        </p:txBody>
      </p:sp>
      <p:sp>
        <p:nvSpPr>
          <p:cNvPr id="7" name="Shape 5"/>
          <p:cNvSpPr/>
          <p:nvPr/>
        </p:nvSpPr>
        <p:spPr>
          <a:xfrm>
            <a:off x="932688" y="2487168"/>
            <a:ext cx="4681728" cy="2048256"/>
          </a:xfrm>
          <a:prstGeom prst="roundRect">
            <a:avLst>
              <a:gd name="adj" fmla="val 5357"/>
            </a:avLst>
          </a:prstGeom>
          <a:solidFill>
            <a:srgbClr val="101B2B"/>
          </a:solidFill>
          <a:ln w="1270">
            <a:solidFill>
              <a:srgbClr val="101B2B">
                <a:alpha val="0"/>
              </a:srgbClr>
            </a:solidFill>
            <a:prstDash val="solid"/>
          </a:ln>
        </p:spPr>
      </p:sp>
      <p:sp>
        <p:nvSpPr>
          <p:cNvPr id="8" name="Shape 6"/>
          <p:cNvSpPr/>
          <p:nvPr/>
        </p:nvSpPr>
        <p:spPr>
          <a:xfrm>
            <a:off x="1097280" y="2624328"/>
            <a:ext cx="82296" cy="82296"/>
          </a:xfrm>
          <a:prstGeom prst="ellipse">
            <a:avLst/>
          </a:prstGeom>
          <a:solidFill>
            <a:srgbClr val="FF826E"/>
          </a:solidFill>
          <a:ln w="12700">
            <a:solidFill>
              <a:srgbClr val="FF826E"/>
            </a:solidFill>
            <a:prstDash val="solid"/>
          </a:ln>
        </p:spPr>
      </p:sp>
      <p:sp>
        <p:nvSpPr>
          <p:cNvPr id="9" name="Shape 7"/>
          <p:cNvSpPr/>
          <p:nvPr/>
        </p:nvSpPr>
        <p:spPr>
          <a:xfrm>
            <a:off x="1225296" y="2624328"/>
            <a:ext cx="82296" cy="82296"/>
          </a:xfrm>
          <a:prstGeom prst="ellipse">
            <a:avLst/>
          </a:prstGeom>
          <a:solidFill>
            <a:srgbClr val="F4C45E"/>
          </a:solidFill>
          <a:ln w="12700">
            <a:solidFill>
              <a:srgbClr val="F4C45E"/>
            </a:solidFill>
            <a:prstDash val="solid"/>
          </a:ln>
        </p:spPr>
      </p:sp>
      <p:sp>
        <p:nvSpPr>
          <p:cNvPr id="10" name="Shape 8"/>
          <p:cNvSpPr/>
          <p:nvPr/>
        </p:nvSpPr>
        <p:spPr>
          <a:xfrm>
            <a:off x="1353312" y="2624328"/>
            <a:ext cx="82296" cy="82296"/>
          </a:xfrm>
          <a:prstGeom prst="ellipse">
            <a:avLst/>
          </a:prstGeom>
          <a:solidFill>
            <a:srgbClr val="16B7A4"/>
          </a:solidFill>
          <a:ln w="12700">
            <a:solidFill>
              <a:srgbClr val="16B7A4"/>
            </a:solidFill>
            <a:prstDash val="solid"/>
          </a:ln>
        </p:spPr>
      </p:sp>
      <p:sp>
        <p:nvSpPr>
          <p:cNvPr id="11" name="Text 9"/>
          <p:cNvSpPr/>
          <p:nvPr/>
        </p:nvSpPr>
        <p:spPr>
          <a:xfrm>
            <a:off x="1133856" y="2880360"/>
            <a:ext cx="4297680" cy="1536192"/>
          </a:xfrm>
          <a:prstGeom prst="rect">
            <a:avLst/>
          </a:prstGeom>
          <a:noFill/>
          <a:ln/>
        </p:spPr>
        <p:txBody>
          <a:bodyPr wrap="square" lIns="0" tIns="0" rIns="0" bIns="0" rtlCol="0" anchor="t">
            <a:normAutofit/>
          </a:bodyPr>
          <a:lstStyle/>
          <a:p>
            <a:pPr indent="0" marL="0">
              <a:buNone/>
            </a:pPr>
            <a:r>
              <a:rPr lang="en-US" sz="1080" dirty="0">
                <a:solidFill>
                  <a:srgbClr val="FF9EAA"/>
                </a:solidFill>
                <a:latin typeface="Consolas" pitchFamily="34" charset="0"/>
                <a:ea typeface="Consolas" pitchFamily="34" charset="-122"/>
                <a:cs typeface="Consolas" pitchFamily="34" charset="-120"/>
              </a:rPr>
              <a:t>:root {</a:t>
            </a:r>
            <a:endParaRPr lang="en-US" sz="1080" dirty="0"/>
          </a:p>
          <a:p>
            <a:pPr indent="0" marL="0">
              <a:buNone/>
            </a:pPr>
            <a:r>
              <a:rPr lang="en-US" sz="1080" dirty="0">
                <a:solidFill>
                  <a:srgbClr val="9AE6B4"/>
                </a:solidFill>
                <a:latin typeface="Consolas" pitchFamily="34" charset="0"/>
                <a:ea typeface="Consolas" pitchFamily="34" charset="-122"/>
                <a:cs typeface="Consolas" pitchFamily="34" charset="-120"/>
              </a:rPr>
              <a:t>  --brand: #16B7A4;</a:t>
            </a:r>
            <a:endParaRPr lang="en-US" sz="1080" dirty="0"/>
          </a:p>
          <a:p>
            <a:pPr indent="0" marL="0">
              <a:buNone/>
            </a:pPr>
            <a:r>
              <a:rPr lang="en-US" sz="1080" dirty="0">
                <a:solidFill>
                  <a:srgbClr val="F8D477"/>
                </a:solidFill>
                <a:latin typeface="Consolas" pitchFamily="34" charset="0"/>
                <a:ea typeface="Consolas" pitchFamily="34" charset="-122"/>
                <a:cs typeface="Consolas" pitchFamily="34" charset="-120"/>
              </a:rPr>
              <a:t>  --space: 1rem;</a:t>
            </a:r>
            <a:endParaRPr lang="en-US" sz="1080" dirty="0"/>
          </a:p>
          <a:p>
            <a:pPr indent="0" marL="0">
              <a:buNone/>
            </a:pPr>
            <a:r>
              <a:rPr lang="en-US" sz="1080" dirty="0">
                <a:solidFill>
                  <a:srgbClr val="FF9EAA"/>
                </a:solidFill>
                <a:latin typeface="Consolas" pitchFamily="34" charset="0"/>
                <a:ea typeface="Consolas" pitchFamily="34" charset="-122"/>
                <a:cs typeface="Consolas" pitchFamily="34" charset="-120"/>
              </a:rPr>
              <a:t>}</a:t>
            </a:r>
            <a:endParaRPr lang="en-US" sz="1080" dirty="0"/>
          </a:p>
          <a:p>
            <a:pPr indent="0" marL="0">
              <a:buNone/>
            </a:pPr>
            <a:r>
              <a:rPr lang="en-US" sz="1080" dirty="0">
                <a:solidFill>
                  <a:srgbClr val="FF9EAA"/>
                </a:solidFill>
                <a:latin typeface="Consolas" pitchFamily="34" charset="0"/>
                <a:ea typeface="Consolas" pitchFamily="34" charset="-122"/>
                <a:cs typeface="Consolas" pitchFamily="34" charset="-120"/>
              </a:rPr>
              <a:t>.card {</a:t>
            </a:r>
            <a:endParaRPr lang="en-US" sz="1080" dirty="0"/>
          </a:p>
          <a:p>
            <a:pPr indent="0" marL="0">
              <a:buNone/>
            </a:pPr>
            <a:r>
              <a:rPr lang="en-US" sz="1080" dirty="0">
                <a:solidFill>
                  <a:srgbClr val="DCE8F5"/>
                </a:solidFill>
                <a:latin typeface="Consolas" pitchFamily="34" charset="0"/>
                <a:ea typeface="Consolas" pitchFamily="34" charset="-122"/>
                <a:cs typeface="Consolas" pitchFamily="34" charset="-120"/>
              </a:rPr>
              <a:t>  color: var(--brand);</a:t>
            </a:r>
            <a:endParaRPr lang="en-US" sz="1080" dirty="0"/>
          </a:p>
          <a:p>
            <a:pPr indent="0" marL="0">
              <a:buNone/>
            </a:pPr>
            <a:r>
              <a:rPr lang="en-US" sz="1080" dirty="0">
                <a:solidFill>
                  <a:srgbClr val="DCE8F5"/>
                </a:solidFill>
                <a:latin typeface="Consolas" pitchFamily="34" charset="0"/>
                <a:ea typeface="Consolas" pitchFamily="34" charset="-122"/>
                <a:cs typeface="Consolas" pitchFamily="34" charset="-120"/>
              </a:rPr>
              <a:t>  padding: var(--space);</a:t>
            </a:r>
            <a:endParaRPr lang="en-US" sz="1080" dirty="0"/>
          </a:p>
          <a:p>
            <a:pPr indent="0" marL="0">
              <a:buNone/>
            </a:pPr>
            <a:r>
              <a:rPr lang="en-US" sz="1080" dirty="0">
                <a:solidFill>
                  <a:srgbClr val="FF9EAA"/>
                </a:solidFill>
                <a:latin typeface="Consolas" pitchFamily="34" charset="0"/>
                <a:ea typeface="Consolas" pitchFamily="34" charset="-122"/>
                <a:cs typeface="Consolas" pitchFamily="34" charset="-120"/>
              </a:rPr>
              <a:t>}</a:t>
            </a:r>
            <a:endParaRPr lang="en-US" sz="1080" dirty="0"/>
          </a:p>
        </p:txBody>
      </p:sp>
      <p:sp>
        <p:nvSpPr>
          <p:cNvPr id="12" name="Text 10"/>
          <p:cNvSpPr txBox="1"/>
          <p:nvPr/>
        </p:nvSpPr>
        <p:spPr>
          <a:xfrm>
            <a:off x="950976" y="4892040"/>
            <a:ext cx="4526280" cy="502920"/>
          </a:xfrm>
          <a:prstGeom prst="rect">
            <a:avLst/>
          </a:prstGeom>
          <a:noFill/>
          <a:ln/>
        </p:spPr>
        <p:txBody>
          <a:bodyPr wrap="square" lIns="0" tIns="0" rIns="0" bIns="0" rtlCol="0" anchor="t">
            <a:normAutofit/>
          </a:bodyPr>
          <a:lstStyle/>
          <a:p>
            <a:pPr algn="l" indent="0" marL="0">
              <a:buNone/>
            </a:pPr>
            <a:r>
              <a:rPr lang="en-US" sz="1250" dirty="0">
                <a:solidFill>
                  <a:srgbClr val="B8C9DB"/>
                </a:solidFill>
                <a:latin typeface="Aptos" pitchFamily="34" charset="0"/>
                <a:ea typeface="Aptos" pitchFamily="34" charset="-122"/>
                <a:cs typeface="Aptos" pitchFamily="34" charset="-120"/>
              </a:rPr>
              <a:t>Change the variable once; every place that uses it updates.</a:t>
            </a:r>
            <a:endParaRPr lang="en-US" sz="1250" dirty="0"/>
          </a:p>
        </p:txBody>
      </p:sp>
      <p:sp>
        <p:nvSpPr>
          <p:cNvPr id="13" name="Shape 11"/>
          <p:cNvSpPr/>
          <p:nvPr/>
        </p:nvSpPr>
        <p:spPr>
          <a:xfrm>
            <a:off x="6236208" y="1737360"/>
            <a:ext cx="5257800" cy="4133088"/>
          </a:xfrm>
          <a:prstGeom prst="roundRect">
            <a:avLst>
              <a:gd name="adj" fmla="val 2655"/>
            </a:avLst>
          </a:prstGeom>
          <a:solidFill>
            <a:srgbClr val="FFFFFF"/>
          </a:solidFill>
          <a:ln w="12700">
            <a:solidFill>
              <a:srgbClr val="DEE5EE"/>
            </a:solidFill>
            <a:prstDash val="solid"/>
          </a:ln>
        </p:spPr>
      </p:sp>
      <p:sp>
        <p:nvSpPr>
          <p:cNvPr id="14" name="Text 12"/>
          <p:cNvSpPr txBox="1"/>
          <p:nvPr/>
        </p:nvSpPr>
        <p:spPr>
          <a:xfrm>
            <a:off x="6537960" y="1993392"/>
            <a:ext cx="3200400" cy="292608"/>
          </a:xfrm>
          <a:prstGeom prst="rect">
            <a:avLst/>
          </a:prstGeom>
          <a:noFill/>
          <a:ln/>
        </p:spPr>
        <p:txBody>
          <a:bodyPr wrap="square" lIns="0" tIns="0" rIns="0" bIns="0" rtlCol="0" anchor="ctr">
            <a:normAutofit/>
          </a:bodyPr>
          <a:lstStyle/>
          <a:p>
            <a:pPr algn="l" indent="0" marL="0">
              <a:buNone/>
            </a:pPr>
            <a:r>
              <a:rPr lang="en-US" sz="1800" b="1" dirty="0">
                <a:solidFill>
                  <a:srgbClr val="101828"/>
                </a:solidFill>
                <a:latin typeface="Aptos" pitchFamily="34" charset="0"/>
                <a:ea typeface="Aptos" pitchFamily="34" charset="-122"/>
                <a:cs typeface="Aptos" pitchFamily="34" charset="-120"/>
              </a:rPr>
              <a:t>Useful CSS functions</a:t>
            </a:r>
            <a:endParaRPr lang="en-US" sz="1800" dirty="0"/>
          </a:p>
        </p:txBody>
      </p:sp>
      <p:sp>
        <p:nvSpPr>
          <p:cNvPr id="15" name="Shape 13"/>
          <p:cNvSpPr/>
          <p:nvPr/>
        </p:nvSpPr>
        <p:spPr>
          <a:xfrm>
            <a:off x="6510528" y="2542032"/>
            <a:ext cx="1444752" cy="438912"/>
          </a:xfrm>
          <a:prstGeom prst="roundRect">
            <a:avLst>
              <a:gd name="adj" fmla="val 25000"/>
            </a:avLst>
          </a:prstGeom>
          <a:solidFill>
            <a:srgbClr val="E8EDFF"/>
          </a:solidFill>
          <a:ln w="1270">
            <a:solidFill>
              <a:srgbClr val="E8EDFF">
                <a:alpha val="0"/>
              </a:srgbClr>
            </a:solidFill>
            <a:prstDash val="solid"/>
          </a:ln>
        </p:spPr>
      </p:sp>
      <p:sp>
        <p:nvSpPr>
          <p:cNvPr id="16" name="Text 14"/>
          <p:cNvSpPr txBox="1"/>
          <p:nvPr/>
        </p:nvSpPr>
        <p:spPr>
          <a:xfrm>
            <a:off x="6583680" y="2596896"/>
            <a:ext cx="1298448" cy="292608"/>
          </a:xfrm>
          <a:prstGeom prst="rect">
            <a:avLst/>
          </a:prstGeom>
          <a:noFill/>
          <a:ln/>
        </p:spPr>
        <p:txBody>
          <a:bodyPr wrap="square" lIns="0" tIns="0" rIns="0" bIns="0" rtlCol="0" anchor="ctr">
            <a:normAutofit/>
          </a:bodyPr>
          <a:lstStyle/>
          <a:p>
            <a:pPr algn="ctr" indent="0" marL="0">
              <a:buNone/>
            </a:pPr>
            <a:r>
              <a:rPr lang="en-US" sz="1300" b="1" dirty="0">
                <a:solidFill>
                  <a:srgbClr val="5272F2"/>
                </a:solidFill>
                <a:latin typeface="Consolas" pitchFamily="34" charset="0"/>
                <a:ea typeface="Consolas" pitchFamily="34" charset="-122"/>
                <a:cs typeface="Consolas" pitchFamily="34" charset="-120"/>
              </a:rPr>
              <a:t>calc()</a:t>
            </a:r>
            <a:endParaRPr lang="en-US" sz="1300" dirty="0"/>
          </a:p>
        </p:txBody>
      </p:sp>
      <p:sp>
        <p:nvSpPr>
          <p:cNvPr id="17" name="Text 15"/>
          <p:cNvSpPr txBox="1"/>
          <p:nvPr/>
        </p:nvSpPr>
        <p:spPr>
          <a:xfrm>
            <a:off x="8183880" y="2551176"/>
            <a:ext cx="2880360" cy="420624"/>
          </a:xfrm>
          <a:prstGeom prst="rect">
            <a:avLst/>
          </a:prstGeom>
          <a:noFill/>
          <a:ln/>
        </p:spPr>
        <p:txBody>
          <a:bodyPr wrap="square" lIns="0" tIns="0" rIns="0" bIns="0" rtlCol="0" anchor="ctr">
            <a:normAutofit/>
          </a:bodyPr>
          <a:lstStyle/>
          <a:p>
            <a:pPr algn="l" indent="0" marL="0">
              <a:buNone/>
            </a:pPr>
            <a:r>
              <a:rPr lang="en-US" sz="1200" dirty="0">
                <a:solidFill>
                  <a:srgbClr val="5F6F84"/>
                </a:solidFill>
                <a:latin typeface="Aptos" pitchFamily="34" charset="0"/>
                <a:ea typeface="Aptos" pitchFamily="34" charset="-122"/>
                <a:cs typeface="Aptos" pitchFamily="34" charset="-120"/>
              </a:rPr>
              <a:t>Mix measurements, such as 100% - a sidebar.</a:t>
            </a:r>
            <a:endParaRPr lang="en-US" sz="1200" dirty="0"/>
          </a:p>
        </p:txBody>
      </p:sp>
      <p:sp>
        <p:nvSpPr>
          <p:cNvPr id="18" name="Shape 16"/>
          <p:cNvSpPr/>
          <p:nvPr/>
        </p:nvSpPr>
        <p:spPr>
          <a:xfrm>
            <a:off x="6510528" y="3410712"/>
            <a:ext cx="1444752" cy="438912"/>
          </a:xfrm>
          <a:prstGeom prst="roundRect">
            <a:avLst>
              <a:gd name="adj" fmla="val 25000"/>
            </a:avLst>
          </a:prstGeom>
          <a:solidFill>
            <a:srgbClr val="DDF7F2"/>
          </a:solidFill>
          <a:ln w="1270">
            <a:solidFill>
              <a:srgbClr val="DDF7F2">
                <a:alpha val="0"/>
              </a:srgbClr>
            </a:solidFill>
            <a:prstDash val="solid"/>
          </a:ln>
        </p:spPr>
      </p:sp>
      <p:sp>
        <p:nvSpPr>
          <p:cNvPr id="19" name="Text 17"/>
          <p:cNvSpPr txBox="1"/>
          <p:nvPr/>
        </p:nvSpPr>
        <p:spPr>
          <a:xfrm>
            <a:off x="6583680" y="3465576"/>
            <a:ext cx="1298448" cy="292608"/>
          </a:xfrm>
          <a:prstGeom prst="rect">
            <a:avLst/>
          </a:prstGeom>
          <a:noFill/>
          <a:ln/>
        </p:spPr>
        <p:txBody>
          <a:bodyPr wrap="square" lIns="0" tIns="0" rIns="0" bIns="0" rtlCol="0" anchor="ctr">
            <a:normAutofit/>
          </a:bodyPr>
          <a:lstStyle/>
          <a:p>
            <a:pPr algn="ctr" indent="0" marL="0">
              <a:buNone/>
            </a:pPr>
            <a:r>
              <a:rPr lang="en-US" sz="1300" b="1" dirty="0">
                <a:solidFill>
                  <a:srgbClr val="16B7A4"/>
                </a:solidFill>
                <a:latin typeface="Consolas" pitchFamily="34" charset="0"/>
                <a:ea typeface="Consolas" pitchFamily="34" charset="-122"/>
                <a:cs typeface="Consolas" pitchFamily="34" charset="-120"/>
              </a:rPr>
              <a:t>min() / max()</a:t>
            </a:r>
            <a:endParaRPr lang="en-US" sz="1300" dirty="0"/>
          </a:p>
        </p:txBody>
      </p:sp>
      <p:sp>
        <p:nvSpPr>
          <p:cNvPr id="20" name="Text 18"/>
          <p:cNvSpPr txBox="1"/>
          <p:nvPr/>
        </p:nvSpPr>
        <p:spPr>
          <a:xfrm>
            <a:off x="8183880" y="3419856"/>
            <a:ext cx="2880360" cy="420624"/>
          </a:xfrm>
          <a:prstGeom prst="rect">
            <a:avLst/>
          </a:prstGeom>
          <a:noFill/>
          <a:ln/>
        </p:spPr>
        <p:txBody>
          <a:bodyPr wrap="square" lIns="0" tIns="0" rIns="0" bIns="0" rtlCol="0" anchor="ctr">
            <a:normAutofit/>
          </a:bodyPr>
          <a:lstStyle/>
          <a:p>
            <a:pPr algn="l" indent="0" marL="0">
              <a:buNone/>
            </a:pPr>
            <a:r>
              <a:rPr lang="en-US" sz="1200" dirty="0">
                <a:solidFill>
                  <a:srgbClr val="5F6F84"/>
                </a:solidFill>
                <a:latin typeface="Aptos" pitchFamily="34" charset="0"/>
                <a:ea typeface="Aptos" pitchFamily="34" charset="-122"/>
                <a:cs typeface="Aptos" pitchFamily="34" charset="-120"/>
              </a:rPr>
              <a:t>Choose a smaller or larger value automatically.</a:t>
            </a:r>
            <a:endParaRPr lang="en-US" sz="1200" dirty="0"/>
          </a:p>
        </p:txBody>
      </p:sp>
      <p:sp>
        <p:nvSpPr>
          <p:cNvPr id="21" name="Shape 19"/>
          <p:cNvSpPr/>
          <p:nvPr/>
        </p:nvSpPr>
        <p:spPr>
          <a:xfrm>
            <a:off x="6510528" y="4279392"/>
            <a:ext cx="1444752" cy="438912"/>
          </a:xfrm>
          <a:prstGeom prst="roundRect">
            <a:avLst>
              <a:gd name="adj" fmla="val 25000"/>
            </a:avLst>
          </a:prstGeom>
          <a:solidFill>
            <a:srgbClr val="FFE8E3"/>
          </a:solidFill>
          <a:ln w="1270">
            <a:solidFill>
              <a:srgbClr val="FFE8E3">
                <a:alpha val="0"/>
              </a:srgbClr>
            </a:solidFill>
            <a:prstDash val="solid"/>
          </a:ln>
        </p:spPr>
      </p:sp>
      <p:sp>
        <p:nvSpPr>
          <p:cNvPr id="22" name="Text 20"/>
          <p:cNvSpPr txBox="1"/>
          <p:nvPr/>
        </p:nvSpPr>
        <p:spPr>
          <a:xfrm>
            <a:off x="6583680" y="4334256"/>
            <a:ext cx="1298448" cy="292608"/>
          </a:xfrm>
          <a:prstGeom prst="rect">
            <a:avLst/>
          </a:prstGeom>
          <a:noFill/>
          <a:ln/>
        </p:spPr>
        <p:txBody>
          <a:bodyPr wrap="square" lIns="0" tIns="0" rIns="0" bIns="0" rtlCol="0" anchor="ctr">
            <a:normAutofit/>
          </a:bodyPr>
          <a:lstStyle/>
          <a:p>
            <a:pPr algn="ctr" indent="0" marL="0">
              <a:buNone/>
            </a:pPr>
            <a:r>
              <a:rPr lang="en-US" sz="1300" b="1" dirty="0">
                <a:solidFill>
                  <a:srgbClr val="FF826E"/>
                </a:solidFill>
                <a:latin typeface="Consolas" pitchFamily="34" charset="0"/>
                <a:ea typeface="Consolas" pitchFamily="34" charset="-122"/>
                <a:cs typeface="Consolas" pitchFamily="34" charset="-120"/>
              </a:rPr>
              <a:t>clamp()</a:t>
            </a:r>
            <a:endParaRPr lang="en-US" sz="1300" dirty="0"/>
          </a:p>
        </p:txBody>
      </p:sp>
      <p:sp>
        <p:nvSpPr>
          <p:cNvPr id="23" name="Text 21"/>
          <p:cNvSpPr txBox="1"/>
          <p:nvPr/>
        </p:nvSpPr>
        <p:spPr>
          <a:xfrm>
            <a:off x="8183880" y="4288536"/>
            <a:ext cx="2880360" cy="420624"/>
          </a:xfrm>
          <a:prstGeom prst="rect">
            <a:avLst/>
          </a:prstGeom>
          <a:noFill/>
          <a:ln/>
        </p:spPr>
        <p:txBody>
          <a:bodyPr wrap="square" lIns="0" tIns="0" rIns="0" bIns="0" rtlCol="0" anchor="ctr">
            <a:normAutofit/>
          </a:bodyPr>
          <a:lstStyle/>
          <a:p>
            <a:pPr algn="l" indent="0" marL="0">
              <a:buNone/>
            </a:pPr>
            <a:r>
              <a:rPr lang="en-US" sz="1200" dirty="0">
                <a:solidFill>
                  <a:srgbClr val="5F6F84"/>
                </a:solidFill>
                <a:latin typeface="Aptos" pitchFamily="34" charset="0"/>
                <a:ea typeface="Aptos" pitchFamily="34" charset="-122"/>
                <a:cs typeface="Aptos" pitchFamily="34" charset="-120"/>
              </a:rPr>
              <a:t>Set a size that can grow but stays within limits.</a:t>
            </a:r>
            <a:endParaRPr lang="en-US" sz="1200" dirty="0"/>
          </a:p>
        </p:txBody>
      </p:sp>
      <p:sp>
        <p:nvSpPr>
          <p:cNvPr id="24" name="Shape 22"/>
          <p:cNvSpPr/>
          <p:nvPr/>
        </p:nvSpPr>
        <p:spPr>
          <a:xfrm>
            <a:off x="6537960" y="5330952"/>
            <a:ext cx="4507992" cy="320040"/>
          </a:xfrm>
          <a:prstGeom prst="roundRect">
            <a:avLst>
              <a:gd name="adj" fmla="val 34286"/>
            </a:avLst>
          </a:prstGeom>
          <a:solidFill>
            <a:srgbClr val="F0F7F8"/>
          </a:solidFill>
          <a:ln w="12700">
            <a:solidFill>
              <a:srgbClr val="D1E8E5"/>
            </a:solidFill>
            <a:prstDash val="solid"/>
          </a:ln>
        </p:spPr>
      </p:sp>
      <p:sp>
        <p:nvSpPr>
          <p:cNvPr id="25" name="Text 23"/>
          <p:cNvSpPr txBox="1"/>
          <p:nvPr/>
        </p:nvSpPr>
        <p:spPr>
          <a:xfrm>
            <a:off x="6675120" y="5367528"/>
            <a:ext cx="4206240" cy="228600"/>
          </a:xfrm>
          <a:prstGeom prst="rect">
            <a:avLst/>
          </a:prstGeom>
          <a:noFill/>
          <a:ln/>
        </p:spPr>
        <p:txBody>
          <a:bodyPr wrap="square" lIns="0" tIns="0" rIns="0" bIns="0" rtlCol="0" anchor="ctr">
            <a:normAutofit/>
          </a:bodyPr>
          <a:lstStyle/>
          <a:p>
            <a:pPr algn="ctr" indent="0" marL="0">
              <a:buNone/>
            </a:pPr>
            <a:r>
              <a:rPr lang="en-US" sz="1040" b="1" dirty="0">
                <a:solidFill>
                  <a:srgbClr val="101828"/>
                </a:solidFill>
                <a:latin typeface="Aptos" pitchFamily="34" charset="0"/>
                <a:ea typeface="Aptos" pitchFamily="34" charset="-122"/>
                <a:cs typeface="Aptos" pitchFamily="34" charset="-120"/>
              </a:rPr>
              <a:t>Responsive CSS example: font-size: clamp(1rem, 2vw, 2rem);</a:t>
            </a:r>
            <a:endParaRPr lang="en-US" sz="1040" dirty="0"/>
          </a:p>
        </p:txBody>
      </p:sp>
      <p:sp>
        <p:nvSpPr>
          <p:cNvPr id="26" name="Text 24"/>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course outline</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10</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Forms: collect information clearly</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Forms use labels, inputs and buttons. Validation gives users help before they submit.</a:t>
            </a:r>
            <a:endParaRPr lang="en-US" sz="1250" dirty="0"/>
          </a:p>
        </p:txBody>
      </p:sp>
      <p:sp>
        <p:nvSpPr>
          <p:cNvPr id="5" name="Shape 3"/>
          <p:cNvSpPr/>
          <p:nvPr/>
        </p:nvSpPr>
        <p:spPr>
          <a:xfrm>
            <a:off x="658368" y="1719072"/>
            <a:ext cx="4114800" cy="4279392"/>
          </a:xfrm>
          <a:prstGeom prst="roundRect">
            <a:avLst>
              <a:gd name="adj" fmla="val 2667"/>
            </a:avLst>
          </a:prstGeom>
          <a:solidFill>
            <a:srgbClr val="FFFFFF"/>
          </a:solidFill>
          <a:ln w="12700">
            <a:solidFill>
              <a:srgbClr val="DEE5EE"/>
            </a:solidFill>
            <a:prstDash val="solid"/>
          </a:ln>
        </p:spPr>
      </p:sp>
      <p:sp>
        <p:nvSpPr>
          <p:cNvPr id="6" name="Text 4"/>
          <p:cNvSpPr txBox="1"/>
          <p:nvPr/>
        </p:nvSpPr>
        <p:spPr>
          <a:xfrm>
            <a:off x="960120" y="1984248"/>
            <a:ext cx="3246120" cy="310896"/>
          </a:xfrm>
          <a:prstGeom prst="rect">
            <a:avLst/>
          </a:prstGeom>
          <a:noFill/>
          <a:ln/>
        </p:spPr>
        <p:txBody>
          <a:bodyPr wrap="square" lIns="0" tIns="0" rIns="0" bIns="0" rtlCol="0" anchor="ctr">
            <a:normAutofit/>
          </a:bodyPr>
          <a:lstStyle/>
          <a:p>
            <a:pPr algn="l" indent="0" marL="0">
              <a:buNone/>
            </a:pPr>
            <a:r>
              <a:rPr lang="en-US" sz="1900" b="1" dirty="0">
                <a:solidFill>
                  <a:srgbClr val="101828"/>
                </a:solidFill>
                <a:latin typeface="Aptos" pitchFamily="34" charset="0"/>
                <a:ea typeface="Aptos" pitchFamily="34" charset="-122"/>
                <a:cs typeface="Aptos" pitchFamily="34" charset="-120"/>
              </a:rPr>
              <a:t>A simple sign-up form</a:t>
            </a:r>
            <a:endParaRPr lang="en-US" sz="1900" dirty="0"/>
          </a:p>
        </p:txBody>
      </p:sp>
      <p:sp>
        <p:nvSpPr>
          <p:cNvPr id="7" name="Text 5"/>
          <p:cNvSpPr txBox="1"/>
          <p:nvPr/>
        </p:nvSpPr>
        <p:spPr>
          <a:xfrm>
            <a:off x="987552" y="2542032"/>
            <a:ext cx="2651760" cy="228600"/>
          </a:xfrm>
          <a:prstGeom prst="rect">
            <a:avLst/>
          </a:prstGeom>
          <a:noFill/>
          <a:ln/>
        </p:spPr>
        <p:txBody>
          <a:bodyPr wrap="square" lIns="0" tIns="0" rIns="0" bIns="0" rtlCol="0" anchor="ctr">
            <a:normAutofit/>
          </a:bodyPr>
          <a:lstStyle/>
          <a:p>
            <a:pPr algn="l" indent="0" marL="0">
              <a:buNone/>
            </a:pPr>
            <a:r>
              <a:rPr lang="en-US" sz="1100" b="1" dirty="0">
                <a:solidFill>
                  <a:srgbClr val="182230"/>
                </a:solidFill>
                <a:latin typeface="Aptos" pitchFamily="34" charset="0"/>
                <a:ea typeface="Aptos" pitchFamily="34" charset="-122"/>
                <a:cs typeface="Aptos" pitchFamily="34" charset="-120"/>
              </a:rPr>
              <a:t>Name</a:t>
            </a:r>
            <a:endParaRPr lang="en-US" sz="1100" dirty="0"/>
          </a:p>
        </p:txBody>
      </p:sp>
      <p:sp>
        <p:nvSpPr>
          <p:cNvPr id="8" name="Shape 6"/>
          <p:cNvSpPr/>
          <p:nvPr/>
        </p:nvSpPr>
        <p:spPr>
          <a:xfrm>
            <a:off x="987552" y="2816352"/>
            <a:ext cx="3429000" cy="448056"/>
          </a:xfrm>
          <a:prstGeom prst="roundRect">
            <a:avLst>
              <a:gd name="adj" fmla="val 24490"/>
            </a:avLst>
          </a:prstGeom>
          <a:solidFill>
            <a:srgbClr val="FFFFFF"/>
          </a:solidFill>
          <a:ln w="12700">
            <a:solidFill>
              <a:srgbClr val="CAD5E3"/>
            </a:solidFill>
            <a:prstDash val="solid"/>
          </a:ln>
        </p:spPr>
      </p:sp>
      <p:sp>
        <p:nvSpPr>
          <p:cNvPr id="9" name="Text 7"/>
          <p:cNvSpPr txBox="1"/>
          <p:nvPr/>
        </p:nvSpPr>
        <p:spPr>
          <a:xfrm>
            <a:off x="1143000" y="2907792"/>
            <a:ext cx="3017520" cy="237744"/>
          </a:xfrm>
          <a:prstGeom prst="rect">
            <a:avLst/>
          </a:prstGeom>
          <a:noFill/>
          <a:ln/>
        </p:spPr>
        <p:txBody>
          <a:bodyPr wrap="square" lIns="0" tIns="0" rIns="0" bIns="0" rtlCol="0" anchor="ctr">
            <a:normAutofit/>
          </a:bodyPr>
          <a:lstStyle/>
          <a:p>
            <a:pPr algn="l" indent="0" marL="0">
              <a:buNone/>
            </a:pPr>
            <a:r>
              <a:rPr lang="en-US" sz="1100" dirty="0">
                <a:solidFill>
                  <a:srgbClr val="91A0B4"/>
                </a:solidFill>
                <a:latin typeface="Aptos" pitchFamily="34" charset="0"/>
                <a:ea typeface="Aptos" pitchFamily="34" charset="-122"/>
                <a:cs typeface="Aptos" pitchFamily="34" charset="-120"/>
              </a:rPr>
              <a:t>Your name</a:t>
            </a:r>
            <a:endParaRPr lang="en-US" sz="1100" dirty="0"/>
          </a:p>
        </p:txBody>
      </p:sp>
      <p:sp>
        <p:nvSpPr>
          <p:cNvPr id="10" name="Text 8"/>
          <p:cNvSpPr txBox="1"/>
          <p:nvPr/>
        </p:nvSpPr>
        <p:spPr>
          <a:xfrm>
            <a:off x="987552" y="3429000"/>
            <a:ext cx="2651760" cy="228600"/>
          </a:xfrm>
          <a:prstGeom prst="rect">
            <a:avLst/>
          </a:prstGeom>
          <a:noFill/>
          <a:ln/>
        </p:spPr>
        <p:txBody>
          <a:bodyPr wrap="square" lIns="0" tIns="0" rIns="0" bIns="0" rtlCol="0" anchor="ctr">
            <a:normAutofit/>
          </a:bodyPr>
          <a:lstStyle/>
          <a:p>
            <a:pPr algn="l" indent="0" marL="0">
              <a:buNone/>
            </a:pPr>
            <a:r>
              <a:rPr lang="en-US" sz="1100" b="1" dirty="0">
                <a:solidFill>
                  <a:srgbClr val="182230"/>
                </a:solidFill>
                <a:latin typeface="Aptos" pitchFamily="34" charset="0"/>
                <a:ea typeface="Aptos" pitchFamily="34" charset="-122"/>
                <a:cs typeface="Aptos" pitchFamily="34" charset="-120"/>
              </a:rPr>
              <a:t>Email</a:t>
            </a:r>
            <a:endParaRPr lang="en-US" sz="1100" dirty="0"/>
          </a:p>
        </p:txBody>
      </p:sp>
      <p:sp>
        <p:nvSpPr>
          <p:cNvPr id="11" name="Shape 9"/>
          <p:cNvSpPr/>
          <p:nvPr/>
        </p:nvSpPr>
        <p:spPr>
          <a:xfrm>
            <a:off x="987552" y="3703320"/>
            <a:ext cx="3429000" cy="448056"/>
          </a:xfrm>
          <a:prstGeom prst="roundRect">
            <a:avLst>
              <a:gd name="adj" fmla="val 24490"/>
            </a:avLst>
          </a:prstGeom>
          <a:solidFill>
            <a:srgbClr val="FFFFFF"/>
          </a:solidFill>
          <a:ln w="12700">
            <a:solidFill>
              <a:srgbClr val="CAD5E3"/>
            </a:solidFill>
            <a:prstDash val="solid"/>
          </a:ln>
        </p:spPr>
      </p:sp>
      <p:sp>
        <p:nvSpPr>
          <p:cNvPr id="12" name="Text 10"/>
          <p:cNvSpPr txBox="1"/>
          <p:nvPr/>
        </p:nvSpPr>
        <p:spPr>
          <a:xfrm>
            <a:off x="1143000" y="3794760"/>
            <a:ext cx="3017520" cy="237744"/>
          </a:xfrm>
          <a:prstGeom prst="rect">
            <a:avLst/>
          </a:prstGeom>
          <a:noFill/>
          <a:ln/>
        </p:spPr>
        <p:txBody>
          <a:bodyPr wrap="square" lIns="0" tIns="0" rIns="0" bIns="0" rtlCol="0" anchor="ctr">
            <a:normAutofit/>
          </a:bodyPr>
          <a:lstStyle/>
          <a:p>
            <a:pPr algn="l" indent="0" marL="0">
              <a:buNone/>
            </a:pPr>
            <a:r>
              <a:rPr lang="en-US" sz="1100" dirty="0">
                <a:solidFill>
                  <a:srgbClr val="91A0B4"/>
                </a:solidFill>
                <a:latin typeface="Aptos" pitchFamily="34" charset="0"/>
                <a:ea typeface="Aptos" pitchFamily="34" charset="-122"/>
                <a:cs typeface="Aptos" pitchFamily="34" charset="-120"/>
              </a:rPr>
              <a:t>name@example.com</a:t>
            </a:r>
            <a:endParaRPr lang="en-US" sz="1100" dirty="0"/>
          </a:p>
        </p:txBody>
      </p:sp>
      <p:sp>
        <p:nvSpPr>
          <p:cNvPr id="13" name="Text 11"/>
          <p:cNvSpPr txBox="1"/>
          <p:nvPr/>
        </p:nvSpPr>
        <p:spPr>
          <a:xfrm>
            <a:off x="987552" y="4315968"/>
            <a:ext cx="2651760" cy="228600"/>
          </a:xfrm>
          <a:prstGeom prst="rect">
            <a:avLst/>
          </a:prstGeom>
          <a:noFill/>
          <a:ln/>
        </p:spPr>
        <p:txBody>
          <a:bodyPr wrap="square" lIns="0" tIns="0" rIns="0" bIns="0" rtlCol="0" anchor="ctr">
            <a:normAutofit/>
          </a:bodyPr>
          <a:lstStyle/>
          <a:p>
            <a:pPr algn="l" indent="0" marL="0">
              <a:buNone/>
            </a:pPr>
            <a:r>
              <a:rPr lang="en-US" sz="1100" b="1" dirty="0">
                <a:solidFill>
                  <a:srgbClr val="182230"/>
                </a:solidFill>
                <a:latin typeface="Aptos" pitchFamily="34" charset="0"/>
                <a:ea typeface="Aptos" pitchFamily="34" charset="-122"/>
                <a:cs typeface="Aptos" pitchFamily="34" charset="-120"/>
              </a:rPr>
              <a:t>Password</a:t>
            </a:r>
            <a:endParaRPr lang="en-US" sz="1100" dirty="0"/>
          </a:p>
        </p:txBody>
      </p:sp>
      <p:sp>
        <p:nvSpPr>
          <p:cNvPr id="14" name="Shape 12"/>
          <p:cNvSpPr/>
          <p:nvPr/>
        </p:nvSpPr>
        <p:spPr>
          <a:xfrm>
            <a:off x="987552" y="4590288"/>
            <a:ext cx="3429000" cy="448056"/>
          </a:xfrm>
          <a:prstGeom prst="roundRect">
            <a:avLst>
              <a:gd name="adj" fmla="val 24490"/>
            </a:avLst>
          </a:prstGeom>
          <a:solidFill>
            <a:srgbClr val="FFFFFF"/>
          </a:solidFill>
          <a:ln w="12700">
            <a:solidFill>
              <a:srgbClr val="CAD5E3"/>
            </a:solidFill>
            <a:prstDash val="solid"/>
          </a:ln>
        </p:spPr>
      </p:sp>
      <p:sp>
        <p:nvSpPr>
          <p:cNvPr id="15" name="Text 13"/>
          <p:cNvSpPr txBox="1"/>
          <p:nvPr/>
        </p:nvSpPr>
        <p:spPr>
          <a:xfrm>
            <a:off x="1143000" y="4681728"/>
            <a:ext cx="3017520" cy="237744"/>
          </a:xfrm>
          <a:prstGeom prst="rect">
            <a:avLst/>
          </a:prstGeom>
          <a:noFill/>
          <a:ln/>
        </p:spPr>
        <p:txBody>
          <a:bodyPr wrap="square" lIns="0" tIns="0" rIns="0" bIns="0" rtlCol="0" anchor="ctr">
            <a:normAutofit/>
          </a:bodyPr>
          <a:lstStyle/>
          <a:p>
            <a:pPr algn="l" indent="0" marL="0">
              <a:buNone/>
            </a:pPr>
            <a:r>
              <a:rPr lang="en-US" sz="1100" dirty="0">
                <a:solidFill>
                  <a:srgbClr val="91A0B4"/>
                </a:solidFill>
                <a:latin typeface="Aptos" pitchFamily="34" charset="0"/>
                <a:ea typeface="Aptos" pitchFamily="34" charset="-122"/>
                <a:cs typeface="Aptos" pitchFamily="34" charset="-120"/>
              </a:rPr>
              <a:t>••••••••</a:t>
            </a:r>
            <a:endParaRPr lang="en-US" sz="1100" dirty="0"/>
          </a:p>
        </p:txBody>
      </p:sp>
      <p:sp>
        <p:nvSpPr>
          <p:cNvPr id="16" name="Shape 14"/>
          <p:cNvSpPr/>
          <p:nvPr/>
        </p:nvSpPr>
        <p:spPr>
          <a:xfrm>
            <a:off x="987552" y="5257800"/>
            <a:ext cx="3429000" cy="438912"/>
          </a:xfrm>
          <a:prstGeom prst="roundRect">
            <a:avLst>
              <a:gd name="adj" fmla="val 25000"/>
            </a:avLst>
          </a:prstGeom>
          <a:solidFill>
            <a:srgbClr val="16B7A4"/>
          </a:solidFill>
          <a:ln w="1270">
            <a:solidFill>
              <a:srgbClr val="16B7A4">
                <a:alpha val="0"/>
              </a:srgbClr>
            </a:solidFill>
            <a:prstDash val="solid"/>
          </a:ln>
        </p:spPr>
      </p:sp>
      <p:sp>
        <p:nvSpPr>
          <p:cNvPr id="17" name="Text 15"/>
          <p:cNvSpPr txBox="1"/>
          <p:nvPr/>
        </p:nvSpPr>
        <p:spPr>
          <a:xfrm>
            <a:off x="987552" y="5340096"/>
            <a:ext cx="3429000" cy="25603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Create account</a:t>
            </a:r>
            <a:endParaRPr lang="en-US" sz="1250" dirty="0"/>
          </a:p>
        </p:txBody>
      </p:sp>
      <p:sp>
        <p:nvSpPr>
          <p:cNvPr id="18" name="Shape 16"/>
          <p:cNvSpPr/>
          <p:nvPr/>
        </p:nvSpPr>
        <p:spPr>
          <a:xfrm>
            <a:off x="5102352" y="1719072"/>
            <a:ext cx="6391656" cy="4279392"/>
          </a:xfrm>
          <a:prstGeom prst="roundRect">
            <a:avLst>
              <a:gd name="adj" fmla="val 2564"/>
            </a:avLst>
          </a:prstGeom>
          <a:solidFill>
            <a:srgbClr val="101B2B"/>
          </a:solidFill>
          <a:ln w="1270">
            <a:solidFill>
              <a:srgbClr val="101B2B">
                <a:alpha val="0"/>
              </a:srgbClr>
            </a:solidFill>
            <a:prstDash val="solid"/>
          </a:ln>
        </p:spPr>
      </p:sp>
      <p:sp>
        <p:nvSpPr>
          <p:cNvPr id="19" name="Text 17"/>
          <p:cNvSpPr txBox="1"/>
          <p:nvPr/>
        </p:nvSpPr>
        <p:spPr>
          <a:xfrm>
            <a:off x="5422392" y="1984248"/>
            <a:ext cx="2011680" cy="27432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HTML idea</a:t>
            </a:r>
            <a:endParaRPr lang="en-US" sz="1700" dirty="0"/>
          </a:p>
        </p:txBody>
      </p:sp>
      <p:sp>
        <p:nvSpPr>
          <p:cNvPr id="20" name="Shape 18"/>
          <p:cNvSpPr/>
          <p:nvPr/>
        </p:nvSpPr>
        <p:spPr>
          <a:xfrm>
            <a:off x="5394960" y="2395728"/>
            <a:ext cx="5779008" cy="2267712"/>
          </a:xfrm>
          <a:prstGeom prst="roundRect">
            <a:avLst>
              <a:gd name="adj" fmla="val 4839"/>
            </a:avLst>
          </a:prstGeom>
          <a:solidFill>
            <a:srgbClr val="101B2B"/>
          </a:solidFill>
          <a:ln w="1270">
            <a:solidFill>
              <a:srgbClr val="101B2B">
                <a:alpha val="0"/>
              </a:srgbClr>
            </a:solidFill>
            <a:prstDash val="solid"/>
          </a:ln>
        </p:spPr>
      </p:sp>
      <p:sp>
        <p:nvSpPr>
          <p:cNvPr id="21" name="Shape 19"/>
          <p:cNvSpPr/>
          <p:nvPr/>
        </p:nvSpPr>
        <p:spPr>
          <a:xfrm>
            <a:off x="5559552" y="2532888"/>
            <a:ext cx="82296" cy="82296"/>
          </a:xfrm>
          <a:prstGeom prst="ellipse">
            <a:avLst/>
          </a:prstGeom>
          <a:solidFill>
            <a:srgbClr val="FF826E"/>
          </a:solidFill>
          <a:ln w="12700">
            <a:solidFill>
              <a:srgbClr val="FF826E"/>
            </a:solidFill>
            <a:prstDash val="solid"/>
          </a:ln>
        </p:spPr>
      </p:sp>
      <p:sp>
        <p:nvSpPr>
          <p:cNvPr id="22" name="Shape 20"/>
          <p:cNvSpPr/>
          <p:nvPr/>
        </p:nvSpPr>
        <p:spPr>
          <a:xfrm>
            <a:off x="5687568" y="2532888"/>
            <a:ext cx="82296" cy="82296"/>
          </a:xfrm>
          <a:prstGeom prst="ellipse">
            <a:avLst/>
          </a:prstGeom>
          <a:solidFill>
            <a:srgbClr val="F4C45E"/>
          </a:solidFill>
          <a:ln w="12700">
            <a:solidFill>
              <a:srgbClr val="F4C45E"/>
            </a:solidFill>
            <a:prstDash val="solid"/>
          </a:ln>
        </p:spPr>
      </p:sp>
      <p:sp>
        <p:nvSpPr>
          <p:cNvPr id="23" name="Shape 21"/>
          <p:cNvSpPr/>
          <p:nvPr/>
        </p:nvSpPr>
        <p:spPr>
          <a:xfrm>
            <a:off x="5815584" y="2532888"/>
            <a:ext cx="82296" cy="82296"/>
          </a:xfrm>
          <a:prstGeom prst="ellipse">
            <a:avLst/>
          </a:prstGeom>
          <a:solidFill>
            <a:srgbClr val="16B7A4"/>
          </a:solidFill>
          <a:ln w="12700">
            <a:solidFill>
              <a:srgbClr val="16B7A4"/>
            </a:solidFill>
            <a:prstDash val="solid"/>
          </a:ln>
        </p:spPr>
      </p:sp>
      <p:sp>
        <p:nvSpPr>
          <p:cNvPr id="24" name="Text 22"/>
          <p:cNvSpPr/>
          <p:nvPr/>
        </p:nvSpPr>
        <p:spPr>
          <a:xfrm>
            <a:off x="5596128" y="2788920"/>
            <a:ext cx="5394960" cy="1755648"/>
          </a:xfrm>
          <a:prstGeom prst="rect">
            <a:avLst/>
          </a:prstGeom>
          <a:noFill/>
          <a:ln/>
        </p:spPr>
        <p:txBody>
          <a:bodyPr wrap="square" lIns="0" tIns="0" rIns="0" bIns="0" rtlCol="0" anchor="t">
            <a:normAutofit/>
          </a:bodyPr>
          <a:lstStyle/>
          <a:p>
            <a:pPr indent="0" marL="0">
              <a:buNone/>
            </a:pPr>
            <a:r>
              <a:rPr lang="en-US" sz="1130" dirty="0">
                <a:solidFill>
                  <a:srgbClr val="FF9EAA"/>
                </a:solidFill>
                <a:latin typeface="Consolas" pitchFamily="34" charset="0"/>
                <a:ea typeface="Consolas" pitchFamily="34" charset="-122"/>
                <a:cs typeface="Consolas" pitchFamily="34" charset="-120"/>
              </a:rPr>
              <a:t>&lt;label for="email"&gt;Email&lt;/label&gt;</a:t>
            </a:r>
            <a:endParaRPr lang="en-US" sz="1130" dirty="0"/>
          </a:p>
          <a:p>
            <a:pPr indent="0" marL="0">
              <a:buNone/>
            </a:pPr>
            <a:r>
              <a:rPr lang="en-US" sz="1130" dirty="0">
                <a:solidFill>
                  <a:srgbClr val="DCE8F5"/>
                </a:solidFill>
                <a:latin typeface="Consolas" pitchFamily="34" charset="0"/>
                <a:ea typeface="Consolas" pitchFamily="34" charset="-122"/>
                <a:cs typeface="Consolas" pitchFamily="34" charset="-120"/>
              </a:rPr>
              <a:t>&lt;input id="email" type="email"</a:t>
            </a:r>
            <a:endParaRPr lang="en-US" sz="1130" dirty="0"/>
          </a:p>
          <a:p>
            <a:pPr indent="0" marL="0">
              <a:buNone/>
            </a:pPr>
            <a:r>
              <a:rPr lang="en-US" sz="1130" dirty="0">
                <a:solidFill>
                  <a:srgbClr val="9AE6B4"/>
                </a:solidFill>
                <a:latin typeface="Consolas" pitchFamily="34" charset="0"/>
                <a:ea typeface="Consolas" pitchFamily="34" charset="-122"/>
                <a:cs typeface="Consolas" pitchFamily="34" charset="-120"/>
              </a:rPr>
              <a:t>       required&gt;</a:t>
            </a:r>
            <a:endParaRPr lang="en-US" sz="1130" dirty="0"/>
          </a:p>
          <a:p>
            <a:pPr indent="0" marL="0">
              <a:buNone/>
            </a:pPr>
            <a:r>
              <a:rPr lang="en-US" sz="1130" dirty="0">
                <a:solidFill>
                  <a:srgbClr val="DCE8F5"/>
                </a:solidFill>
                <a:latin typeface="Consolas" pitchFamily="34" charset="0"/>
                <a:ea typeface="Consolas" pitchFamily="34" charset="-122"/>
                <a:cs typeface="Consolas" pitchFamily="34" charset="-120"/>
              </a:rPr>
              <a:t>&lt;button type="submit"&gt;Sign up&lt;/button&gt;</a:t>
            </a:r>
            <a:endParaRPr lang="en-US" sz="1130" dirty="0"/>
          </a:p>
        </p:txBody>
      </p:sp>
      <p:sp>
        <p:nvSpPr>
          <p:cNvPr id="25" name="Shape 23"/>
          <p:cNvSpPr/>
          <p:nvPr/>
        </p:nvSpPr>
        <p:spPr>
          <a:xfrm>
            <a:off x="5468112" y="5001768"/>
            <a:ext cx="82296" cy="82296"/>
          </a:xfrm>
          <a:prstGeom prst="ellipse">
            <a:avLst/>
          </a:prstGeom>
          <a:solidFill>
            <a:srgbClr val="16B7A4"/>
          </a:solidFill>
          <a:ln w="12700">
            <a:solidFill>
              <a:srgbClr val="16B7A4"/>
            </a:solidFill>
            <a:prstDash val="solid"/>
          </a:ln>
        </p:spPr>
      </p:sp>
      <p:sp>
        <p:nvSpPr>
          <p:cNvPr id="26" name="Text 24"/>
          <p:cNvSpPr txBox="1"/>
          <p:nvPr/>
        </p:nvSpPr>
        <p:spPr>
          <a:xfrm>
            <a:off x="5669280" y="4892040"/>
            <a:ext cx="5193792" cy="292608"/>
          </a:xfrm>
          <a:prstGeom prst="rect">
            <a:avLst/>
          </a:prstGeom>
          <a:noFill/>
          <a:ln/>
        </p:spPr>
        <p:txBody>
          <a:bodyPr wrap="square" lIns="0" tIns="0" rIns="0" bIns="0" rtlCol="0" anchor="t">
            <a:normAutofit/>
          </a:bodyPr>
          <a:lstStyle/>
          <a:p>
            <a:pPr algn="l" indent="0" marL="0">
              <a:buNone/>
            </a:pPr>
            <a:r>
              <a:rPr lang="en-US" sz="1250" dirty="0">
                <a:solidFill>
                  <a:srgbClr val="182230"/>
                </a:solidFill>
                <a:latin typeface="Aptos" pitchFamily="34" charset="0"/>
                <a:ea typeface="Aptos" pitchFamily="34" charset="-122"/>
                <a:cs typeface="Aptos" pitchFamily="34" charset="-120"/>
              </a:rPr>
              <a:t>Use a label for every input.</a:t>
            </a:r>
            <a:endParaRPr lang="en-US" sz="1250" dirty="0"/>
          </a:p>
        </p:txBody>
      </p:sp>
      <p:sp>
        <p:nvSpPr>
          <p:cNvPr id="27" name="Shape 25"/>
          <p:cNvSpPr/>
          <p:nvPr/>
        </p:nvSpPr>
        <p:spPr>
          <a:xfrm>
            <a:off x="5468112" y="5394960"/>
            <a:ext cx="82296" cy="82296"/>
          </a:xfrm>
          <a:prstGeom prst="ellipse">
            <a:avLst/>
          </a:prstGeom>
          <a:solidFill>
            <a:srgbClr val="FF826E"/>
          </a:solidFill>
          <a:ln w="12700">
            <a:solidFill>
              <a:srgbClr val="FF826E"/>
            </a:solidFill>
            <a:prstDash val="solid"/>
          </a:ln>
        </p:spPr>
      </p:sp>
      <p:sp>
        <p:nvSpPr>
          <p:cNvPr id="28" name="Text 26"/>
          <p:cNvSpPr txBox="1"/>
          <p:nvPr/>
        </p:nvSpPr>
        <p:spPr>
          <a:xfrm>
            <a:off x="5669280" y="5285232"/>
            <a:ext cx="5193792" cy="475488"/>
          </a:xfrm>
          <a:prstGeom prst="rect">
            <a:avLst/>
          </a:prstGeom>
          <a:noFill/>
          <a:ln/>
        </p:spPr>
        <p:txBody>
          <a:bodyPr wrap="square" lIns="0" tIns="0" rIns="0" bIns="0" rtlCol="0" anchor="t">
            <a:normAutofit/>
          </a:bodyPr>
          <a:lstStyle/>
          <a:p>
            <a:pPr algn="l" indent="0" marL="0">
              <a:buNone/>
            </a:pPr>
            <a:r>
              <a:rPr lang="en-US" sz="1220" dirty="0">
                <a:solidFill>
                  <a:srgbClr val="182230"/>
                </a:solidFill>
                <a:latin typeface="Aptos" pitchFamily="34" charset="0"/>
                <a:ea typeface="Aptos" pitchFamily="34" charset="-122"/>
                <a:cs typeface="Aptos" pitchFamily="34" charset="-120"/>
              </a:rPr>
              <a:t>required and type="email" provide basic browser validation.</a:t>
            </a:r>
            <a:endParaRPr lang="en-US" sz="1220" dirty="0"/>
          </a:p>
        </p:txBody>
      </p:sp>
      <p:sp>
        <p:nvSpPr>
          <p:cNvPr id="29" name="Text 27"/>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Source: The Odin Project — Forms and Form Validation topics</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11</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Flexbox vs Grid: choose the right layout</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Both organize elements. The easiest choice depends on whether you are arranging one dimension or two.</a:t>
            </a:r>
            <a:endParaRPr lang="en-US" sz="1250" dirty="0"/>
          </a:p>
        </p:txBody>
      </p:sp>
      <p:sp>
        <p:nvSpPr>
          <p:cNvPr id="5" name="Shape 3"/>
          <p:cNvSpPr/>
          <p:nvPr/>
        </p:nvSpPr>
        <p:spPr>
          <a:xfrm>
            <a:off x="685800" y="1783080"/>
            <a:ext cx="5257800" cy="4096512"/>
          </a:xfrm>
          <a:prstGeom prst="roundRect">
            <a:avLst>
              <a:gd name="adj" fmla="val 2679"/>
            </a:avLst>
          </a:prstGeom>
          <a:solidFill>
            <a:srgbClr val="FFFFFF"/>
          </a:solidFill>
          <a:ln w="12700">
            <a:solidFill>
              <a:srgbClr val="DEE5EE"/>
            </a:solidFill>
            <a:prstDash val="solid"/>
          </a:ln>
        </p:spPr>
      </p:sp>
      <p:sp>
        <p:nvSpPr>
          <p:cNvPr id="6" name="Shape 4"/>
          <p:cNvSpPr/>
          <p:nvPr/>
        </p:nvSpPr>
        <p:spPr>
          <a:xfrm>
            <a:off x="960120" y="2029968"/>
            <a:ext cx="1115568" cy="283464"/>
          </a:xfrm>
          <a:prstGeom prst="roundRect">
            <a:avLst>
              <a:gd name="adj" fmla="val 38710"/>
            </a:avLst>
          </a:prstGeom>
          <a:solidFill>
            <a:srgbClr val="DDF7F2"/>
          </a:solidFill>
          <a:ln w="1270">
            <a:solidFill>
              <a:srgbClr val="DDF7F2">
                <a:alpha val="0"/>
              </a:srgbClr>
            </a:solidFill>
            <a:prstDash val="solid"/>
          </a:ln>
        </p:spPr>
      </p:sp>
      <p:sp>
        <p:nvSpPr>
          <p:cNvPr id="7" name="Text 5"/>
          <p:cNvSpPr txBox="1"/>
          <p:nvPr/>
        </p:nvSpPr>
        <p:spPr>
          <a:xfrm>
            <a:off x="1033272" y="2043684"/>
            <a:ext cx="969264"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16B7A4"/>
                </a:solidFill>
                <a:latin typeface="Aptos" pitchFamily="34" charset="0"/>
                <a:ea typeface="Aptos" pitchFamily="34" charset="-122"/>
                <a:cs typeface="Aptos" pitchFamily="34" charset="-120"/>
              </a:rPr>
              <a:t>FLEXBOX</a:t>
            </a:r>
            <a:endParaRPr lang="en-US" sz="900" dirty="0"/>
          </a:p>
        </p:txBody>
      </p:sp>
      <p:sp>
        <p:nvSpPr>
          <p:cNvPr id="8" name="Text 6"/>
          <p:cNvSpPr txBox="1"/>
          <p:nvPr/>
        </p:nvSpPr>
        <p:spPr>
          <a:xfrm>
            <a:off x="960120" y="2487168"/>
            <a:ext cx="4206240" cy="283464"/>
          </a:xfrm>
          <a:prstGeom prst="rect">
            <a:avLst/>
          </a:prstGeom>
          <a:noFill/>
          <a:ln/>
        </p:spPr>
        <p:txBody>
          <a:bodyPr wrap="square" lIns="0" tIns="0" rIns="0" bIns="0" rtlCol="0" anchor="ctr">
            <a:normAutofit/>
          </a:bodyPr>
          <a:lstStyle/>
          <a:p>
            <a:pPr algn="l" indent="0" marL="0">
              <a:buNone/>
            </a:pPr>
            <a:r>
              <a:rPr lang="en-US" sz="1800" b="1" dirty="0">
                <a:solidFill>
                  <a:srgbClr val="101828"/>
                </a:solidFill>
                <a:latin typeface="Aptos" pitchFamily="34" charset="0"/>
                <a:ea typeface="Aptos" pitchFamily="34" charset="-122"/>
                <a:cs typeface="Aptos" pitchFamily="34" charset="-120"/>
              </a:rPr>
              <a:t>Best for one direction</a:t>
            </a:r>
            <a:endParaRPr lang="en-US" sz="1800" dirty="0"/>
          </a:p>
        </p:txBody>
      </p:sp>
      <p:sp>
        <p:nvSpPr>
          <p:cNvPr id="9" name="Text 7"/>
          <p:cNvSpPr txBox="1"/>
          <p:nvPr/>
        </p:nvSpPr>
        <p:spPr>
          <a:xfrm>
            <a:off x="960120" y="2852928"/>
            <a:ext cx="4389120" cy="310896"/>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A row OR a column: menus, buttons, toolbars.</a:t>
            </a:r>
            <a:endParaRPr lang="en-US" sz="1250" dirty="0"/>
          </a:p>
        </p:txBody>
      </p:sp>
      <p:sp>
        <p:nvSpPr>
          <p:cNvPr id="10" name="Shape 8"/>
          <p:cNvSpPr/>
          <p:nvPr/>
        </p:nvSpPr>
        <p:spPr>
          <a:xfrm>
            <a:off x="1005840" y="3456432"/>
            <a:ext cx="4526280" cy="804672"/>
          </a:xfrm>
          <a:prstGeom prst="roundRect">
            <a:avLst>
              <a:gd name="adj" fmla="val 13636"/>
            </a:avLst>
          </a:prstGeom>
          <a:solidFill>
            <a:srgbClr val="F0F7F8"/>
          </a:solidFill>
          <a:ln w="12700">
            <a:solidFill>
              <a:srgbClr val="D6EAE8"/>
            </a:solidFill>
            <a:prstDash val="solid"/>
          </a:ln>
        </p:spPr>
      </p:sp>
      <p:sp>
        <p:nvSpPr>
          <p:cNvPr id="11" name="Shape 9"/>
          <p:cNvSpPr/>
          <p:nvPr/>
        </p:nvSpPr>
        <p:spPr>
          <a:xfrm>
            <a:off x="1170432" y="3648456"/>
            <a:ext cx="1225296" cy="411480"/>
          </a:xfrm>
          <a:prstGeom prst="roundRect">
            <a:avLst>
              <a:gd name="adj" fmla="val 26667"/>
            </a:avLst>
          </a:prstGeom>
          <a:solidFill>
            <a:srgbClr val="E8EDFF"/>
          </a:solidFill>
          <a:ln w="1270">
            <a:solidFill>
              <a:srgbClr val="E8EDFF">
                <a:alpha val="0"/>
              </a:srgbClr>
            </a:solidFill>
            <a:prstDash val="solid"/>
          </a:ln>
        </p:spPr>
      </p:sp>
      <p:sp>
        <p:nvSpPr>
          <p:cNvPr id="12" name="Text 10"/>
          <p:cNvSpPr txBox="1"/>
          <p:nvPr/>
        </p:nvSpPr>
        <p:spPr>
          <a:xfrm>
            <a:off x="1188720" y="3730752"/>
            <a:ext cx="1188720" cy="237744"/>
          </a:xfrm>
          <a:prstGeom prst="rect">
            <a:avLst/>
          </a:prstGeom>
          <a:noFill/>
          <a:ln/>
        </p:spPr>
        <p:txBody>
          <a:bodyPr wrap="square" lIns="0" tIns="0" rIns="0" bIns="0" rtlCol="0" anchor="ctr">
            <a:normAutofit/>
          </a:bodyPr>
          <a:lstStyle/>
          <a:p>
            <a:pPr algn="ctr" indent="0" marL="0">
              <a:buNone/>
            </a:pPr>
            <a:r>
              <a:rPr lang="en-US" sz="1130" b="1" dirty="0">
                <a:solidFill>
                  <a:srgbClr val="5272F2"/>
                </a:solidFill>
                <a:latin typeface="Aptos" pitchFamily="34" charset="0"/>
                <a:ea typeface="Aptos" pitchFamily="34" charset="-122"/>
                <a:cs typeface="Aptos" pitchFamily="34" charset="-120"/>
              </a:rPr>
              <a:t>Home</a:t>
            </a:r>
            <a:endParaRPr lang="en-US" sz="1130" dirty="0"/>
          </a:p>
        </p:txBody>
      </p:sp>
      <p:sp>
        <p:nvSpPr>
          <p:cNvPr id="13" name="Shape 11"/>
          <p:cNvSpPr/>
          <p:nvPr/>
        </p:nvSpPr>
        <p:spPr>
          <a:xfrm>
            <a:off x="2560320" y="3648456"/>
            <a:ext cx="1225296" cy="411480"/>
          </a:xfrm>
          <a:prstGeom prst="roundRect">
            <a:avLst>
              <a:gd name="adj" fmla="val 26667"/>
            </a:avLst>
          </a:prstGeom>
          <a:solidFill>
            <a:srgbClr val="DDF7F2"/>
          </a:solidFill>
          <a:ln w="1270">
            <a:solidFill>
              <a:srgbClr val="DDF7F2">
                <a:alpha val="0"/>
              </a:srgbClr>
            </a:solidFill>
            <a:prstDash val="solid"/>
          </a:ln>
        </p:spPr>
      </p:sp>
      <p:sp>
        <p:nvSpPr>
          <p:cNvPr id="14" name="Text 12"/>
          <p:cNvSpPr txBox="1"/>
          <p:nvPr/>
        </p:nvSpPr>
        <p:spPr>
          <a:xfrm>
            <a:off x="2578608" y="3730752"/>
            <a:ext cx="1188720" cy="237744"/>
          </a:xfrm>
          <a:prstGeom prst="rect">
            <a:avLst/>
          </a:prstGeom>
          <a:noFill/>
          <a:ln/>
        </p:spPr>
        <p:txBody>
          <a:bodyPr wrap="square" lIns="0" tIns="0" rIns="0" bIns="0" rtlCol="0" anchor="ctr">
            <a:normAutofit/>
          </a:bodyPr>
          <a:lstStyle/>
          <a:p>
            <a:pPr algn="ctr" indent="0" marL="0">
              <a:buNone/>
            </a:pPr>
            <a:r>
              <a:rPr lang="en-US" sz="1130" b="1" dirty="0">
                <a:solidFill>
                  <a:srgbClr val="16B7A4"/>
                </a:solidFill>
                <a:latin typeface="Aptos" pitchFamily="34" charset="0"/>
                <a:ea typeface="Aptos" pitchFamily="34" charset="-122"/>
                <a:cs typeface="Aptos" pitchFamily="34" charset="-120"/>
              </a:rPr>
              <a:t>About</a:t>
            </a:r>
            <a:endParaRPr lang="en-US" sz="1130" dirty="0"/>
          </a:p>
        </p:txBody>
      </p:sp>
      <p:sp>
        <p:nvSpPr>
          <p:cNvPr id="15" name="Shape 13"/>
          <p:cNvSpPr/>
          <p:nvPr/>
        </p:nvSpPr>
        <p:spPr>
          <a:xfrm>
            <a:off x="3950208" y="3648456"/>
            <a:ext cx="1225296" cy="411480"/>
          </a:xfrm>
          <a:prstGeom prst="roundRect">
            <a:avLst>
              <a:gd name="adj" fmla="val 26667"/>
            </a:avLst>
          </a:prstGeom>
          <a:solidFill>
            <a:srgbClr val="FFE8E3"/>
          </a:solidFill>
          <a:ln w="1270">
            <a:solidFill>
              <a:srgbClr val="FFE8E3">
                <a:alpha val="0"/>
              </a:srgbClr>
            </a:solidFill>
            <a:prstDash val="solid"/>
          </a:ln>
        </p:spPr>
      </p:sp>
      <p:sp>
        <p:nvSpPr>
          <p:cNvPr id="16" name="Text 14"/>
          <p:cNvSpPr txBox="1"/>
          <p:nvPr/>
        </p:nvSpPr>
        <p:spPr>
          <a:xfrm>
            <a:off x="3968496" y="3730752"/>
            <a:ext cx="1188720" cy="237744"/>
          </a:xfrm>
          <a:prstGeom prst="rect">
            <a:avLst/>
          </a:prstGeom>
          <a:noFill/>
          <a:ln/>
        </p:spPr>
        <p:txBody>
          <a:bodyPr wrap="square" lIns="0" tIns="0" rIns="0" bIns="0" rtlCol="0" anchor="ctr">
            <a:normAutofit/>
          </a:bodyPr>
          <a:lstStyle/>
          <a:p>
            <a:pPr algn="ctr" indent="0" marL="0">
              <a:buNone/>
            </a:pPr>
            <a:r>
              <a:rPr lang="en-US" sz="1130" b="1" dirty="0">
                <a:solidFill>
                  <a:srgbClr val="FF826E"/>
                </a:solidFill>
                <a:latin typeface="Aptos" pitchFamily="34" charset="0"/>
                <a:ea typeface="Aptos" pitchFamily="34" charset="-122"/>
                <a:cs typeface="Aptos" pitchFamily="34" charset="-120"/>
              </a:rPr>
              <a:t>Contact</a:t>
            </a:r>
            <a:endParaRPr lang="en-US" sz="1130" dirty="0"/>
          </a:p>
        </p:txBody>
      </p:sp>
      <p:sp>
        <p:nvSpPr>
          <p:cNvPr id="17" name="Shape 15"/>
          <p:cNvSpPr/>
          <p:nvPr/>
        </p:nvSpPr>
        <p:spPr>
          <a:xfrm>
            <a:off x="969264" y="4526280"/>
            <a:ext cx="4572000" cy="859536"/>
          </a:xfrm>
          <a:prstGeom prst="roundRect">
            <a:avLst>
              <a:gd name="adj" fmla="val 12766"/>
            </a:avLst>
          </a:prstGeom>
          <a:solidFill>
            <a:srgbClr val="101B2B"/>
          </a:solidFill>
          <a:ln w="1270">
            <a:solidFill>
              <a:srgbClr val="101B2B">
                <a:alpha val="0"/>
              </a:srgbClr>
            </a:solidFill>
            <a:prstDash val="solid"/>
          </a:ln>
        </p:spPr>
      </p:sp>
      <p:sp>
        <p:nvSpPr>
          <p:cNvPr id="18" name="Shape 16"/>
          <p:cNvSpPr/>
          <p:nvPr/>
        </p:nvSpPr>
        <p:spPr>
          <a:xfrm>
            <a:off x="1133856" y="4663440"/>
            <a:ext cx="82296" cy="82296"/>
          </a:xfrm>
          <a:prstGeom prst="ellipse">
            <a:avLst/>
          </a:prstGeom>
          <a:solidFill>
            <a:srgbClr val="FF826E"/>
          </a:solidFill>
          <a:ln w="12700">
            <a:solidFill>
              <a:srgbClr val="FF826E"/>
            </a:solidFill>
            <a:prstDash val="solid"/>
          </a:ln>
        </p:spPr>
      </p:sp>
      <p:sp>
        <p:nvSpPr>
          <p:cNvPr id="19" name="Shape 17"/>
          <p:cNvSpPr/>
          <p:nvPr/>
        </p:nvSpPr>
        <p:spPr>
          <a:xfrm>
            <a:off x="1261872" y="4663440"/>
            <a:ext cx="82296" cy="82296"/>
          </a:xfrm>
          <a:prstGeom prst="ellipse">
            <a:avLst/>
          </a:prstGeom>
          <a:solidFill>
            <a:srgbClr val="F4C45E"/>
          </a:solidFill>
          <a:ln w="12700">
            <a:solidFill>
              <a:srgbClr val="F4C45E"/>
            </a:solidFill>
            <a:prstDash val="solid"/>
          </a:ln>
        </p:spPr>
      </p:sp>
      <p:sp>
        <p:nvSpPr>
          <p:cNvPr id="20" name="Shape 18"/>
          <p:cNvSpPr/>
          <p:nvPr/>
        </p:nvSpPr>
        <p:spPr>
          <a:xfrm>
            <a:off x="1389888" y="4663440"/>
            <a:ext cx="82296" cy="82296"/>
          </a:xfrm>
          <a:prstGeom prst="ellipse">
            <a:avLst/>
          </a:prstGeom>
          <a:solidFill>
            <a:srgbClr val="16B7A4"/>
          </a:solidFill>
          <a:ln w="12700">
            <a:solidFill>
              <a:srgbClr val="16B7A4"/>
            </a:solidFill>
            <a:prstDash val="solid"/>
          </a:ln>
        </p:spPr>
      </p:sp>
      <p:sp>
        <p:nvSpPr>
          <p:cNvPr id="21" name="Text 19"/>
          <p:cNvSpPr/>
          <p:nvPr/>
        </p:nvSpPr>
        <p:spPr>
          <a:xfrm>
            <a:off x="1170432" y="4919472"/>
            <a:ext cx="4187952" cy="347472"/>
          </a:xfrm>
          <a:prstGeom prst="rect">
            <a:avLst/>
          </a:prstGeom>
          <a:noFill/>
          <a:ln/>
        </p:spPr>
        <p:txBody>
          <a:bodyPr wrap="square" lIns="0" tIns="0" rIns="0" bIns="0" rtlCol="0" anchor="t">
            <a:normAutofit/>
          </a:bodyPr>
          <a:lstStyle/>
          <a:p>
            <a:pPr indent="0" marL="0">
              <a:buNone/>
            </a:pPr>
            <a:r>
              <a:rPr lang="en-US" sz="1200" dirty="0">
                <a:solidFill>
                  <a:srgbClr val="9AE6B4"/>
                </a:solidFill>
                <a:latin typeface="Consolas" pitchFamily="34" charset="0"/>
                <a:ea typeface="Consolas" pitchFamily="34" charset="-122"/>
                <a:cs typeface="Consolas" pitchFamily="34" charset="-120"/>
              </a:rPr>
              <a:t>display: flex;  gap: 1rem;</a:t>
            </a:r>
            <a:endParaRPr lang="en-US" sz="1200" dirty="0"/>
          </a:p>
        </p:txBody>
      </p:sp>
      <p:sp>
        <p:nvSpPr>
          <p:cNvPr id="22" name="Shape 20"/>
          <p:cNvSpPr/>
          <p:nvPr/>
        </p:nvSpPr>
        <p:spPr>
          <a:xfrm>
            <a:off x="6199632" y="1783080"/>
            <a:ext cx="5303520" cy="4096512"/>
          </a:xfrm>
          <a:prstGeom prst="roundRect">
            <a:avLst>
              <a:gd name="adj" fmla="val 2679"/>
            </a:avLst>
          </a:prstGeom>
          <a:solidFill>
            <a:srgbClr val="FFFFFF"/>
          </a:solidFill>
          <a:ln w="12700">
            <a:solidFill>
              <a:srgbClr val="DEE5EE"/>
            </a:solidFill>
            <a:prstDash val="solid"/>
          </a:ln>
        </p:spPr>
      </p:sp>
      <p:sp>
        <p:nvSpPr>
          <p:cNvPr id="23" name="Shape 21"/>
          <p:cNvSpPr/>
          <p:nvPr/>
        </p:nvSpPr>
        <p:spPr>
          <a:xfrm>
            <a:off x="6473952" y="2029968"/>
            <a:ext cx="822960" cy="283464"/>
          </a:xfrm>
          <a:prstGeom prst="roundRect">
            <a:avLst>
              <a:gd name="adj" fmla="val 38710"/>
            </a:avLst>
          </a:prstGeom>
          <a:solidFill>
            <a:srgbClr val="E8EDFF"/>
          </a:solidFill>
          <a:ln w="1270">
            <a:solidFill>
              <a:srgbClr val="E8EDFF">
                <a:alpha val="0"/>
              </a:srgbClr>
            </a:solidFill>
            <a:prstDash val="solid"/>
          </a:ln>
        </p:spPr>
      </p:sp>
      <p:sp>
        <p:nvSpPr>
          <p:cNvPr id="24" name="Text 22"/>
          <p:cNvSpPr txBox="1"/>
          <p:nvPr/>
        </p:nvSpPr>
        <p:spPr>
          <a:xfrm>
            <a:off x="6547104" y="2043684"/>
            <a:ext cx="67665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5272F2"/>
                </a:solidFill>
                <a:latin typeface="Aptos" pitchFamily="34" charset="0"/>
                <a:ea typeface="Aptos" pitchFamily="34" charset="-122"/>
                <a:cs typeface="Aptos" pitchFamily="34" charset="-120"/>
              </a:rPr>
              <a:t>GRID</a:t>
            </a:r>
            <a:endParaRPr lang="en-US" sz="900" dirty="0"/>
          </a:p>
        </p:txBody>
      </p:sp>
      <p:sp>
        <p:nvSpPr>
          <p:cNvPr id="25" name="Text 23"/>
          <p:cNvSpPr txBox="1"/>
          <p:nvPr/>
        </p:nvSpPr>
        <p:spPr>
          <a:xfrm>
            <a:off x="6473952" y="2487168"/>
            <a:ext cx="4389120" cy="283464"/>
          </a:xfrm>
          <a:prstGeom prst="rect">
            <a:avLst/>
          </a:prstGeom>
          <a:noFill/>
          <a:ln/>
        </p:spPr>
        <p:txBody>
          <a:bodyPr wrap="square" lIns="0" tIns="0" rIns="0" bIns="0" rtlCol="0" anchor="ctr">
            <a:normAutofit/>
          </a:bodyPr>
          <a:lstStyle/>
          <a:p>
            <a:pPr algn="l" indent="0" marL="0">
              <a:buNone/>
            </a:pPr>
            <a:r>
              <a:rPr lang="en-US" sz="1800" b="1" dirty="0">
                <a:solidFill>
                  <a:srgbClr val="101828"/>
                </a:solidFill>
                <a:latin typeface="Aptos" pitchFamily="34" charset="0"/>
                <a:ea typeface="Aptos" pitchFamily="34" charset="-122"/>
                <a:cs typeface="Aptos" pitchFamily="34" charset="-120"/>
              </a:rPr>
              <a:t>Best for rows AND columns</a:t>
            </a:r>
            <a:endParaRPr lang="en-US" sz="1800" dirty="0"/>
          </a:p>
        </p:txBody>
      </p:sp>
      <p:sp>
        <p:nvSpPr>
          <p:cNvPr id="26" name="Text 24"/>
          <p:cNvSpPr txBox="1"/>
          <p:nvPr/>
        </p:nvSpPr>
        <p:spPr>
          <a:xfrm>
            <a:off x="6473952" y="2852928"/>
            <a:ext cx="4480560" cy="310896"/>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A 2D structure: dashboards, galleries, page sections.</a:t>
            </a:r>
            <a:endParaRPr lang="en-US" sz="1250" dirty="0"/>
          </a:p>
        </p:txBody>
      </p:sp>
      <p:sp>
        <p:nvSpPr>
          <p:cNvPr id="27" name="Shape 25"/>
          <p:cNvSpPr/>
          <p:nvPr/>
        </p:nvSpPr>
        <p:spPr>
          <a:xfrm>
            <a:off x="6537960" y="3419856"/>
            <a:ext cx="1325880" cy="475488"/>
          </a:xfrm>
          <a:prstGeom prst="roundRect">
            <a:avLst>
              <a:gd name="adj" fmla="val 23077"/>
            </a:avLst>
          </a:prstGeom>
          <a:solidFill>
            <a:srgbClr val="E8EDFF"/>
          </a:solidFill>
          <a:ln w="1270">
            <a:solidFill>
              <a:srgbClr val="E8EDFF">
                <a:alpha val="0"/>
              </a:srgbClr>
            </a:solidFill>
            <a:prstDash val="solid"/>
          </a:ln>
        </p:spPr>
      </p:sp>
      <p:sp>
        <p:nvSpPr>
          <p:cNvPr id="28" name="Text 26"/>
          <p:cNvSpPr txBox="1"/>
          <p:nvPr/>
        </p:nvSpPr>
        <p:spPr>
          <a:xfrm>
            <a:off x="6537960" y="3511296"/>
            <a:ext cx="1325880" cy="256032"/>
          </a:xfrm>
          <a:prstGeom prst="rect">
            <a:avLst/>
          </a:prstGeom>
          <a:noFill/>
          <a:ln/>
        </p:spPr>
        <p:txBody>
          <a:bodyPr wrap="square" lIns="0" tIns="0" rIns="0" bIns="0" rtlCol="0" anchor="ctr">
            <a:normAutofit/>
          </a:bodyPr>
          <a:lstStyle/>
          <a:p>
            <a:pPr algn="ctr" indent="0" marL="0">
              <a:buNone/>
            </a:pPr>
            <a:r>
              <a:rPr lang="en-US" sz="1100" b="1" dirty="0">
                <a:solidFill>
                  <a:srgbClr val="101828"/>
                </a:solidFill>
                <a:latin typeface="Aptos" pitchFamily="34" charset="0"/>
                <a:ea typeface="Aptos" pitchFamily="34" charset="-122"/>
                <a:cs typeface="Aptos" pitchFamily="34" charset="-120"/>
              </a:rPr>
              <a:t>Card 1</a:t>
            </a:r>
            <a:endParaRPr lang="en-US" sz="1100" dirty="0"/>
          </a:p>
        </p:txBody>
      </p:sp>
      <p:sp>
        <p:nvSpPr>
          <p:cNvPr id="29" name="Shape 27"/>
          <p:cNvSpPr/>
          <p:nvPr/>
        </p:nvSpPr>
        <p:spPr>
          <a:xfrm>
            <a:off x="7973568" y="3419856"/>
            <a:ext cx="1325880" cy="475488"/>
          </a:xfrm>
          <a:prstGeom prst="roundRect">
            <a:avLst>
              <a:gd name="adj" fmla="val 23077"/>
            </a:avLst>
          </a:prstGeom>
          <a:solidFill>
            <a:srgbClr val="DDF7F2"/>
          </a:solidFill>
          <a:ln w="1270">
            <a:solidFill>
              <a:srgbClr val="DDF7F2">
                <a:alpha val="0"/>
              </a:srgbClr>
            </a:solidFill>
            <a:prstDash val="solid"/>
          </a:ln>
        </p:spPr>
      </p:sp>
      <p:sp>
        <p:nvSpPr>
          <p:cNvPr id="30" name="Text 28"/>
          <p:cNvSpPr txBox="1"/>
          <p:nvPr/>
        </p:nvSpPr>
        <p:spPr>
          <a:xfrm>
            <a:off x="7973568" y="3511296"/>
            <a:ext cx="1325880" cy="256032"/>
          </a:xfrm>
          <a:prstGeom prst="rect">
            <a:avLst/>
          </a:prstGeom>
          <a:noFill/>
          <a:ln/>
        </p:spPr>
        <p:txBody>
          <a:bodyPr wrap="square" lIns="0" tIns="0" rIns="0" bIns="0" rtlCol="0" anchor="ctr">
            <a:normAutofit/>
          </a:bodyPr>
          <a:lstStyle/>
          <a:p>
            <a:pPr algn="ctr" indent="0" marL="0">
              <a:buNone/>
            </a:pPr>
            <a:r>
              <a:rPr lang="en-US" sz="1100" b="1" dirty="0">
                <a:solidFill>
                  <a:srgbClr val="101828"/>
                </a:solidFill>
                <a:latin typeface="Aptos" pitchFamily="34" charset="0"/>
                <a:ea typeface="Aptos" pitchFamily="34" charset="-122"/>
                <a:cs typeface="Aptos" pitchFamily="34" charset="-120"/>
              </a:rPr>
              <a:t>Card 2</a:t>
            </a:r>
            <a:endParaRPr lang="en-US" sz="1100" dirty="0"/>
          </a:p>
        </p:txBody>
      </p:sp>
      <p:sp>
        <p:nvSpPr>
          <p:cNvPr id="31" name="Shape 29"/>
          <p:cNvSpPr/>
          <p:nvPr/>
        </p:nvSpPr>
        <p:spPr>
          <a:xfrm>
            <a:off x="9409176" y="3419856"/>
            <a:ext cx="1325880" cy="475488"/>
          </a:xfrm>
          <a:prstGeom prst="roundRect">
            <a:avLst>
              <a:gd name="adj" fmla="val 23077"/>
            </a:avLst>
          </a:prstGeom>
          <a:solidFill>
            <a:srgbClr val="FFE8E3"/>
          </a:solidFill>
          <a:ln w="1270">
            <a:solidFill>
              <a:srgbClr val="FFE8E3">
                <a:alpha val="0"/>
              </a:srgbClr>
            </a:solidFill>
            <a:prstDash val="solid"/>
          </a:ln>
        </p:spPr>
      </p:sp>
      <p:sp>
        <p:nvSpPr>
          <p:cNvPr id="32" name="Text 30"/>
          <p:cNvSpPr txBox="1"/>
          <p:nvPr/>
        </p:nvSpPr>
        <p:spPr>
          <a:xfrm>
            <a:off x="9409176" y="3511296"/>
            <a:ext cx="1325880" cy="256032"/>
          </a:xfrm>
          <a:prstGeom prst="rect">
            <a:avLst/>
          </a:prstGeom>
          <a:noFill/>
          <a:ln/>
        </p:spPr>
        <p:txBody>
          <a:bodyPr wrap="square" lIns="0" tIns="0" rIns="0" bIns="0" rtlCol="0" anchor="ctr">
            <a:normAutofit/>
          </a:bodyPr>
          <a:lstStyle/>
          <a:p>
            <a:pPr algn="ctr" indent="0" marL="0">
              <a:buNone/>
            </a:pPr>
            <a:r>
              <a:rPr lang="en-US" sz="1100" b="1" dirty="0">
                <a:solidFill>
                  <a:srgbClr val="101828"/>
                </a:solidFill>
                <a:latin typeface="Aptos" pitchFamily="34" charset="0"/>
                <a:ea typeface="Aptos" pitchFamily="34" charset="-122"/>
                <a:cs typeface="Aptos" pitchFamily="34" charset="-120"/>
              </a:rPr>
              <a:t>Card 3</a:t>
            </a:r>
            <a:endParaRPr lang="en-US" sz="1100" dirty="0"/>
          </a:p>
        </p:txBody>
      </p:sp>
      <p:sp>
        <p:nvSpPr>
          <p:cNvPr id="33" name="Shape 31"/>
          <p:cNvSpPr/>
          <p:nvPr/>
        </p:nvSpPr>
        <p:spPr>
          <a:xfrm>
            <a:off x="6537960" y="4005072"/>
            <a:ext cx="1325880" cy="475488"/>
          </a:xfrm>
          <a:prstGeom prst="roundRect">
            <a:avLst>
              <a:gd name="adj" fmla="val 23077"/>
            </a:avLst>
          </a:prstGeom>
          <a:solidFill>
            <a:srgbClr val="EEE8FF"/>
          </a:solidFill>
          <a:ln w="1270">
            <a:solidFill>
              <a:srgbClr val="EEE8FF">
                <a:alpha val="0"/>
              </a:srgbClr>
            </a:solidFill>
            <a:prstDash val="solid"/>
          </a:ln>
        </p:spPr>
      </p:sp>
      <p:sp>
        <p:nvSpPr>
          <p:cNvPr id="34" name="Text 32"/>
          <p:cNvSpPr txBox="1"/>
          <p:nvPr/>
        </p:nvSpPr>
        <p:spPr>
          <a:xfrm>
            <a:off x="6537960" y="4096512"/>
            <a:ext cx="1325880" cy="256032"/>
          </a:xfrm>
          <a:prstGeom prst="rect">
            <a:avLst/>
          </a:prstGeom>
          <a:noFill/>
          <a:ln/>
        </p:spPr>
        <p:txBody>
          <a:bodyPr wrap="square" lIns="0" tIns="0" rIns="0" bIns="0" rtlCol="0" anchor="ctr">
            <a:normAutofit/>
          </a:bodyPr>
          <a:lstStyle/>
          <a:p>
            <a:pPr algn="ctr" indent="0" marL="0">
              <a:buNone/>
            </a:pPr>
            <a:r>
              <a:rPr lang="en-US" sz="1100" b="1" dirty="0">
                <a:solidFill>
                  <a:srgbClr val="101828"/>
                </a:solidFill>
                <a:latin typeface="Aptos" pitchFamily="34" charset="0"/>
                <a:ea typeface="Aptos" pitchFamily="34" charset="-122"/>
                <a:cs typeface="Aptos" pitchFamily="34" charset="-120"/>
              </a:rPr>
              <a:t>Card 4</a:t>
            </a:r>
            <a:endParaRPr lang="en-US" sz="1100" dirty="0"/>
          </a:p>
        </p:txBody>
      </p:sp>
      <p:sp>
        <p:nvSpPr>
          <p:cNvPr id="35" name="Shape 33"/>
          <p:cNvSpPr/>
          <p:nvPr/>
        </p:nvSpPr>
        <p:spPr>
          <a:xfrm>
            <a:off x="7973568" y="4005072"/>
            <a:ext cx="1325880" cy="475488"/>
          </a:xfrm>
          <a:prstGeom prst="roundRect">
            <a:avLst>
              <a:gd name="adj" fmla="val 23077"/>
            </a:avLst>
          </a:prstGeom>
          <a:solidFill>
            <a:srgbClr val="FFF4D6"/>
          </a:solidFill>
          <a:ln w="1270">
            <a:solidFill>
              <a:srgbClr val="FFF4D6">
                <a:alpha val="0"/>
              </a:srgbClr>
            </a:solidFill>
            <a:prstDash val="solid"/>
          </a:ln>
        </p:spPr>
      </p:sp>
      <p:sp>
        <p:nvSpPr>
          <p:cNvPr id="36" name="Text 34"/>
          <p:cNvSpPr txBox="1"/>
          <p:nvPr/>
        </p:nvSpPr>
        <p:spPr>
          <a:xfrm>
            <a:off x="7973568" y="4096512"/>
            <a:ext cx="1325880" cy="256032"/>
          </a:xfrm>
          <a:prstGeom prst="rect">
            <a:avLst/>
          </a:prstGeom>
          <a:noFill/>
          <a:ln/>
        </p:spPr>
        <p:txBody>
          <a:bodyPr wrap="square" lIns="0" tIns="0" rIns="0" bIns="0" rtlCol="0" anchor="ctr">
            <a:normAutofit/>
          </a:bodyPr>
          <a:lstStyle/>
          <a:p>
            <a:pPr algn="ctr" indent="0" marL="0">
              <a:buNone/>
            </a:pPr>
            <a:r>
              <a:rPr lang="en-US" sz="1100" b="1" dirty="0">
                <a:solidFill>
                  <a:srgbClr val="101828"/>
                </a:solidFill>
                <a:latin typeface="Aptos" pitchFamily="34" charset="0"/>
                <a:ea typeface="Aptos" pitchFamily="34" charset="-122"/>
                <a:cs typeface="Aptos" pitchFamily="34" charset="-120"/>
              </a:rPr>
              <a:t>Card 5</a:t>
            </a:r>
            <a:endParaRPr lang="en-US" sz="1100" dirty="0"/>
          </a:p>
        </p:txBody>
      </p:sp>
      <p:sp>
        <p:nvSpPr>
          <p:cNvPr id="37" name="Shape 35"/>
          <p:cNvSpPr/>
          <p:nvPr/>
        </p:nvSpPr>
        <p:spPr>
          <a:xfrm>
            <a:off x="9409176" y="4005072"/>
            <a:ext cx="1325880" cy="475488"/>
          </a:xfrm>
          <a:prstGeom prst="roundRect">
            <a:avLst>
              <a:gd name="adj" fmla="val 23077"/>
            </a:avLst>
          </a:prstGeom>
          <a:solidFill>
            <a:srgbClr val="E0F5EA"/>
          </a:solidFill>
          <a:ln w="1270">
            <a:solidFill>
              <a:srgbClr val="E0F5EA">
                <a:alpha val="0"/>
              </a:srgbClr>
            </a:solidFill>
            <a:prstDash val="solid"/>
          </a:ln>
        </p:spPr>
      </p:sp>
      <p:sp>
        <p:nvSpPr>
          <p:cNvPr id="38" name="Text 36"/>
          <p:cNvSpPr txBox="1"/>
          <p:nvPr/>
        </p:nvSpPr>
        <p:spPr>
          <a:xfrm>
            <a:off x="9409176" y="4096512"/>
            <a:ext cx="1325880" cy="256032"/>
          </a:xfrm>
          <a:prstGeom prst="rect">
            <a:avLst/>
          </a:prstGeom>
          <a:noFill/>
          <a:ln/>
        </p:spPr>
        <p:txBody>
          <a:bodyPr wrap="square" lIns="0" tIns="0" rIns="0" bIns="0" rtlCol="0" anchor="ctr">
            <a:normAutofit/>
          </a:bodyPr>
          <a:lstStyle/>
          <a:p>
            <a:pPr algn="ctr" indent="0" marL="0">
              <a:buNone/>
            </a:pPr>
            <a:r>
              <a:rPr lang="en-US" sz="1100" b="1" dirty="0">
                <a:solidFill>
                  <a:srgbClr val="101828"/>
                </a:solidFill>
                <a:latin typeface="Aptos" pitchFamily="34" charset="0"/>
                <a:ea typeface="Aptos" pitchFamily="34" charset="-122"/>
                <a:cs typeface="Aptos" pitchFamily="34" charset="-120"/>
              </a:rPr>
              <a:t>Card 6</a:t>
            </a:r>
            <a:endParaRPr lang="en-US" sz="1100" dirty="0"/>
          </a:p>
        </p:txBody>
      </p:sp>
      <p:sp>
        <p:nvSpPr>
          <p:cNvPr id="39" name="Shape 37"/>
          <p:cNvSpPr/>
          <p:nvPr/>
        </p:nvSpPr>
        <p:spPr>
          <a:xfrm>
            <a:off x="6473952" y="4663440"/>
            <a:ext cx="4572000" cy="749808"/>
          </a:xfrm>
          <a:prstGeom prst="roundRect">
            <a:avLst>
              <a:gd name="adj" fmla="val 14634"/>
            </a:avLst>
          </a:prstGeom>
          <a:solidFill>
            <a:srgbClr val="101B2B"/>
          </a:solidFill>
          <a:ln w="1270">
            <a:solidFill>
              <a:srgbClr val="101B2B">
                <a:alpha val="0"/>
              </a:srgbClr>
            </a:solidFill>
            <a:prstDash val="solid"/>
          </a:ln>
        </p:spPr>
      </p:sp>
      <p:sp>
        <p:nvSpPr>
          <p:cNvPr id="40" name="Shape 38"/>
          <p:cNvSpPr/>
          <p:nvPr/>
        </p:nvSpPr>
        <p:spPr>
          <a:xfrm>
            <a:off x="6638544" y="4800600"/>
            <a:ext cx="82296" cy="82296"/>
          </a:xfrm>
          <a:prstGeom prst="ellipse">
            <a:avLst/>
          </a:prstGeom>
          <a:solidFill>
            <a:srgbClr val="FF826E"/>
          </a:solidFill>
          <a:ln w="12700">
            <a:solidFill>
              <a:srgbClr val="FF826E"/>
            </a:solidFill>
            <a:prstDash val="solid"/>
          </a:ln>
        </p:spPr>
      </p:sp>
      <p:sp>
        <p:nvSpPr>
          <p:cNvPr id="41" name="Shape 39"/>
          <p:cNvSpPr/>
          <p:nvPr/>
        </p:nvSpPr>
        <p:spPr>
          <a:xfrm>
            <a:off x="6766560" y="4800600"/>
            <a:ext cx="82296" cy="82296"/>
          </a:xfrm>
          <a:prstGeom prst="ellipse">
            <a:avLst/>
          </a:prstGeom>
          <a:solidFill>
            <a:srgbClr val="F4C45E"/>
          </a:solidFill>
          <a:ln w="12700">
            <a:solidFill>
              <a:srgbClr val="F4C45E"/>
            </a:solidFill>
            <a:prstDash val="solid"/>
          </a:ln>
        </p:spPr>
      </p:sp>
      <p:sp>
        <p:nvSpPr>
          <p:cNvPr id="42" name="Shape 40"/>
          <p:cNvSpPr/>
          <p:nvPr/>
        </p:nvSpPr>
        <p:spPr>
          <a:xfrm>
            <a:off x="6894576" y="4800600"/>
            <a:ext cx="82296" cy="82296"/>
          </a:xfrm>
          <a:prstGeom prst="ellipse">
            <a:avLst/>
          </a:prstGeom>
          <a:solidFill>
            <a:srgbClr val="16B7A4"/>
          </a:solidFill>
          <a:ln w="12700">
            <a:solidFill>
              <a:srgbClr val="16B7A4"/>
            </a:solidFill>
            <a:prstDash val="solid"/>
          </a:ln>
        </p:spPr>
      </p:sp>
      <p:sp>
        <p:nvSpPr>
          <p:cNvPr id="43" name="Text 41"/>
          <p:cNvSpPr/>
          <p:nvPr/>
        </p:nvSpPr>
        <p:spPr>
          <a:xfrm>
            <a:off x="6675120" y="5056632"/>
            <a:ext cx="4187952" cy="237744"/>
          </a:xfrm>
          <a:prstGeom prst="rect">
            <a:avLst/>
          </a:prstGeom>
          <a:noFill/>
          <a:ln/>
        </p:spPr>
        <p:txBody>
          <a:bodyPr wrap="square" lIns="0" tIns="0" rIns="0" bIns="0" rtlCol="0" anchor="t">
            <a:normAutofit/>
          </a:bodyPr>
          <a:lstStyle/>
          <a:p>
            <a:pPr indent="0" marL="0">
              <a:buNone/>
            </a:pPr>
            <a:r>
              <a:rPr lang="en-US" sz="1040" dirty="0">
                <a:solidFill>
                  <a:srgbClr val="9AE6B4"/>
                </a:solidFill>
                <a:latin typeface="Consolas" pitchFamily="34" charset="0"/>
                <a:ea typeface="Consolas" pitchFamily="34" charset="-122"/>
                <a:cs typeface="Consolas" pitchFamily="34" charset="-120"/>
              </a:rPr>
              <a:t>display: grid; grid-template-columns: repeat(3, 1fr);</a:t>
            </a:r>
            <a:endParaRPr lang="en-US" sz="1040" dirty="0"/>
          </a:p>
        </p:txBody>
      </p:sp>
      <p:sp>
        <p:nvSpPr>
          <p:cNvPr id="44" name="Text 42"/>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course outline</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12</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CSS Grid: build a layout from rows and columns</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Start with a container, define columns, and set the gaps between items.</a:t>
            </a:r>
            <a:endParaRPr lang="en-US" sz="1250" dirty="0"/>
          </a:p>
        </p:txBody>
      </p:sp>
      <p:sp>
        <p:nvSpPr>
          <p:cNvPr id="5" name="Shape 3"/>
          <p:cNvSpPr/>
          <p:nvPr/>
        </p:nvSpPr>
        <p:spPr>
          <a:xfrm>
            <a:off x="658368" y="1737360"/>
            <a:ext cx="5102352" cy="4206240"/>
          </a:xfrm>
          <a:prstGeom prst="roundRect">
            <a:avLst>
              <a:gd name="adj" fmla="val 2609"/>
            </a:avLst>
          </a:prstGeom>
          <a:solidFill>
            <a:srgbClr val="101B2B"/>
          </a:solidFill>
          <a:ln w="1270">
            <a:solidFill>
              <a:srgbClr val="101B2B">
                <a:alpha val="0"/>
              </a:srgbClr>
            </a:solidFill>
            <a:prstDash val="solid"/>
          </a:ln>
        </p:spPr>
      </p:sp>
      <p:sp>
        <p:nvSpPr>
          <p:cNvPr id="6" name="Text 4"/>
          <p:cNvSpPr txBox="1"/>
          <p:nvPr/>
        </p:nvSpPr>
        <p:spPr>
          <a:xfrm>
            <a:off x="941832" y="2002536"/>
            <a:ext cx="3017520" cy="292608"/>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Three-column grid</a:t>
            </a:r>
            <a:endParaRPr lang="en-US" sz="1800" dirty="0"/>
          </a:p>
        </p:txBody>
      </p:sp>
      <p:sp>
        <p:nvSpPr>
          <p:cNvPr id="7" name="Shape 5"/>
          <p:cNvSpPr/>
          <p:nvPr/>
        </p:nvSpPr>
        <p:spPr>
          <a:xfrm>
            <a:off x="932688" y="2487168"/>
            <a:ext cx="4526280" cy="1828800"/>
          </a:xfrm>
          <a:prstGeom prst="roundRect">
            <a:avLst>
              <a:gd name="adj" fmla="val 6000"/>
            </a:avLst>
          </a:prstGeom>
          <a:solidFill>
            <a:srgbClr val="101B2B"/>
          </a:solidFill>
          <a:ln w="1270">
            <a:solidFill>
              <a:srgbClr val="101B2B">
                <a:alpha val="0"/>
              </a:srgbClr>
            </a:solidFill>
            <a:prstDash val="solid"/>
          </a:ln>
        </p:spPr>
      </p:sp>
      <p:sp>
        <p:nvSpPr>
          <p:cNvPr id="8" name="Shape 6"/>
          <p:cNvSpPr/>
          <p:nvPr/>
        </p:nvSpPr>
        <p:spPr>
          <a:xfrm>
            <a:off x="1097280" y="2624328"/>
            <a:ext cx="82296" cy="82296"/>
          </a:xfrm>
          <a:prstGeom prst="ellipse">
            <a:avLst/>
          </a:prstGeom>
          <a:solidFill>
            <a:srgbClr val="FF826E"/>
          </a:solidFill>
          <a:ln w="12700">
            <a:solidFill>
              <a:srgbClr val="FF826E"/>
            </a:solidFill>
            <a:prstDash val="solid"/>
          </a:ln>
        </p:spPr>
      </p:sp>
      <p:sp>
        <p:nvSpPr>
          <p:cNvPr id="9" name="Shape 7"/>
          <p:cNvSpPr/>
          <p:nvPr/>
        </p:nvSpPr>
        <p:spPr>
          <a:xfrm>
            <a:off x="1225296" y="2624328"/>
            <a:ext cx="82296" cy="82296"/>
          </a:xfrm>
          <a:prstGeom prst="ellipse">
            <a:avLst/>
          </a:prstGeom>
          <a:solidFill>
            <a:srgbClr val="F4C45E"/>
          </a:solidFill>
          <a:ln w="12700">
            <a:solidFill>
              <a:srgbClr val="F4C45E"/>
            </a:solidFill>
            <a:prstDash val="solid"/>
          </a:ln>
        </p:spPr>
      </p:sp>
      <p:sp>
        <p:nvSpPr>
          <p:cNvPr id="10" name="Shape 8"/>
          <p:cNvSpPr/>
          <p:nvPr/>
        </p:nvSpPr>
        <p:spPr>
          <a:xfrm>
            <a:off x="1353312" y="2624328"/>
            <a:ext cx="82296" cy="82296"/>
          </a:xfrm>
          <a:prstGeom prst="ellipse">
            <a:avLst/>
          </a:prstGeom>
          <a:solidFill>
            <a:srgbClr val="16B7A4"/>
          </a:solidFill>
          <a:ln w="12700">
            <a:solidFill>
              <a:srgbClr val="16B7A4"/>
            </a:solidFill>
            <a:prstDash val="solid"/>
          </a:ln>
        </p:spPr>
      </p:sp>
      <p:sp>
        <p:nvSpPr>
          <p:cNvPr id="11" name="Text 9"/>
          <p:cNvSpPr/>
          <p:nvPr/>
        </p:nvSpPr>
        <p:spPr>
          <a:xfrm>
            <a:off x="1133856" y="2880360"/>
            <a:ext cx="4142232" cy="1316736"/>
          </a:xfrm>
          <a:prstGeom prst="rect">
            <a:avLst/>
          </a:prstGeom>
          <a:noFill/>
          <a:ln/>
        </p:spPr>
        <p:txBody>
          <a:bodyPr wrap="square" lIns="0" tIns="0" rIns="0" bIns="0" rtlCol="0" anchor="t">
            <a:normAutofit/>
          </a:bodyPr>
          <a:lstStyle/>
          <a:p>
            <a:pPr indent="0" marL="0">
              <a:buNone/>
            </a:pPr>
            <a:r>
              <a:rPr lang="en-US" sz="1050" dirty="0">
                <a:solidFill>
                  <a:srgbClr val="FF9EAA"/>
                </a:solidFill>
                <a:latin typeface="Consolas" pitchFamily="34" charset="0"/>
                <a:ea typeface="Consolas" pitchFamily="34" charset="-122"/>
                <a:cs typeface="Consolas" pitchFamily="34" charset="-120"/>
              </a:rPr>
              <a:t>.grid {</a:t>
            </a:r>
            <a:endParaRPr lang="en-US" sz="1050" dirty="0"/>
          </a:p>
          <a:p>
            <a:pPr indent="0" marL="0">
              <a:buNone/>
            </a:pPr>
            <a:r>
              <a:rPr lang="en-US" sz="1050" dirty="0">
                <a:solidFill>
                  <a:srgbClr val="9AE6B4"/>
                </a:solidFill>
                <a:latin typeface="Consolas" pitchFamily="34" charset="0"/>
                <a:ea typeface="Consolas" pitchFamily="34" charset="-122"/>
                <a:cs typeface="Consolas" pitchFamily="34" charset="-120"/>
              </a:rPr>
              <a:t>  display: grid;</a:t>
            </a:r>
            <a:endParaRPr lang="en-US" sz="1050" dirty="0"/>
          </a:p>
          <a:p>
            <a:pPr indent="0" marL="0">
              <a:buNone/>
            </a:pPr>
            <a:r>
              <a:rPr lang="en-US" sz="1050" dirty="0">
                <a:solidFill>
                  <a:srgbClr val="DCE8F5"/>
                </a:solidFill>
                <a:latin typeface="Consolas" pitchFamily="34" charset="0"/>
                <a:ea typeface="Consolas" pitchFamily="34" charset="-122"/>
                <a:cs typeface="Consolas" pitchFamily="34" charset="-120"/>
              </a:rPr>
              <a:t>  grid-template-columns: repeat(3, 1fr);</a:t>
            </a:r>
            <a:endParaRPr lang="en-US" sz="1050" dirty="0"/>
          </a:p>
          <a:p>
            <a:pPr indent="0" marL="0">
              <a:buNone/>
            </a:pPr>
            <a:r>
              <a:rPr lang="en-US" sz="1050" dirty="0">
                <a:solidFill>
                  <a:srgbClr val="F8D477"/>
                </a:solidFill>
                <a:latin typeface="Consolas" pitchFamily="34" charset="0"/>
                <a:ea typeface="Consolas" pitchFamily="34" charset="-122"/>
                <a:cs typeface="Consolas" pitchFamily="34" charset="-120"/>
              </a:rPr>
              <a:t>  gap: 1rem;</a:t>
            </a:r>
            <a:endParaRPr lang="en-US" sz="1050" dirty="0"/>
          </a:p>
          <a:p>
            <a:pPr indent="0" marL="0">
              <a:buNone/>
            </a:pPr>
            <a:r>
              <a:rPr lang="en-US" sz="1050" dirty="0">
                <a:solidFill>
                  <a:srgbClr val="FF9EAA"/>
                </a:solidFill>
                <a:latin typeface="Consolas" pitchFamily="34" charset="0"/>
                <a:ea typeface="Consolas" pitchFamily="34" charset="-122"/>
                <a:cs typeface="Consolas" pitchFamily="34" charset="-120"/>
              </a:rPr>
              <a:t>}</a:t>
            </a:r>
            <a:endParaRPr lang="en-US" sz="1050" dirty="0"/>
          </a:p>
        </p:txBody>
      </p:sp>
      <p:sp>
        <p:nvSpPr>
          <p:cNvPr id="12" name="Shape 10"/>
          <p:cNvSpPr/>
          <p:nvPr/>
        </p:nvSpPr>
        <p:spPr>
          <a:xfrm>
            <a:off x="969264" y="4681728"/>
            <a:ext cx="82296" cy="82296"/>
          </a:xfrm>
          <a:prstGeom prst="ellipse">
            <a:avLst/>
          </a:prstGeom>
          <a:solidFill>
            <a:srgbClr val="16B7A4"/>
          </a:solidFill>
          <a:ln w="12700">
            <a:solidFill>
              <a:srgbClr val="16B7A4"/>
            </a:solidFill>
            <a:prstDash val="solid"/>
          </a:ln>
        </p:spPr>
      </p:sp>
      <p:sp>
        <p:nvSpPr>
          <p:cNvPr id="13" name="Text 11"/>
          <p:cNvSpPr txBox="1"/>
          <p:nvPr/>
        </p:nvSpPr>
        <p:spPr>
          <a:xfrm>
            <a:off x="1170432" y="4572000"/>
            <a:ext cx="4233672" cy="338328"/>
          </a:xfrm>
          <a:prstGeom prst="rect">
            <a:avLst/>
          </a:prstGeom>
          <a:noFill/>
          <a:ln/>
        </p:spPr>
        <p:txBody>
          <a:bodyPr wrap="square" lIns="0" tIns="0" rIns="0" bIns="0" rtlCol="0" anchor="t">
            <a:normAutofit/>
          </a:bodyPr>
          <a:lstStyle/>
          <a:p>
            <a:pPr algn="l" indent="0" marL="0">
              <a:buNone/>
            </a:pPr>
            <a:r>
              <a:rPr lang="en-US" sz="1240" dirty="0">
                <a:solidFill>
                  <a:srgbClr val="182230"/>
                </a:solidFill>
                <a:latin typeface="Aptos" pitchFamily="34" charset="0"/>
                <a:ea typeface="Aptos" pitchFamily="34" charset="-122"/>
                <a:cs typeface="Aptos" pitchFamily="34" charset="-120"/>
              </a:rPr>
              <a:t>repeat(3, 1fr) means 3 equal columns.</a:t>
            </a:r>
            <a:endParaRPr lang="en-US" sz="1240" dirty="0"/>
          </a:p>
        </p:txBody>
      </p:sp>
      <p:sp>
        <p:nvSpPr>
          <p:cNvPr id="14" name="Shape 12"/>
          <p:cNvSpPr/>
          <p:nvPr/>
        </p:nvSpPr>
        <p:spPr>
          <a:xfrm>
            <a:off x="969264" y="5120640"/>
            <a:ext cx="82296" cy="82296"/>
          </a:xfrm>
          <a:prstGeom prst="ellipse">
            <a:avLst/>
          </a:prstGeom>
          <a:solidFill>
            <a:srgbClr val="FF826E"/>
          </a:solidFill>
          <a:ln w="12700">
            <a:solidFill>
              <a:srgbClr val="FF826E"/>
            </a:solidFill>
            <a:prstDash val="solid"/>
          </a:ln>
        </p:spPr>
      </p:sp>
      <p:sp>
        <p:nvSpPr>
          <p:cNvPr id="15" name="Text 13"/>
          <p:cNvSpPr txBox="1"/>
          <p:nvPr/>
        </p:nvSpPr>
        <p:spPr>
          <a:xfrm>
            <a:off x="1170432" y="5010912"/>
            <a:ext cx="4233672" cy="338328"/>
          </a:xfrm>
          <a:prstGeom prst="rect">
            <a:avLst/>
          </a:prstGeom>
          <a:noFill/>
          <a:ln/>
        </p:spPr>
        <p:txBody>
          <a:bodyPr wrap="square" lIns="0" tIns="0" rIns="0" bIns="0" rtlCol="0" anchor="t">
            <a:normAutofit/>
          </a:bodyPr>
          <a:lstStyle/>
          <a:p>
            <a:pPr algn="l" indent="0" marL="0">
              <a:buNone/>
            </a:pPr>
            <a:r>
              <a:rPr lang="en-US" sz="1240" dirty="0">
                <a:solidFill>
                  <a:srgbClr val="182230"/>
                </a:solidFill>
                <a:latin typeface="Aptos" pitchFamily="34" charset="0"/>
                <a:ea typeface="Aptos" pitchFamily="34" charset="-122"/>
                <a:cs typeface="Aptos" pitchFamily="34" charset="-120"/>
              </a:rPr>
              <a:t>gap adds space between grid items.</a:t>
            </a:r>
            <a:endParaRPr lang="en-US" sz="1240" dirty="0"/>
          </a:p>
        </p:txBody>
      </p:sp>
      <p:sp>
        <p:nvSpPr>
          <p:cNvPr id="16" name="Shape 14"/>
          <p:cNvSpPr/>
          <p:nvPr/>
        </p:nvSpPr>
        <p:spPr>
          <a:xfrm>
            <a:off x="6089904" y="1737360"/>
            <a:ext cx="5413248" cy="4206240"/>
          </a:xfrm>
          <a:prstGeom prst="roundRect">
            <a:avLst>
              <a:gd name="adj" fmla="val 2609"/>
            </a:avLst>
          </a:prstGeom>
          <a:solidFill>
            <a:srgbClr val="FFFFFF"/>
          </a:solidFill>
          <a:ln w="12700">
            <a:solidFill>
              <a:srgbClr val="DEE5EE"/>
            </a:solidFill>
            <a:prstDash val="solid"/>
          </a:ln>
        </p:spPr>
      </p:sp>
      <p:sp>
        <p:nvSpPr>
          <p:cNvPr id="17" name="Text 15"/>
          <p:cNvSpPr txBox="1"/>
          <p:nvPr/>
        </p:nvSpPr>
        <p:spPr>
          <a:xfrm>
            <a:off x="6391656" y="2002536"/>
            <a:ext cx="2926080" cy="292608"/>
          </a:xfrm>
          <a:prstGeom prst="rect">
            <a:avLst/>
          </a:prstGeom>
          <a:noFill/>
          <a:ln/>
        </p:spPr>
        <p:txBody>
          <a:bodyPr wrap="square" lIns="0" tIns="0" rIns="0" bIns="0" rtlCol="0" anchor="ctr">
            <a:normAutofit/>
          </a:bodyPr>
          <a:lstStyle/>
          <a:p>
            <a:pPr algn="l" indent="0" marL="0">
              <a:buNone/>
            </a:pPr>
            <a:r>
              <a:rPr lang="en-US" sz="1800" b="1" dirty="0">
                <a:solidFill>
                  <a:srgbClr val="101828"/>
                </a:solidFill>
                <a:latin typeface="Aptos" pitchFamily="34" charset="0"/>
                <a:ea typeface="Aptos" pitchFamily="34" charset="-122"/>
                <a:cs typeface="Aptos" pitchFamily="34" charset="-120"/>
              </a:rPr>
              <a:t>A small dashboard</a:t>
            </a:r>
            <a:endParaRPr lang="en-US" sz="1800" dirty="0"/>
          </a:p>
        </p:txBody>
      </p:sp>
      <p:sp>
        <p:nvSpPr>
          <p:cNvPr id="18" name="Shape 16"/>
          <p:cNvSpPr/>
          <p:nvPr/>
        </p:nvSpPr>
        <p:spPr>
          <a:xfrm>
            <a:off x="6400800" y="2487168"/>
            <a:ext cx="4754880" cy="512064"/>
          </a:xfrm>
          <a:prstGeom prst="roundRect">
            <a:avLst>
              <a:gd name="adj" fmla="val 21429"/>
            </a:avLst>
          </a:prstGeom>
          <a:solidFill>
            <a:srgbClr val="101828"/>
          </a:solidFill>
          <a:ln w="1270">
            <a:solidFill>
              <a:srgbClr val="101828">
                <a:alpha val="0"/>
              </a:srgbClr>
            </a:solidFill>
            <a:prstDash val="solid"/>
          </a:ln>
        </p:spPr>
      </p:sp>
      <p:sp>
        <p:nvSpPr>
          <p:cNvPr id="19" name="Text 17"/>
          <p:cNvSpPr txBox="1"/>
          <p:nvPr/>
        </p:nvSpPr>
        <p:spPr>
          <a:xfrm>
            <a:off x="6583680" y="2596896"/>
            <a:ext cx="402336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Dashboard</a:t>
            </a:r>
            <a:endParaRPr lang="en-US" sz="1300" dirty="0"/>
          </a:p>
        </p:txBody>
      </p:sp>
      <p:sp>
        <p:nvSpPr>
          <p:cNvPr id="20" name="Shape 18"/>
          <p:cNvSpPr/>
          <p:nvPr/>
        </p:nvSpPr>
        <p:spPr>
          <a:xfrm>
            <a:off x="6400800" y="3172968"/>
            <a:ext cx="1463040" cy="960120"/>
          </a:xfrm>
          <a:prstGeom prst="roundRect">
            <a:avLst>
              <a:gd name="adj" fmla="val 11429"/>
            </a:avLst>
          </a:prstGeom>
          <a:solidFill>
            <a:srgbClr val="E8EDFF"/>
          </a:solidFill>
          <a:ln w="1270">
            <a:solidFill>
              <a:srgbClr val="E8EDFF">
                <a:alpha val="0"/>
              </a:srgbClr>
            </a:solidFill>
            <a:prstDash val="solid"/>
          </a:ln>
        </p:spPr>
      </p:sp>
      <p:sp>
        <p:nvSpPr>
          <p:cNvPr id="21" name="Text 19"/>
          <p:cNvSpPr txBox="1"/>
          <p:nvPr/>
        </p:nvSpPr>
        <p:spPr>
          <a:xfrm>
            <a:off x="6492240" y="3300984"/>
            <a:ext cx="1280160" cy="219456"/>
          </a:xfrm>
          <a:prstGeom prst="rect">
            <a:avLst/>
          </a:prstGeom>
          <a:noFill/>
          <a:ln/>
        </p:spPr>
        <p:txBody>
          <a:bodyPr wrap="square" lIns="0" tIns="0" rIns="0" bIns="0" rtlCol="0" anchor="ctr">
            <a:normAutofit/>
          </a:bodyPr>
          <a:lstStyle/>
          <a:p>
            <a:pPr algn="ctr" indent="0" marL="0">
              <a:buNone/>
            </a:pPr>
            <a:r>
              <a:rPr lang="en-US" sz="1100" b="1" dirty="0">
                <a:solidFill>
                  <a:srgbClr val="5272F2"/>
                </a:solidFill>
                <a:latin typeface="Aptos" pitchFamily="34" charset="0"/>
                <a:ea typeface="Aptos" pitchFamily="34" charset="-122"/>
                <a:cs typeface="Aptos" pitchFamily="34" charset="-120"/>
              </a:rPr>
              <a:t>Visitors</a:t>
            </a:r>
            <a:endParaRPr lang="en-US" sz="1100" dirty="0"/>
          </a:p>
        </p:txBody>
      </p:sp>
      <p:sp>
        <p:nvSpPr>
          <p:cNvPr id="22" name="Text 20"/>
          <p:cNvSpPr txBox="1"/>
          <p:nvPr/>
        </p:nvSpPr>
        <p:spPr>
          <a:xfrm>
            <a:off x="6492240" y="3666744"/>
            <a:ext cx="1280160" cy="210312"/>
          </a:xfrm>
          <a:prstGeom prst="rect">
            <a:avLst/>
          </a:prstGeom>
          <a:noFill/>
          <a:ln/>
        </p:spPr>
        <p:txBody>
          <a:bodyPr wrap="square" lIns="0" tIns="0" rIns="0" bIns="0" rtlCol="0" anchor="ctr">
            <a:normAutofit/>
          </a:bodyPr>
          <a:lstStyle/>
          <a:p>
            <a:pPr algn="ctr" indent="0" marL="0">
              <a:buNone/>
            </a:pPr>
            <a:r>
              <a:rPr lang="en-US" sz="1000" dirty="0">
                <a:solidFill>
                  <a:srgbClr val="5F6F84"/>
                </a:solidFill>
                <a:latin typeface="Aptos" pitchFamily="34" charset="0"/>
                <a:ea typeface="Aptos" pitchFamily="34" charset="-122"/>
                <a:cs typeface="Aptos" pitchFamily="34" charset="-120"/>
              </a:rPr>
              <a:t>▰  ▰  ▰</a:t>
            </a:r>
            <a:endParaRPr lang="en-US" sz="1000" dirty="0"/>
          </a:p>
        </p:txBody>
      </p:sp>
      <p:sp>
        <p:nvSpPr>
          <p:cNvPr id="23" name="Shape 21"/>
          <p:cNvSpPr/>
          <p:nvPr/>
        </p:nvSpPr>
        <p:spPr>
          <a:xfrm>
            <a:off x="8046720" y="3172968"/>
            <a:ext cx="1463040" cy="960120"/>
          </a:xfrm>
          <a:prstGeom prst="roundRect">
            <a:avLst>
              <a:gd name="adj" fmla="val 11429"/>
            </a:avLst>
          </a:prstGeom>
          <a:solidFill>
            <a:srgbClr val="DDF7F2"/>
          </a:solidFill>
          <a:ln w="1270">
            <a:solidFill>
              <a:srgbClr val="DDF7F2">
                <a:alpha val="0"/>
              </a:srgbClr>
            </a:solidFill>
            <a:prstDash val="solid"/>
          </a:ln>
        </p:spPr>
      </p:sp>
      <p:sp>
        <p:nvSpPr>
          <p:cNvPr id="24" name="Text 22"/>
          <p:cNvSpPr txBox="1"/>
          <p:nvPr/>
        </p:nvSpPr>
        <p:spPr>
          <a:xfrm>
            <a:off x="8138160" y="3300984"/>
            <a:ext cx="1280160" cy="219456"/>
          </a:xfrm>
          <a:prstGeom prst="rect">
            <a:avLst/>
          </a:prstGeom>
          <a:noFill/>
          <a:ln/>
        </p:spPr>
        <p:txBody>
          <a:bodyPr wrap="square" lIns="0" tIns="0" rIns="0" bIns="0" rtlCol="0" anchor="ctr">
            <a:normAutofit/>
          </a:bodyPr>
          <a:lstStyle/>
          <a:p>
            <a:pPr algn="ctr" indent="0" marL="0">
              <a:buNone/>
            </a:pPr>
            <a:r>
              <a:rPr lang="en-US" sz="1100" b="1" dirty="0">
                <a:solidFill>
                  <a:srgbClr val="16B7A4"/>
                </a:solidFill>
                <a:latin typeface="Aptos" pitchFamily="34" charset="0"/>
                <a:ea typeface="Aptos" pitchFamily="34" charset="-122"/>
                <a:cs typeface="Aptos" pitchFamily="34" charset="-120"/>
              </a:rPr>
              <a:t>Orders</a:t>
            </a:r>
            <a:endParaRPr lang="en-US" sz="1100" dirty="0"/>
          </a:p>
        </p:txBody>
      </p:sp>
      <p:sp>
        <p:nvSpPr>
          <p:cNvPr id="25" name="Text 23"/>
          <p:cNvSpPr txBox="1"/>
          <p:nvPr/>
        </p:nvSpPr>
        <p:spPr>
          <a:xfrm>
            <a:off x="8138160" y="3666744"/>
            <a:ext cx="1280160" cy="210312"/>
          </a:xfrm>
          <a:prstGeom prst="rect">
            <a:avLst/>
          </a:prstGeom>
          <a:noFill/>
          <a:ln/>
        </p:spPr>
        <p:txBody>
          <a:bodyPr wrap="square" lIns="0" tIns="0" rIns="0" bIns="0" rtlCol="0" anchor="ctr">
            <a:normAutofit/>
          </a:bodyPr>
          <a:lstStyle/>
          <a:p>
            <a:pPr algn="ctr" indent="0" marL="0">
              <a:buNone/>
            </a:pPr>
            <a:r>
              <a:rPr lang="en-US" sz="1000" dirty="0">
                <a:solidFill>
                  <a:srgbClr val="5F6F84"/>
                </a:solidFill>
                <a:latin typeface="Aptos" pitchFamily="34" charset="0"/>
                <a:ea typeface="Aptos" pitchFamily="34" charset="-122"/>
                <a:cs typeface="Aptos" pitchFamily="34" charset="-120"/>
              </a:rPr>
              <a:t>▰  ▰  ▰</a:t>
            </a:r>
            <a:endParaRPr lang="en-US" sz="1000" dirty="0"/>
          </a:p>
        </p:txBody>
      </p:sp>
      <p:sp>
        <p:nvSpPr>
          <p:cNvPr id="26" name="Shape 24"/>
          <p:cNvSpPr/>
          <p:nvPr/>
        </p:nvSpPr>
        <p:spPr>
          <a:xfrm>
            <a:off x="9692640" y="3172968"/>
            <a:ext cx="1463040" cy="960120"/>
          </a:xfrm>
          <a:prstGeom prst="roundRect">
            <a:avLst>
              <a:gd name="adj" fmla="val 11429"/>
            </a:avLst>
          </a:prstGeom>
          <a:solidFill>
            <a:srgbClr val="FFE8E3"/>
          </a:solidFill>
          <a:ln w="1270">
            <a:solidFill>
              <a:srgbClr val="FFE8E3">
                <a:alpha val="0"/>
              </a:srgbClr>
            </a:solidFill>
            <a:prstDash val="solid"/>
          </a:ln>
        </p:spPr>
      </p:sp>
      <p:sp>
        <p:nvSpPr>
          <p:cNvPr id="27" name="Text 25"/>
          <p:cNvSpPr txBox="1"/>
          <p:nvPr/>
        </p:nvSpPr>
        <p:spPr>
          <a:xfrm>
            <a:off x="9784080" y="3300984"/>
            <a:ext cx="1280160" cy="219456"/>
          </a:xfrm>
          <a:prstGeom prst="rect">
            <a:avLst/>
          </a:prstGeom>
          <a:noFill/>
          <a:ln/>
        </p:spPr>
        <p:txBody>
          <a:bodyPr wrap="square" lIns="0" tIns="0" rIns="0" bIns="0" rtlCol="0" anchor="ctr">
            <a:normAutofit/>
          </a:bodyPr>
          <a:lstStyle/>
          <a:p>
            <a:pPr algn="ctr" indent="0" marL="0">
              <a:buNone/>
            </a:pPr>
            <a:r>
              <a:rPr lang="en-US" sz="1100" b="1" dirty="0">
                <a:solidFill>
                  <a:srgbClr val="FF826E"/>
                </a:solidFill>
                <a:latin typeface="Aptos" pitchFamily="34" charset="0"/>
                <a:ea typeface="Aptos" pitchFamily="34" charset="-122"/>
                <a:cs typeface="Aptos" pitchFamily="34" charset="-120"/>
              </a:rPr>
              <a:t>Tasks</a:t>
            </a:r>
            <a:endParaRPr lang="en-US" sz="1100" dirty="0"/>
          </a:p>
        </p:txBody>
      </p:sp>
      <p:sp>
        <p:nvSpPr>
          <p:cNvPr id="28" name="Text 26"/>
          <p:cNvSpPr txBox="1"/>
          <p:nvPr/>
        </p:nvSpPr>
        <p:spPr>
          <a:xfrm>
            <a:off x="9784080" y="3666744"/>
            <a:ext cx="1280160" cy="210312"/>
          </a:xfrm>
          <a:prstGeom prst="rect">
            <a:avLst/>
          </a:prstGeom>
          <a:noFill/>
          <a:ln/>
        </p:spPr>
        <p:txBody>
          <a:bodyPr wrap="square" lIns="0" tIns="0" rIns="0" bIns="0" rtlCol="0" anchor="ctr">
            <a:normAutofit/>
          </a:bodyPr>
          <a:lstStyle/>
          <a:p>
            <a:pPr algn="ctr" indent="0" marL="0">
              <a:buNone/>
            </a:pPr>
            <a:r>
              <a:rPr lang="en-US" sz="1000" dirty="0">
                <a:solidFill>
                  <a:srgbClr val="5F6F84"/>
                </a:solidFill>
                <a:latin typeface="Aptos" pitchFamily="34" charset="0"/>
                <a:ea typeface="Aptos" pitchFamily="34" charset="-122"/>
                <a:cs typeface="Aptos" pitchFamily="34" charset="-120"/>
              </a:rPr>
              <a:t>▰  ▰  ▰</a:t>
            </a:r>
            <a:endParaRPr lang="en-US" sz="1000" dirty="0"/>
          </a:p>
        </p:txBody>
      </p:sp>
      <p:sp>
        <p:nvSpPr>
          <p:cNvPr id="29" name="Shape 27"/>
          <p:cNvSpPr/>
          <p:nvPr/>
        </p:nvSpPr>
        <p:spPr>
          <a:xfrm>
            <a:off x="6400800" y="4315968"/>
            <a:ext cx="1463040" cy="960120"/>
          </a:xfrm>
          <a:prstGeom prst="roundRect">
            <a:avLst>
              <a:gd name="adj" fmla="val 11429"/>
            </a:avLst>
          </a:prstGeom>
          <a:solidFill>
            <a:srgbClr val="EEE8FF"/>
          </a:solidFill>
          <a:ln w="1270">
            <a:solidFill>
              <a:srgbClr val="EEE8FF">
                <a:alpha val="0"/>
              </a:srgbClr>
            </a:solidFill>
            <a:prstDash val="solid"/>
          </a:ln>
        </p:spPr>
      </p:sp>
      <p:sp>
        <p:nvSpPr>
          <p:cNvPr id="30" name="Text 28"/>
          <p:cNvSpPr txBox="1"/>
          <p:nvPr/>
        </p:nvSpPr>
        <p:spPr>
          <a:xfrm>
            <a:off x="6492240" y="4443984"/>
            <a:ext cx="1280160" cy="219456"/>
          </a:xfrm>
          <a:prstGeom prst="rect">
            <a:avLst/>
          </a:prstGeom>
          <a:noFill/>
          <a:ln/>
        </p:spPr>
        <p:txBody>
          <a:bodyPr wrap="square" lIns="0" tIns="0" rIns="0" bIns="0" rtlCol="0" anchor="ctr">
            <a:normAutofit/>
          </a:bodyPr>
          <a:lstStyle/>
          <a:p>
            <a:pPr algn="ctr" indent="0" marL="0">
              <a:buNone/>
            </a:pPr>
            <a:r>
              <a:rPr lang="en-US" sz="1100" b="1" dirty="0">
                <a:solidFill>
                  <a:srgbClr val="8C6FE8"/>
                </a:solidFill>
                <a:latin typeface="Aptos" pitchFamily="34" charset="0"/>
                <a:ea typeface="Aptos" pitchFamily="34" charset="-122"/>
                <a:cs typeface="Aptos" pitchFamily="34" charset="-120"/>
              </a:rPr>
              <a:t>Reports</a:t>
            </a:r>
            <a:endParaRPr lang="en-US" sz="1100" dirty="0"/>
          </a:p>
        </p:txBody>
      </p:sp>
      <p:sp>
        <p:nvSpPr>
          <p:cNvPr id="31" name="Text 29"/>
          <p:cNvSpPr txBox="1"/>
          <p:nvPr/>
        </p:nvSpPr>
        <p:spPr>
          <a:xfrm>
            <a:off x="6492240" y="4809744"/>
            <a:ext cx="1280160" cy="210312"/>
          </a:xfrm>
          <a:prstGeom prst="rect">
            <a:avLst/>
          </a:prstGeom>
          <a:noFill/>
          <a:ln/>
        </p:spPr>
        <p:txBody>
          <a:bodyPr wrap="square" lIns="0" tIns="0" rIns="0" bIns="0" rtlCol="0" anchor="ctr">
            <a:normAutofit/>
          </a:bodyPr>
          <a:lstStyle/>
          <a:p>
            <a:pPr algn="ctr" indent="0" marL="0">
              <a:buNone/>
            </a:pPr>
            <a:r>
              <a:rPr lang="en-US" sz="1000" dirty="0">
                <a:solidFill>
                  <a:srgbClr val="5F6F84"/>
                </a:solidFill>
                <a:latin typeface="Aptos" pitchFamily="34" charset="0"/>
                <a:ea typeface="Aptos" pitchFamily="34" charset="-122"/>
                <a:cs typeface="Aptos" pitchFamily="34" charset="-120"/>
              </a:rPr>
              <a:t>▰  ▰  ▰</a:t>
            </a:r>
            <a:endParaRPr lang="en-US" sz="1000" dirty="0"/>
          </a:p>
        </p:txBody>
      </p:sp>
      <p:sp>
        <p:nvSpPr>
          <p:cNvPr id="32" name="Shape 30"/>
          <p:cNvSpPr/>
          <p:nvPr/>
        </p:nvSpPr>
        <p:spPr>
          <a:xfrm>
            <a:off x="8046720" y="4315968"/>
            <a:ext cx="1463040" cy="960120"/>
          </a:xfrm>
          <a:prstGeom prst="roundRect">
            <a:avLst>
              <a:gd name="adj" fmla="val 11429"/>
            </a:avLst>
          </a:prstGeom>
          <a:solidFill>
            <a:srgbClr val="FFF4D6"/>
          </a:solidFill>
          <a:ln w="1270">
            <a:solidFill>
              <a:srgbClr val="FFF4D6">
                <a:alpha val="0"/>
              </a:srgbClr>
            </a:solidFill>
            <a:prstDash val="solid"/>
          </a:ln>
        </p:spPr>
      </p:sp>
      <p:sp>
        <p:nvSpPr>
          <p:cNvPr id="33" name="Text 31"/>
          <p:cNvSpPr txBox="1"/>
          <p:nvPr/>
        </p:nvSpPr>
        <p:spPr>
          <a:xfrm>
            <a:off x="8138160" y="4443984"/>
            <a:ext cx="1280160" cy="219456"/>
          </a:xfrm>
          <a:prstGeom prst="rect">
            <a:avLst/>
          </a:prstGeom>
          <a:noFill/>
          <a:ln/>
        </p:spPr>
        <p:txBody>
          <a:bodyPr wrap="square" lIns="0" tIns="0" rIns="0" bIns="0" rtlCol="0" anchor="ctr">
            <a:normAutofit/>
          </a:bodyPr>
          <a:lstStyle/>
          <a:p>
            <a:pPr algn="ctr" indent="0" marL="0">
              <a:buNone/>
            </a:pPr>
            <a:r>
              <a:rPr lang="en-US" sz="1100" b="1" dirty="0">
                <a:solidFill>
                  <a:srgbClr val="A67500"/>
                </a:solidFill>
                <a:latin typeface="Aptos" pitchFamily="34" charset="0"/>
                <a:ea typeface="Aptos" pitchFamily="34" charset="-122"/>
                <a:cs typeface="Aptos" pitchFamily="34" charset="-120"/>
              </a:rPr>
              <a:t>Messages</a:t>
            </a:r>
            <a:endParaRPr lang="en-US" sz="1100" dirty="0"/>
          </a:p>
        </p:txBody>
      </p:sp>
      <p:sp>
        <p:nvSpPr>
          <p:cNvPr id="34" name="Text 32"/>
          <p:cNvSpPr txBox="1"/>
          <p:nvPr/>
        </p:nvSpPr>
        <p:spPr>
          <a:xfrm>
            <a:off x="8138160" y="4809744"/>
            <a:ext cx="1280160" cy="210312"/>
          </a:xfrm>
          <a:prstGeom prst="rect">
            <a:avLst/>
          </a:prstGeom>
          <a:noFill/>
          <a:ln/>
        </p:spPr>
        <p:txBody>
          <a:bodyPr wrap="square" lIns="0" tIns="0" rIns="0" bIns="0" rtlCol="0" anchor="ctr">
            <a:normAutofit/>
          </a:bodyPr>
          <a:lstStyle/>
          <a:p>
            <a:pPr algn="ctr" indent="0" marL="0">
              <a:buNone/>
            </a:pPr>
            <a:r>
              <a:rPr lang="en-US" sz="1000" dirty="0">
                <a:solidFill>
                  <a:srgbClr val="5F6F84"/>
                </a:solidFill>
                <a:latin typeface="Aptos" pitchFamily="34" charset="0"/>
                <a:ea typeface="Aptos" pitchFamily="34" charset="-122"/>
                <a:cs typeface="Aptos" pitchFamily="34" charset="-120"/>
              </a:rPr>
              <a:t>▰  ▰  ▰</a:t>
            </a:r>
            <a:endParaRPr lang="en-US" sz="1000" dirty="0"/>
          </a:p>
        </p:txBody>
      </p:sp>
      <p:sp>
        <p:nvSpPr>
          <p:cNvPr id="35" name="Shape 33"/>
          <p:cNvSpPr/>
          <p:nvPr/>
        </p:nvSpPr>
        <p:spPr>
          <a:xfrm>
            <a:off x="9692640" y="4315968"/>
            <a:ext cx="1463040" cy="960120"/>
          </a:xfrm>
          <a:prstGeom prst="roundRect">
            <a:avLst>
              <a:gd name="adj" fmla="val 11429"/>
            </a:avLst>
          </a:prstGeom>
          <a:solidFill>
            <a:srgbClr val="E0F5EA"/>
          </a:solidFill>
          <a:ln w="1270">
            <a:solidFill>
              <a:srgbClr val="E0F5EA">
                <a:alpha val="0"/>
              </a:srgbClr>
            </a:solidFill>
            <a:prstDash val="solid"/>
          </a:ln>
        </p:spPr>
      </p:sp>
      <p:sp>
        <p:nvSpPr>
          <p:cNvPr id="36" name="Text 34"/>
          <p:cNvSpPr txBox="1"/>
          <p:nvPr/>
        </p:nvSpPr>
        <p:spPr>
          <a:xfrm>
            <a:off x="9784080" y="4443984"/>
            <a:ext cx="1280160" cy="219456"/>
          </a:xfrm>
          <a:prstGeom prst="rect">
            <a:avLst/>
          </a:prstGeom>
          <a:noFill/>
          <a:ln/>
        </p:spPr>
        <p:txBody>
          <a:bodyPr wrap="square" lIns="0" tIns="0" rIns="0" bIns="0" rtlCol="0" anchor="ctr">
            <a:normAutofit/>
          </a:bodyPr>
          <a:lstStyle/>
          <a:p>
            <a:pPr algn="ctr" indent="0" marL="0">
              <a:buNone/>
            </a:pPr>
            <a:r>
              <a:rPr lang="en-US" sz="1100" b="1" dirty="0">
                <a:solidFill>
                  <a:srgbClr val="2E9D70"/>
                </a:solidFill>
                <a:latin typeface="Aptos" pitchFamily="34" charset="0"/>
                <a:ea typeface="Aptos" pitchFamily="34" charset="-122"/>
                <a:cs typeface="Aptos" pitchFamily="34" charset="-120"/>
              </a:rPr>
              <a:t>Settings</a:t>
            </a:r>
            <a:endParaRPr lang="en-US" sz="1100" dirty="0"/>
          </a:p>
        </p:txBody>
      </p:sp>
      <p:sp>
        <p:nvSpPr>
          <p:cNvPr id="37" name="Text 35"/>
          <p:cNvSpPr txBox="1"/>
          <p:nvPr/>
        </p:nvSpPr>
        <p:spPr>
          <a:xfrm>
            <a:off x="9784080" y="4809744"/>
            <a:ext cx="1280160" cy="210312"/>
          </a:xfrm>
          <a:prstGeom prst="rect">
            <a:avLst/>
          </a:prstGeom>
          <a:noFill/>
          <a:ln/>
        </p:spPr>
        <p:txBody>
          <a:bodyPr wrap="square" lIns="0" tIns="0" rIns="0" bIns="0" rtlCol="0" anchor="ctr">
            <a:normAutofit/>
          </a:bodyPr>
          <a:lstStyle/>
          <a:p>
            <a:pPr algn="ctr" indent="0" marL="0">
              <a:buNone/>
            </a:pPr>
            <a:r>
              <a:rPr lang="en-US" sz="1000" dirty="0">
                <a:solidFill>
                  <a:srgbClr val="5F6F84"/>
                </a:solidFill>
                <a:latin typeface="Aptos" pitchFamily="34" charset="0"/>
                <a:ea typeface="Aptos" pitchFamily="34" charset="-122"/>
                <a:cs typeface="Aptos" pitchFamily="34" charset="-120"/>
              </a:rPr>
              <a:t>▰  ▰  ▰</a:t>
            </a:r>
            <a:endParaRPr lang="en-US" sz="1000" dirty="0"/>
          </a:p>
        </p:txBody>
      </p:sp>
      <p:sp>
        <p:nvSpPr>
          <p:cNvPr id="38" name="Text 36"/>
          <p:cNvSpPr txBox="1"/>
          <p:nvPr/>
        </p:nvSpPr>
        <p:spPr>
          <a:xfrm>
            <a:off x="6400800" y="5504688"/>
            <a:ext cx="4709160" cy="228600"/>
          </a:xfrm>
          <a:prstGeom prst="rect">
            <a:avLst/>
          </a:prstGeom>
          <a:noFill/>
          <a:ln/>
        </p:spPr>
        <p:txBody>
          <a:bodyPr wrap="square" lIns="0" tIns="0" rIns="0" bIns="0" rtlCol="0" anchor="ctr">
            <a:normAutofit/>
          </a:bodyPr>
          <a:lstStyle/>
          <a:p>
            <a:pPr algn="ctr" indent="0" marL="0">
              <a:buNone/>
            </a:pPr>
            <a:r>
              <a:rPr lang="en-US" sz="1150" i="1" dirty="0">
                <a:solidFill>
                  <a:srgbClr val="5F6F84"/>
                </a:solidFill>
                <a:latin typeface="Aptos" pitchFamily="34" charset="0"/>
                <a:ea typeface="Aptos" pitchFamily="34" charset="-122"/>
                <a:cs typeface="Aptos" pitchFamily="34" charset="-120"/>
              </a:rPr>
              <a:t>Each item is placed automatically into the next grid cell.</a:t>
            </a:r>
            <a:endParaRPr lang="en-US" sz="1150" dirty="0"/>
          </a:p>
        </p:txBody>
      </p:sp>
      <p:sp>
        <p:nvSpPr>
          <p:cNvPr id="39" name="Text 37"/>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Source: The Odin Project — Grid and Flexbox/Grid topics</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13</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Three extra tools you will hear about</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They help web developers make their CSS more reliable or faster to write.</a:t>
            </a:r>
            <a:endParaRPr lang="en-US" sz="1250" dirty="0"/>
          </a:p>
        </p:txBody>
      </p:sp>
      <p:sp>
        <p:nvSpPr>
          <p:cNvPr id="5" name="Shape 3"/>
          <p:cNvSpPr/>
          <p:nvPr/>
        </p:nvSpPr>
        <p:spPr>
          <a:xfrm>
            <a:off x="731520" y="1828800"/>
            <a:ext cx="3200400" cy="3611880"/>
          </a:xfrm>
          <a:prstGeom prst="roundRect">
            <a:avLst>
              <a:gd name="adj" fmla="val 3429"/>
            </a:avLst>
          </a:prstGeom>
          <a:solidFill>
            <a:srgbClr val="FFFFFF"/>
          </a:solidFill>
          <a:ln w="12700">
            <a:solidFill>
              <a:srgbClr val="DEE5EE"/>
            </a:solidFill>
            <a:prstDash val="solid"/>
          </a:ln>
        </p:spPr>
      </p:sp>
      <p:sp>
        <p:nvSpPr>
          <p:cNvPr id="6" name="Shape 4"/>
          <p:cNvSpPr/>
          <p:nvPr/>
        </p:nvSpPr>
        <p:spPr>
          <a:xfrm>
            <a:off x="950976" y="2066544"/>
            <a:ext cx="530352" cy="502920"/>
          </a:xfrm>
          <a:prstGeom prst="roundRect">
            <a:avLst>
              <a:gd name="adj" fmla="val 21818"/>
            </a:avLst>
          </a:prstGeom>
          <a:solidFill>
            <a:srgbClr val="E8EDFF"/>
          </a:solidFill>
          <a:ln w="1270">
            <a:solidFill>
              <a:srgbClr val="E8EDFF">
                <a:alpha val="0"/>
              </a:srgbClr>
            </a:solidFill>
            <a:prstDash val="solid"/>
          </a:ln>
        </p:spPr>
      </p:sp>
      <p:sp>
        <p:nvSpPr>
          <p:cNvPr id="7" name="Text 5"/>
          <p:cNvSpPr txBox="1"/>
          <p:nvPr/>
        </p:nvSpPr>
        <p:spPr>
          <a:xfrm>
            <a:off x="978408" y="2157984"/>
            <a:ext cx="475488" cy="274320"/>
          </a:xfrm>
          <a:prstGeom prst="rect">
            <a:avLst/>
          </a:prstGeom>
          <a:noFill/>
          <a:ln/>
        </p:spPr>
        <p:txBody>
          <a:bodyPr wrap="square" lIns="0" tIns="0" rIns="0" bIns="0" rtlCol="0" anchor="ctr">
            <a:normAutofit/>
          </a:bodyPr>
          <a:lstStyle/>
          <a:p>
            <a:pPr algn="ctr" indent="0" marL="0">
              <a:buNone/>
            </a:pPr>
            <a:r>
              <a:rPr lang="en-US" sz="1200" b="1" dirty="0">
                <a:solidFill>
                  <a:srgbClr val="5272F2"/>
                </a:solidFill>
                <a:latin typeface="Aptos" pitchFamily="34" charset="0"/>
                <a:ea typeface="Aptos" pitchFamily="34" charset="-122"/>
                <a:cs typeface="Aptos" pitchFamily="34" charset="-120"/>
              </a:rPr>
              <a:t>01</a:t>
            </a:r>
            <a:endParaRPr lang="en-US" sz="1200" dirty="0"/>
          </a:p>
        </p:txBody>
      </p:sp>
      <p:sp>
        <p:nvSpPr>
          <p:cNvPr id="8" name="Text 6"/>
          <p:cNvSpPr txBox="1"/>
          <p:nvPr/>
        </p:nvSpPr>
        <p:spPr>
          <a:xfrm>
            <a:off x="950976" y="2743200"/>
            <a:ext cx="2761488" cy="457200"/>
          </a:xfrm>
          <a:prstGeom prst="rect">
            <a:avLst/>
          </a:prstGeom>
          <a:noFill/>
          <a:ln/>
        </p:spPr>
        <p:txBody>
          <a:bodyPr wrap="square" lIns="0" tIns="0" rIns="0" bIns="0" rtlCol="0" anchor="t">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Browser compatibility</a:t>
            </a:r>
            <a:endParaRPr lang="en-US" sz="1700" dirty="0"/>
          </a:p>
        </p:txBody>
      </p:sp>
      <p:sp>
        <p:nvSpPr>
          <p:cNvPr id="9" name="Text 7"/>
          <p:cNvSpPr txBox="1"/>
          <p:nvPr/>
        </p:nvSpPr>
        <p:spPr>
          <a:xfrm>
            <a:off x="950976" y="3246120"/>
            <a:ext cx="2743200" cy="393192"/>
          </a:xfrm>
          <a:prstGeom prst="rect">
            <a:avLst/>
          </a:prstGeom>
          <a:noFill/>
          <a:ln/>
        </p:spPr>
        <p:txBody>
          <a:bodyPr wrap="square" lIns="0" tIns="0" rIns="0" bIns="0" rtlCol="0" anchor="t">
            <a:normAutofit/>
          </a:bodyPr>
          <a:lstStyle/>
          <a:p>
            <a:pPr algn="l" indent="0" marL="0">
              <a:buNone/>
            </a:pPr>
            <a:r>
              <a:rPr lang="en-US" sz="1170" b="1" dirty="0">
                <a:solidFill>
                  <a:srgbClr val="5272F2"/>
                </a:solidFill>
                <a:latin typeface="Aptos" pitchFamily="34" charset="0"/>
                <a:ea typeface="Aptos" pitchFamily="34" charset="-122"/>
                <a:cs typeface="Aptos" pitchFamily="34" charset="-120"/>
              </a:rPr>
              <a:t>Will it work in different browsers?</a:t>
            </a:r>
            <a:endParaRPr lang="en-US" sz="1170" dirty="0"/>
          </a:p>
        </p:txBody>
      </p:sp>
      <p:sp>
        <p:nvSpPr>
          <p:cNvPr id="10" name="Text 8"/>
          <p:cNvSpPr txBox="1"/>
          <p:nvPr/>
        </p:nvSpPr>
        <p:spPr>
          <a:xfrm>
            <a:off x="950976" y="3739896"/>
            <a:ext cx="2743200" cy="822960"/>
          </a:xfrm>
          <a:prstGeom prst="rect">
            <a:avLst/>
          </a:prstGeom>
          <a:noFill/>
          <a:ln/>
        </p:spPr>
        <p:txBody>
          <a:bodyPr wrap="square" lIns="0" tIns="0" rIns="0" bIns="0" rtlCol="0" anchor="t">
            <a:normAutofit/>
          </a:bodyPr>
          <a:lstStyle/>
          <a:p>
            <a:pPr algn="l" indent="0" marL="0">
              <a:buNone/>
            </a:pPr>
            <a:r>
              <a:rPr lang="en-US" sz="1130" dirty="0">
                <a:solidFill>
                  <a:srgbClr val="5F6F84"/>
                </a:solidFill>
                <a:latin typeface="Aptos" pitchFamily="34" charset="0"/>
                <a:ea typeface="Aptos" pitchFamily="34" charset="-122"/>
                <a:cs typeface="Aptos" pitchFamily="34" charset="-120"/>
              </a:rPr>
              <a:t>Check which browsers support a feature. Test key pages in more than one browser and on different screen sizes.</a:t>
            </a:r>
            <a:endParaRPr lang="en-US" sz="1130" dirty="0"/>
          </a:p>
        </p:txBody>
      </p:sp>
      <p:sp>
        <p:nvSpPr>
          <p:cNvPr id="11" name="Shape 9"/>
          <p:cNvSpPr/>
          <p:nvPr/>
        </p:nvSpPr>
        <p:spPr>
          <a:xfrm>
            <a:off x="950976" y="4791456"/>
            <a:ext cx="2761488" cy="384048"/>
          </a:xfrm>
          <a:prstGeom prst="roundRect">
            <a:avLst>
              <a:gd name="adj" fmla="val 28571"/>
            </a:avLst>
          </a:prstGeom>
          <a:solidFill>
            <a:srgbClr val="E8EDFF"/>
          </a:solidFill>
          <a:ln w="1270">
            <a:solidFill>
              <a:srgbClr val="E8EDFF">
                <a:alpha val="0"/>
              </a:srgbClr>
            </a:solidFill>
            <a:prstDash val="solid"/>
          </a:ln>
        </p:spPr>
      </p:sp>
      <p:sp>
        <p:nvSpPr>
          <p:cNvPr id="12" name="Text 10"/>
          <p:cNvSpPr txBox="1"/>
          <p:nvPr/>
        </p:nvSpPr>
        <p:spPr>
          <a:xfrm>
            <a:off x="1024128" y="4864608"/>
            <a:ext cx="2615184" cy="219456"/>
          </a:xfrm>
          <a:prstGeom prst="rect">
            <a:avLst/>
          </a:prstGeom>
          <a:noFill/>
          <a:ln/>
        </p:spPr>
        <p:txBody>
          <a:bodyPr wrap="square" lIns="0" tIns="0" rIns="0" bIns="0" rtlCol="0" anchor="ctr">
            <a:normAutofit/>
          </a:bodyPr>
          <a:lstStyle/>
          <a:p>
            <a:pPr algn="ctr" indent="0" marL="0">
              <a:buNone/>
            </a:pPr>
            <a:r>
              <a:rPr lang="en-US" sz="980" b="1" dirty="0">
                <a:solidFill>
                  <a:srgbClr val="5272F2"/>
                </a:solidFill>
                <a:latin typeface="Aptos" pitchFamily="34" charset="0"/>
                <a:ea typeface="Aptos" pitchFamily="34" charset="-122"/>
                <a:cs typeface="Aptos" pitchFamily="34" charset="-120"/>
              </a:rPr>
              <a:t>Example: Chrome + Firefox + Safari</a:t>
            </a:r>
            <a:endParaRPr lang="en-US" sz="980" dirty="0"/>
          </a:p>
        </p:txBody>
      </p:sp>
      <p:sp>
        <p:nvSpPr>
          <p:cNvPr id="13" name="Shape 11"/>
          <p:cNvSpPr/>
          <p:nvPr/>
        </p:nvSpPr>
        <p:spPr>
          <a:xfrm>
            <a:off x="4498848" y="1828800"/>
            <a:ext cx="3200400" cy="3611880"/>
          </a:xfrm>
          <a:prstGeom prst="roundRect">
            <a:avLst>
              <a:gd name="adj" fmla="val 3429"/>
            </a:avLst>
          </a:prstGeom>
          <a:solidFill>
            <a:srgbClr val="FFFFFF"/>
          </a:solidFill>
          <a:ln w="12700">
            <a:solidFill>
              <a:srgbClr val="DEE5EE"/>
            </a:solidFill>
            <a:prstDash val="solid"/>
          </a:ln>
        </p:spPr>
      </p:sp>
      <p:sp>
        <p:nvSpPr>
          <p:cNvPr id="14" name="Shape 12"/>
          <p:cNvSpPr/>
          <p:nvPr/>
        </p:nvSpPr>
        <p:spPr>
          <a:xfrm>
            <a:off x="4718304" y="2066544"/>
            <a:ext cx="530352" cy="502920"/>
          </a:xfrm>
          <a:prstGeom prst="roundRect">
            <a:avLst>
              <a:gd name="adj" fmla="val 21818"/>
            </a:avLst>
          </a:prstGeom>
          <a:solidFill>
            <a:srgbClr val="DDF7F2"/>
          </a:solidFill>
          <a:ln w="1270">
            <a:solidFill>
              <a:srgbClr val="DDF7F2">
                <a:alpha val="0"/>
              </a:srgbClr>
            </a:solidFill>
            <a:prstDash val="solid"/>
          </a:ln>
        </p:spPr>
      </p:sp>
      <p:sp>
        <p:nvSpPr>
          <p:cNvPr id="15" name="Text 13"/>
          <p:cNvSpPr txBox="1"/>
          <p:nvPr/>
        </p:nvSpPr>
        <p:spPr>
          <a:xfrm>
            <a:off x="4745736" y="2157984"/>
            <a:ext cx="475488" cy="274320"/>
          </a:xfrm>
          <a:prstGeom prst="rect">
            <a:avLst/>
          </a:prstGeom>
          <a:noFill/>
          <a:ln/>
        </p:spPr>
        <p:txBody>
          <a:bodyPr wrap="square" lIns="0" tIns="0" rIns="0" bIns="0" rtlCol="0" anchor="ctr">
            <a:normAutofit/>
          </a:bodyPr>
          <a:lstStyle/>
          <a:p>
            <a:pPr algn="ctr" indent="0" marL="0">
              <a:buNone/>
            </a:pPr>
            <a:r>
              <a:rPr lang="en-US" sz="1200" b="1" dirty="0">
                <a:solidFill>
                  <a:srgbClr val="16B7A4"/>
                </a:solidFill>
                <a:latin typeface="Aptos" pitchFamily="34" charset="0"/>
                <a:ea typeface="Aptos" pitchFamily="34" charset="-122"/>
                <a:cs typeface="Aptos" pitchFamily="34" charset="-120"/>
              </a:rPr>
              <a:t>02</a:t>
            </a:r>
            <a:endParaRPr lang="en-US" sz="1200" dirty="0"/>
          </a:p>
        </p:txBody>
      </p:sp>
      <p:sp>
        <p:nvSpPr>
          <p:cNvPr id="16" name="Text 14"/>
          <p:cNvSpPr txBox="1"/>
          <p:nvPr/>
        </p:nvSpPr>
        <p:spPr>
          <a:xfrm>
            <a:off x="4718304" y="2743200"/>
            <a:ext cx="2761488" cy="457200"/>
          </a:xfrm>
          <a:prstGeom prst="rect">
            <a:avLst/>
          </a:prstGeom>
          <a:noFill/>
          <a:ln/>
        </p:spPr>
        <p:txBody>
          <a:bodyPr wrap="square" lIns="0" tIns="0" rIns="0" bIns="0" rtlCol="0" anchor="t">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CSS frameworks</a:t>
            </a:r>
            <a:endParaRPr lang="en-US" sz="1700" dirty="0"/>
          </a:p>
        </p:txBody>
      </p:sp>
      <p:sp>
        <p:nvSpPr>
          <p:cNvPr id="17" name="Text 15"/>
          <p:cNvSpPr txBox="1"/>
          <p:nvPr/>
        </p:nvSpPr>
        <p:spPr>
          <a:xfrm>
            <a:off x="4718304" y="3246120"/>
            <a:ext cx="2743200" cy="393192"/>
          </a:xfrm>
          <a:prstGeom prst="rect">
            <a:avLst/>
          </a:prstGeom>
          <a:noFill/>
          <a:ln/>
        </p:spPr>
        <p:txBody>
          <a:bodyPr wrap="square" lIns="0" tIns="0" rIns="0" bIns="0" rtlCol="0" anchor="t">
            <a:normAutofit/>
          </a:bodyPr>
          <a:lstStyle/>
          <a:p>
            <a:pPr algn="l" indent="0" marL="0">
              <a:buNone/>
            </a:pPr>
            <a:r>
              <a:rPr lang="en-US" sz="1170" b="1" dirty="0">
                <a:solidFill>
                  <a:srgbClr val="16B7A4"/>
                </a:solidFill>
                <a:latin typeface="Aptos" pitchFamily="34" charset="0"/>
                <a:ea typeface="Aptos" pitchFamily="34" charset="-122"/>
                <a:cs typeface="Aptos" pitchFamily="34" charset="-120"/>
              </a:rPr>
              <a:t>Can I reuse ready-made patterns?</a:t>
            </a:r>
            <a:endParaRPr lang="en-US" sz="1170" dirty="0"/>
          </a:p>
        </p:txBody>
      </p:sp>
      <p:sp>
        <p:nvSpPr>
          <p:cNvPr id="18" name="Text 16"/>
          <p:cNvSpPr txBox="1"/>
          <p:nvPr/>
        </p:nvSpPr>
        <p:spPr>
          <a:xfrm>
            <a:off x="4718304" y="3739896"/>
            <a:ext cx="2743200" cy="822960"/>
          </a:xfrm>
          <a:prstGeom prst="rect">
            <a:avLst/>
          </a:prstGeom>
          <a:noFill/>
          <a:ln/>
        </p:spPr>
        <p:txBody>
          <a:bodyPr wrap="square" lIns="0" tIns="0" rIns="0" bIns="0" rtlCol="0" anchor="t">
            <a:normAutofit/>
          </a:bodyPr>
          <a:lstStyle/>
          <a:p>
            <a:pPr algn="l" indent="0" marL="0">
              <a:buNone/>
            </a:pPr>
            <a:r>
              <a:rPr lang="en-US" sz="1130" dirty="0">
                <a:solidFill>
                  <a:srgbClr val="5F6F84"/>
                </a:solidFill>
                <a:latin typeface="Aptos" pitchFamily="34" charset="0"/>
                <a:ea typeface="Aptos" pitchFamily="34" charset="-122"/>
                <a:cs typeface="Aptos" pitchFamily="34" charset="-120"/>
              </a:rPr>
              <a:t>Frameworks provide prebuilt styles or utility classes, so common layouts and components are faster to create.</a:t>
            </a:r>
            <a:endParaRPr lang="en-US" sz="1130" dirty="0"/>
          </a:p>
        </p:txBody>
      </p:sp>
      <p:sp>
        <p:nvSpPr>
          <p:cNvPr id="19" name="Shape 17"/>
          <p:cNvSpPr/>
          <p:nvPr/>
        </p:nvSpPr>
        <p:spPr>
          <a:xfrm>
            <a:off x="4718304" y="4791456"/>
            <a:ext cx="2761488" cy="384048"/>
          </a:xfrm>
          <a:prstGeom prst="roundRect">
            <a:avLst>
              <a:gd name="adj" fmla="val 28571"/>
            </a:avLst>
          </a:prstGeom>
          <a:solidFill>
            <a:srgbClr val="DDF7F2"/>
          </a:solidFill>
          <a:ln w="1270">
            <a:solidFill>
              <a:srgbClr val="DDF7F2">
                <a:alpha val="0"/>
              </a:srgbClr>
            </a:solidFill>
            <a:prstDash val="solid"/>
          </a:ln>
        </p:spPr>
      </p:sp>
      <p:sp>
        <p:nvSpPr>
          <p:cNvPr id="20" name="Text 18"/>
          <p:cNvSpPr txBox="1"/>
          <p:nvPr/>
        </p:nvSpPr>
        <p:spPr>
          <a:xfrm>
            <a:off x="4791456" y="4864608"/>
            <a:ext cx="2615184" cy="219456"/>
          </a:xfrm>
          <a:prstGeom prst="rect">
            <a:avLst/>
          </a:prstGeom>
          <a:noFill/>
          <a:ln/>
        </p:spPr>
        <p:txBody>
          <a:bodyPr wrap="square" lIns="0" tIns="0" rIns="0" bIns="0" rtlCol="0" anchor="ctr">
            <a:normAutofit/>
          </a:bodyPr>
          <a:lstStyle/>
          <a:p>
            <a:pPr algn="ctr" indent="0" marL="0">
              <a:buNone/>
            </a:pPr>
            <a:r>
              <a:rPr lang="en-US" sz="980" b="1" dirty="0">
                <a:solidFill>
                  <a:srgbClr val="16B7A4"/>
                </a:solidFill>
                <a:latin typeface="Aptos" pitchFamily="34" charset="0"/>
                <a:ea typeface="Aptos" pitchFamily="34" charset="-122"/>
                <a:cs typeface="Aptos" pitchFamily="34" charset="-120"/>
              </a:rPr>
              <a:t>Examples: Bootstrap, Tailwind CSS</a:t>
            </a:r>
            <a:endParaRPr lang="en-US" sz="980" dirty="0"/>
          </a:p>
        </p:txBody>
      </p:sp>
      <p:sp>
        <p:nvSpPr>
          <p:cNvPr id="21" name="Shape 19"/>
          <p:cNvSpPr/>
          <p:nvPr/>
        </p:nvSpPr>
        <p:spPr>
          <a:xfrm>
            <a:off x="8266176" y="1828800"/>
            <a:ext cx="3200400" cy="3611880"/>
          </a:xfrm>
          <a:prstGeom prst="roundRect">
            <a:avLst>
              <a:gd name="adj" fmla="val 3429"/>
            </a:avLst>
          </a:prstGeom>
          <a:solidFill>
            <a:srgbClr val="FFFFFF"/>
          </a:solidFill>
          <a:ln w="12700">
            <a:solidFill>
              <a:srgbClr val="DEE5EE"/>
            </a:solidFill>
            <a:prstDash val="solid"/>
          </a:ln>
        </p:spPr>
      </p:sp>
      <p:sp>
        <p:nvSpPr>
          <p:cNvPr id="22" name="Shape 20"/>
          <p:cNvSpPr/>
          <p:nvPr/>
        </p:nvSpPr>
        <p:spPr>
          <a:xfrm>
            <a:off x="8485632" y="2066544"/>
            <a:ext cx="530352" cy="502920"/>
          </a:xfrm>
          <a:prstGeom prst="roundRect">
            <a:avLst>
              <a:gd name="adj" fmla="val 21818"/>
            </a:avLst>
          </a:prstGeom>
          <a:solidFill>
            <a:srgbClr val="FFE8E3"/>
          </a:solidFill>
          <a:ln w="1270">
            <a:solidFill>
              <a:srgbClr val="FFE8E3">
                <a:alpha val="0"/>
              </a:srgbClr>
            </a:solidFill>
            <a:prstDash val="solid"/>
          </a:ln>
        </p:spPr>
      </p:sp>
      <p:sp>
        <p:nvSpPr>
          <p:cNvPr id="23" name="Text 21"/>
          <p:cNvSpPr txBox="1"/>
          <p:nvPr/>
        </p:nvSpPr>
        <p:spPr>
          <a:xfrm>
            <a:off x="8513064" y="2157984"/>
            <a:ext cx="475488" cy="274320"/>
          </a:xfrm>
          <a:prstGeom prst="rect">
            <a:avLst/>
          </a:prstGeom>
          <a:noFill/>
          <a:ln/>
        </p:spPr>
        <p:txBody>
          <a:bodyPr wrap="square" lIns="0" tIns="0" rIns="0" bIns="0" rtlCol="0" anchor="ctr">
            <a:normAutofit/>
          </a:bodyPr>
          <a:lstStyle/>
          <a:p>
            <a:pPr algn="ctr" indent="0" marL="0">
              <a:buNone/>
            </a:pPr>
            <a:r>
              <a:rPr lang="en-US" sz="1200" b="1" dirty="0">
                <a:solidFill>
                  <a:srgbClr val="FF826E"/>
                </a:solidFill>
                <a:latin typeface="Aptos" pitchFamily="34" charset="0"/>
                <a:ea typeface="Aptos" pitchFamily="34" charset="-122"/>
                <a:cs typeface="Aptos" pitchFamily="34" charset="-120"/>
              </a:rPr>
              <a:t>03</a:t>
            </a:r>
            <a:endParaRPr lang="en-US" sz="1200" dirty="0"/>
          </a:p>
        </p:txBody>
      </p:sp>
      <p:sp>
        <p:nvSpPr>
          <p:cNvPr id="24" name="Text 22"/>
          <p:cNvSpPr txBox="1"/>
          <p:nvPr/>
        </p:nvSpPr>
        <p:spPr>
          <a:xfrm>
            <a:off x="8485632" y="2743200"/>
            <a:ext cx="2761488" cy="457200"/>
          </a:xfrm>
          <a:prstGeom prst="rect">
            <a:avLst/>
          </a:prstGeom>
          <a:noFill/>
          <a:ln/>
        </p:spPr>
        <p:txBody>
          <a:bodyPr wrap="square" lIns="0" tIns="0" rIns="0" bIns="0" rtlCol="0" anchor="t">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CSS preprocessors</a:t>
            </a:r>
            <a:endParaRPr lang="en-US" sz="1700" dirty="0"/>
          </a:p>
        </p:txBody>
      </p:sp>
      <p:sp>
        <p:nvSpPr>
          <p:cNvPr id="25" name="Text 23"/>
          <p:cNvSpPr txBox="1"/>
          <p:nvPr/>
        </p:nvSpPr>
        <p:spPr>
          <a:xfrm>
            <a:off x="8485632" y="3246120"/>
            <a:ext cx="2743200" cy="393192"/>
          </a:xfrm>
          <a:prstGeom prst="rect">
            <a:avLst/>
          </a:prstGeom>
          <a:noFill/>
          <a:ln/>
        </p:spPr>
        <p:txBody>
          <a:bodyPr wrap="square" lIns="0" tIns="0" rIns="0" bIns="0" rtlCol="0" anchor="t">
            <a:normAutofit/>
          </a:bodyPr>
          <a:lstStyle/>
          <a:p>
            <a:pPr algn="l" indent="0" marL="0">
              <a:buNone/>
            </a:pPr>
            <a:r>
              <a:rPr lang="en-US" sz="1170" b="1" dirty="0">
                <a:solidFill>
                  <a:srgbClr val="FF826E"/>
                </a:solidFill>
                <a:latin typeface="Aptos" pitchFamily="34" charset="0"/>
                <a:ea typeface="Aptos" pitchFamily="34" charset="-122"/>
                <a:cs typeface="Aptos" pitchFamily="34" charset="-120"/>
              </a:rPr>
              <a:t>Can I write CSS with extra features?</a:t>
            </a:r>
            <a:endParaRPr lang="en-US" sz="1170" dirty="0"/>
          </a:p>
        </p:txBody>
      </p:sp>
      <p:sp>
        <p:nvSpPr>
          <p:cNvPr id="26" name="Text 24"/>
          <p:cNvSpPr txBox="1"/>
          <p:nvPr/>
        </p:nvSpPr>
        <p:spPr>
          <a:xfrm>
            <a:off x="8485632" y="3739896"/>
            <a:ext cx="2743200" cy="822960"/>
          </a:xfrm>
          <a:prstGeom prst="rect">
            <a:avLst/>
          </a:prstGeom>
          <a:noFill/>
          <a:ln/>
        </p:spPr>
        <p:txBody>
          <a:bodyPr wrap="square" lIns="0" tIns="0" rIns="0" bIns="0" rtlCol="0" anchor="t">
            <a:normAutofit/>
          </a:bodyPr>
          <a:lstStyle/>
          <a:p>
            <a:pPr algn="l" indent="0" marL="0">
              <a:buNone/>
            </a:pPr>
            <a:r>
              <a:rPr lang="en-US" sz="1130" dirty="0">
                <a:solidFill>
                  <a:srgbClr val="5F6F84"/>
                </a:solidFill>
                <a:latin typeface="Aptos" pitchFamily="34" charset="0"/>
                <a:ea typeface="Aptos" pitchFamily="34" charset="-122"/>
                <a:cs typeface="Aptos" pitchFamily="34" charset="-120"/>
              </a:rPr>
              <a:t>Tools such as Sass add conveniences that are compiled into regular CSS for browsers.</a:t>
            </a:r>
            <a:endParaRPr lang="en-US" sz="1130" dirty="0"/>
          </a:p>
        </p:txBody>
      </p:sp>
      <p:sp>
        <p:nvSpPr>
          <p:cNvPr id="27" name="Shape 25"/>
          <p:cNvSpPr/>
          <p:nvPr/>
        </p:nvSpPr>
        <p:spPr>
          <a:xfrm>
            <a:off x="8485632" y="4791456"/>
            <a:ext cx="2761488" cy="384048"/>
          </a:xfrm>
          <a:prstGeom prst="roundRect">
            <a:avLst>
              <a:gd name="adj" fmla="val 28571"/>
            </a:avLst>
          </a:prstGeom>
          <a:solidFill>
            <a:srgbClr val="FFE8E3"/>
          </a:solidFill>
          <a:ln w="1270">
            <a:solidFill>
              <a:srgbClr val="FFE8E3">
                <a:alpha val="0"/>
              </a:srgbClr>
            </a:solidFill>
            <a:prstDash val="solid"/>
          </a:ln>
        </p:spPr>
      </p:sp>
      <p:sp>
        <p:nvSpPr>
          <p:cNvPr id="28" name="Text 26"/>
          <p:cNvSpPr txBox="1"/>
          <p:nvPr/>
        </p:nvSpPr>
        <p:spPr>
          <a:xfrm>
            <a:off x="8558784" y="4864608"/>
            <a:ext cx="2615184" cy="219456"/>
          </a:xfrm>
          <a:prstGeom prst="rect">
            <a:avLst/>
          </a:prstGeom>
          <a:noFill/>
          <a:ln/>
        </p:spPr>
        <p:txBody>
          <a:bodyPr wrap="square" lIns="0" tIns="0" rIns="0" bIns="0" rtlCol="0" anchor="ctr">
            <a:normAutofit/>
          </a:bodyPr>
          <a:lstStyle/>
          <a:p>
            <a:pPr algn="ctr" indent="0" marL="0">
              <a:buNone/>
            </a:pPr>
            <a:r>
              <a:rPr lang="en-US" sz="980" b="1" dirty="0">
                <a:solidFill>
                  <a:srgbClr val="FF826E"/>
                </a:solidFill>
                <a:latin typeface="Aptos" pitchFamily="34" charset="0"/>
                <a:ea typeface="Aptos" pitchFamily="34" charset="-122"/>
                <a:cs typeface="Aptos" pitchFamily="34" charset="-120"/>
              </a:rPr>
              <a:t>Example: Sass variables and nesting</a:t>
            </a:r>
            <a:endParaRPr lang="en-US" sz="980" dirty="0"/>
          </a:p>
        </p:txBody>
      </p:sp>
      <p:sp>
        <p:nvSpPr>
          <p:cNvPr id="29" name="Shape 27"/>
          <p:cNvSpPr/>
          <p:nvPr/>
        </p:nvSpPr>
        <p:spPr>
          <a:xfrm>
            <a:off x="1298448" y="5669280"/>
            <a:ext cx="9555480" cy="310896"/>
          </a:xfrm>
          <a:prstGeom prst="roundRect">
            <a:avLst>
              <a:gd name="adj" fmla="val 35294"/>
            </a:avLst>
          </a:prstGeom>
          <a:solidFill>
            <a:srgbClr val="FFF4D6"/>
          </a:solidFill>
          <a:ln w="12700">
            <a:solidFill>
              <a:srgbClr val="F1E2B5"/>
            </a:solidFill>
            <a:prstDash val="solid"/>
          </a:ln>
        </p:spPr>
      </p:sp>
      <p:sp>
        <p:nvSpPr>
          <p:cNvPr id="30" name="Text 28"/>
          <p:cNvSpPr txBox="1"/>
          <p:nvPr/>
        </p:nvSpPr>
        <p:spPr>
          <a:xfrm>
            <a:off x="1481328" y="5705856"/>
            <a:ext cx="9189720" cy="228600"/>
          </a:xfrm>
          <a:prstGeom prst="rect">
            <a:avLst/>
          </a:prstGeom>
          <a:noFill/>
          <a:ln/>
        </p:spPr>
        <p:txBody>
          <a:bodyPr wrap="square" lIns="0" tIns="0" rIns="0" bIns="0" rtlCol="0" anchor="ctr">
            <a:normAutofit/>
          </a:bodyPr>
          <a:lstStyle/>
          <a:p>
            <a:pPr algn="ctr" indent="0" marL="0">
              <a:buNone/>
            </a:pPr>
            <a:r>
              <a:rPr lang="en-US" sz="1150" b="1" dirty="0">
                <a:solidFill>
                  <a:srgbClr val="8A6500"/>
                </a:solidFill>
                <a:latin typeface="Aptos" pitchFamily="34" charset="0"/>
                <a:ea typeface="Aptos" pitchFamily="34" charset="-122"/>
                <a:cs typeface="Aptos" pitchFamily="34" charset="-120"/>
              </a:rPr>
              <a:t>Beginner advice: understand standard HTML and CSS first; add tools when they solve a real problem.</a:t>
            </a:r>
            <a:endParaRPr lang="en-US" sz="1150" dirty="0"/>
          </a:p>
        </p:txBody>
      </p:sp>
      <p:sp>
        <p:nvSpPr>
          <p:cNvPr id="31" name="Text 29"/>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 Browser Compatibility and Frameworks/Preprocessors topics</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14</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Mini project: design a sign-up page</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A small project lets you practice HTML structure, forms, CSS and layout in one place.</a:t>
            </a:r>
            <a:endParaRPr lang="en-US" sz="1250" dirty="0"/>
          </a:p>
        </p:txBody>
      </p:sp>
      <p:sp>
        <p:nvSpPr>
          <p:cNvPr id="5" name="Shape 3"/>
          <p:cNvSpPr/>
          <p:nvPr/>
        </p:nvSpPr>
        <p:spPr>
          <a:xfrm>
            <a:off x="685800" y="1737360"/>
            <a:ext cx="4892040" cy="4261104"/>
          </a:xfrm>
          <a:prstGeom prst="roundRect">
            <a:avLst>
              <a:gd name="adj" fmla="val 2575"/>
            </a:avLst>
          </a:prstGeom>
          <a:solidFill>
            <a:srgbClr val="FFFFFF"/>
          </a:solidFill>
          <a:ln w="12700">
            <a:solidFill>
              <a:srgbClr val="DEE5EE"/>
            </a:solidFill>
            <a:prstDash val="solid"/>
          </a:ln>
        </p:spPr>
      </p:sp>
      <p:sp>
        <p:nvSpPr>
          <p:cNvPr id="6" name="Text 4"/>
          <p:cNvSpPr txBox="1"/>
          <p:nvPr/>
        </p:nvSpPr>
        <p:spPr>
          <a:xfrm>
            <a:off x="987552" y="2029968"/>
            <a:ext cx="2926080" cy="310896"/>
          </a:xfrm>
          <a:prstGeom prst="rect">
            <a:avLst/>
          </a:prstGeom>
          <a:noFill/>
          <a:ln/>
        </p:spPr>
        <p:txBody>
          <a:bodyPr wrap="square" lIns="0" tIns="0" rIns="0" bIns="0" rtlCol="0" anchor="ctr">
            <a:normAutofit/>
          </a:bodyPr>
          <a:lstStyle/>
          <a:p>
            <a:pPr algn="l" indent="0" marL="0">
              <a:buNone/>
            </a:pPr>
            <a:r>
              <a:rPr lang="en-US" sz="1900" b="1" dirty="0">
                <a:solidFill>
                  <a:srgbClr val="101828"/>
                </a:solidFill>
                <a:latin typeface="Aptos" pitchFamily="34" charset="0"/>
                <a:ea typeface="Aptos" pitchFamily="34" charset="-122"/>
                <a:cs typeface="Aptos" pitchFamily="34" charset="-120"/>
              </a:rPr>
              <a:t>Build in this order</a:t>
            </a:r>
            <a:endParaRPr lang="en-US" sz="1900" dirty="0"/>
          </a:p>
        </p:txBody>
      </p:sp>
      <p:sp>
        <p:nvSpPr>
          <p:cNvPr id="7" name="Shape 5"/>
          <p:cNvSpPr/>
          <p:nvPr/>
        </p:nvSpPr>
        <p:spPr>
          <a:xfrm>
            <a:off x="1005840" y="2615184"/>
            <a:ext cx="347472" cy="347472"/>
          </a:xfrm>
          <a:prstGeom prst="ellipse">
            <a:avLst/>
          </a:prstGeom>
          <a:solidFill>
            <a:srgbClr val="5272F2"/>
          </a:solidFill>
          <a:ln w="12700">
            <a:solidFill>
              <a:srgbClr val="5272F2"/>
            </a:solidFill>
            <a:prstDash val="solid"/>
          </a:ln>
        </p:spPr>
      </p:sp>
      <p:sp>
        <p:nvSpPr>
          <p:cNvPr id="8" name="Text 6"/>
          <p:cNvSpPr txBox="1"/>
          <p:nvPr/>
        </p:nvSpPr>
        <p:spPr>
          <a:xfrm>
            <a:off x="1005840" y="2660904"/>
            <a:ext cx="347472"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9" name="Text 7"/>
          <p:cNvSpPr txBox="1"/>
          <p:nvPr/>
        </p:nvSpPr>
        <p:spPr>
          <a:xfrm>
            <a:off x="1554480" y="2606040"/>
            <a:ext cx="3383280" cy="237744"/>
          </a:xfrm>
          <a:prstGeom prst="rect">
            <a:avLst/>
          </a:prstGeom>
          <a:noFill/>
          <a:ln/>
        </p:spPr>
        <p:txBody>
          <a:bodyPr wrap="square" lIns="0" tIns="0" rIns="0" bIns="0" rtlCol="0" anchor="ctr">
            <a:normAutofit/>
          </a:bodyPr>
          <a:lstStyle/>
          <a:p>
            <a:pPr algn="l" indent="0" marL="0">
              <a:buNone/>
            </a:pPr>
            <a:r>
              <a:rPr lang="en-US" sz="1300" b="1" dirty="0">
                <a:solidFill>
                  <a:srgbClr val="101828"/>
                </a:solidFill>
                <a:latin typeface="Aptos" pitchFamily="34" charset="0"/>
                <a:ea typeface="Aptos" pitchFamily="34" charset="-122"/>
                <a:cs typeface="Aptos" pitchFamily="34" charset="-120"/>
              </a:rPr>
              <a:t>Create the HTML form</a:t>
            </a:r>
            <a:endParaRPr lang="en-US" sz="1300" dirty="0"/>
          </a:p>
        </p:txBody>
      </p:sp>
      <p:sp>
        <p:nvSpPr>
          <p:cNvPr id="10" name="Text 8"/>
          <p:cNvSpPr txBox="1"/>
          <p:nvPr/>
        </p:nvSpPr>
        <p:spPr>
          <a:xfrm>
            <a:off x="1554480" y="2889504"/>
            <a:ext cx="3611880" cy="310896"/>
          </a:xfrm>
          <a:prstGeom prst="rect">
            <a:avLst/>
          </a:prstGeom>
          <a:noFill/>
          <a:ln/>
        </p:spPr>
        <p:txBody>
          <a:bodyPr wrap="square" lIns="0" tIns="0" rIns="0" bIns="0" rtlCol="0" anchor="t">
            <a:normAutofit/>
          </a:bodyPr>
          <a:lstStyle/>
          <a:p>
            <a:pPr algn="l" indent="0" marL="0">
              <a:buNone/>
            </a:pPr>
            <a:r>
              <a:rPr lang="en-US" sz="1070" dirty="0">
                <a:solidFill>
                  <a:srgbClr val="5F6F84"/>
                </a:solidFill>
                <a:latin typeface="Aptos" pitchFamily="34" charset="0"/>
                <a:ea typeface="Aptos" pitchFamily="34" charset="-122"/>
                <a:cs typeface="Aptos" pitchFamily="34" charset="-120"/>
              </a:rPr>
              <a:t>Labels, name/email/password inputs, submit button</a:t>
            </a:r>
            <a:endParaRPr lang="en-US" sz="1070" dirty="0"/>
          </a:p>
        </p:txBody>
      </p:sp>
      <p:sp>
        <p:nvSpPr>
          <p:cNvPr id="11" name="Shape 9"/>
          <p:cNvSpPr/>
          <p:nvPr/>
        </p:nvSpPr>
        <p:spPr>
          <a:xfrm>
            <a:off x="1005840" y="3337560"/>
            <a:ext cx="347472" cy="347472"/>
          </a:xfrm>
          <a:prstGeom prst="ellipse">
            <a:avLst/>
          </a:prstGeom>
          <a:solidFill>
            <a:srgbClr val="16B7A4"/>
          </a:solidFill>
          <a:ln w="12700">
            <a:solidFill>
              <a:srgbClr val="16B7A4"/>
            </a:solidFill>
            <a:prstDash val="solid"/>
          </a:ln>
        </p:spPr>
      </p:sp>
      <p:sp>
        <p:nvSpPr>
          <p:cNvPr id="12" name="Text 10"/>
          <p:cNvSpPr txBox="1"/>
          <p:nvPr/>
        </p:nvSpPr>
        <p:spPr>
          <a:xfrm>
            <a:off x="1005840" y="3383280"/>
            <a:ext cx="347472"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3" name="Text 11"/>
          <p:cNvSpPr txBox="1"/>
          <p:nvPr/>
        </p:nvSpPr>
        <p:spPr>
          <a:xfrm>
            <a:off x="1554480" y="3328416"/>
            <a:ext cx="3383280" cy="237744"/>
          </a:xfrm>
          <a:prstGeom prst="rect">
            <a:avLst/>
          </a:prstGeom>
          <a:noFill/>
          <a:ln/>
        </p:spPr>
        <p:txBody>
          <a:bodyPr wrap="square" lIns="0" tIns="0" rIns="0" bIns="0" rtlCol="0" anchor="ctr">
            <a:normAutofit/>
          </a:bodyPr>
          <a:lstStyle/>
          <a:p>
            <a:pPr algn="l" indent="0" marL="0">
              <a:buNone/>
            </a:pPr>
            <a:r>
              <a:rPr lang="en-US" sz="1300" b="1" dirty="0">
                <a:solidFill>
                  <a:srgbClr val="101828"/>
                </a:solidFill>
                <a:latin typeface="Aptos" pitchFamily="34" charset="0"/>
                <a:ea typeface="Aptos" pitchFamily="34" charset="-122"/>
                <a:cs typeface="Aptos" pitchFamily="34" charset="-120"/>
              </a:rPr>
              <a:t>Add useful validation</a:t>
            </a:r>
            <a:endParaRPr lang="en-US" sz="1300" dirty="0"/>
          </a:p>
        </p:txBody>
      </p:sp>
      <p:sp>
        <p:nvSpPr>
          <p:cNvPr id="14" name="Text 12"/>
          <p:cNvSpPr txBox="1"/>
          <p:nvPr/>
        </p:nvSpPr>
        <p:spPr>
          <a:xfrm>
            <a:off x="1554480" y="3611880"/>
            <a:ext cx="3611880" cy="310896"/>
          </a:xfrm>
          <a:prstGeom prst="rect">
            <a:avLst/>
          </a:prstGeom>
          <a:noFill/>
          <a:ln/>
        </p:spPr>
        <p:txBody>
          <a:bodyPr wrap="square" lIns="0" tIns="0" rIns="0" bIns="0" rtlCol="0" anchor="t">
            <a:normAutofit/>
          </a:bodyPr>
          <a:lstStyle/>
          <a:p>
            <a:pPr algn="l" indent="0" marL="0">
              <a:buNone/>
            </a:pPr>
            <a:r>
              <a:rPr lang="en-US" sz="1070" dirty="0">
                <a:solidFill>
                  <a:srgbClr val="5F6F84"/>
                </a:solidFill>
                <a:latin typeface="Aptos" pitchFamily="34" charset="0"/>
                <a:ea typeface="Aptos" pitchFamily="34" charset="-122"/>
                <a:cs typeface="Aptos" pitchFamily="34" charset="-120"/>
              </a:rPr>
              <a:t>Choose input types and required fields</a:t>
            </a:r>
            <a:endParaRPr lang="en-US" sz="1070" dirty="0"/>
          </a:p>
        </p:txBody>
      </p:sp>
      <p:sp>
        <p:nvSpPr>
          <p:cNvPr id="15" name="Shape 13"/>
          <p:cNvSpPr/>
          <p:nvPr/>
        </p:nvSpPr>
        <p:spPr>
          <a:xfrm>
            <a:off x="1005840" y="4059936"/>
            <a:ext cx="347472" cy="347472"/>
          </a:xfrm>
          <a:prstGeom prst="ellipse">
            <a:avLst/>
          </a:prstGeom>
          <a:solidFill>
            <a:srgbClr val="FF826E"/>
          </a:solidFill>
          <a:ln w="12700">
            <a:solidFill>
              <a:srgbClr val="FF826E"/>
            </a:solidFill>
            <a:prstDash val="solid"/>
          </a:ln>
        </p:spPr>
      </p:sp>
      <p:sp>
        <p:nvSpPr>
          <p:cNvPr id="16" name="Text 14"/>
          <p:cNvSpPr txBox="1"/>
          <p:nvPr/>
        </p:nvSpPr>
        <p:spPr>
          <a:xfrm>
            <a:off x="1005840" y="4105656"/>
            <a:ext cx="347472"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7" name="Text 15"/>
          <p:cNvSpPr txBox="1"/>
          <p:nvPr/>
        </p:nvSpPr>
        <p:spPr>
          <a:xfrm>
            <a:off x="1554480" y="4050792"/>
            <a:ext cx="3383280" cy="237744"/>
          </a:xfrm>
          <a:prstGeom prst="rect">
            <a:avLst/>
          </a:prstGeom>
          <a:noFill/>
          <a:ln/>
        </p:spPr>
        <p:txBody>
          <a:bodyPr wrap="square" lIns="0" tIns="0" rIns="0" bIns="0" rtlCol="0" anchor="ctr">
            <a:normAutofit/>
          </a:bodyPr>
          <a:lstStyle/>
          <a:p>
            <a:pPr algn="l" indent="0" marL="0">
              <a:buNone/>
            </a:pPr>
            <a:r>
              <a:rPr lang="en-US" sz="1300" b="1" dirty="0">
                <a:solidFill>
                  <a:srgbClr val="101828"/>
                </a:solidFill>
                <a:latin typeface="Aptos" pitchFamily="34" charset="0"/>
                <a:ea typeface="Aptos" pitchFamily="34" charset="-122"/>
                <a:cs typeface="Aptos" pitchFamily="34" charset="-120"/>
              </a:rPr>
              <a:t>Style the page</a:t>
            </a:r>
            <a:endParaRPr lang="en-US" sz="1300" dirty="0"/>
          </a:p>
        </p:txBody>
      </p:sp>
      <p:sp>
        <p:nvSpPr>
          <p:cNvPr id="18" name="Text 16"/>
          <p:cNvSpPr txBox="1"/>
          <p:nvPr/>
        </p:nvSpPr>
        <p:spPr>
          <a:xfrm>
            <a:off x="1554480" y="4334256"/>
            <a:ext cx="3611880" cy="310896"/>
          </a:xfrm>
          <a:prstGeom prst="rect">
            <a:avLst/>
          </a:prstGeom>
          <a:noFill/>
          <a:ln/>
        </p:spPr>
        <p:txBody>
          <a:bodyPr wrap="square" lIns="0" tIns="0" rIns="0" bIns="0" rtlCol="0" anchor="t">
            <a:normAutofit/>
          </a:bodyPr>
          <a:lstStyle/>
          <a:p>
            <a:pPr algn="l" indent="0" marL="0">
              <a:buNone/>
            </a:pPr>
            <a:r>
              <a:rPr lang="en-US" sz="1070" dirty="0">
                <a:solidFill>
                  <a:srgbClr val="5F6F84"/>
                </a:solidFill>
                <a:latin typeface="Aptos" pitchFamily="34" charset="0"/>
                <a:ea typeface="Aptos" pitchFamily="34" charset="-122"/>
                <a:cs typeface="Aptos" pitchFamily="34" charset="-120"/>
              </a:rPr>
              <a:t>Colors, type, padding, borders and focus states</a:t>
            </a:r>
            <a:endParaRPr lang="en-US" sz="1070" dirty="0"/>
          </a:p>
        </p:txBody>
      </p:sp>
      <p:sp>
        <p:nvSpPr>
          <p:cNvPr id="19" name="Shape 17"/>
          <p:cNvSpPr/>
          <p:nvPr/>
        </p:nvSpPr>
        <p:spPr>
          <a:xfrm>
            <a:off x="1005840" y="4782312"/>
            <a:ext cx="347472" cy="347472"/>
          </a:xfrm>
          <a:prstGeom prst="ellipse">
            <a:avLst/>
          </a:prstGeom>
          <a:solidFill>
            <a:srgbClr val="8C6FE8"/>
          </a:solidFill>
          <a:ln w="12700">
            <a:solidFill>
              <a:srgbClr val="8C6FE8"/>
            </a:solidFill>
            <a:prstDash val="solid"/>
          </a:ln>
        </p:spPr>
      </p:sp>
      <p:sp>
        <p:nvSpPr>
          <p:cNvPr id="20" name="Text 18"/>
          <p:cNvSpPr txBox="1"/>
          <p:nvPr/>
        </p:nvSpPr>
        <p:spPr>
          <a:xfrm>
            <a:off x="1005840" y="4828032"/>
            <a:ext cx="347472"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1" name="Text 19"/>
          <p:cNvSpPr txBox="1"/>
          <p:nvPr/>
        </p:nvSpPr>
        <p:spPr>
          <a:xfrm>
            <a:off x="1554480" y="4773168"/>
            <a:ext cx="3383280" cy="237744"/>
          </a:xfrm>
          <a:prstGeom prst="rect">
            <a:avLst/>
          </a:prstGeom>
          <a:noFill/>
          <a:ln/>
        </p:spPr>
        <p:txBody>
          <a:bodyPr wrap="square" lIns="0" tIns="0" rIns="0" bIns="0" rtlCol="0" anchor="ctr">
            <a:normAutofit/>
          </a:bodyPr>
          <a:lstStyle/>
          <a:p>
            <a:pPr algn="l" indent="0" marL="0">
              <a:buNone/>
            </a:pPr>
            <a:r>
              <a:rPr lang="en-US" sz="1300" b="1" dirty="0">
                <a:solidFill>
                  <a:srgbClr val="101828"/>
                </a:solidFill>
                <a:latin typeface="Aptos" pitchFamily="34" charset="0"/>
                <a:ea typeface="Aptos" pitchFamily="34" charset="-122"/>
                <a:cs typeface="Aptos" pitchFamily="34" charset="-120"/>
              </a:rPr>
              <a:t>Make it responsive</a:t>
            </a:r>
            <a:endParaRPr lang="en-US" sz="1300" dirty="0"/>
          </a:p>
        </p:txBody>
      </p:sp>
      <p:sp>
        <p:nvSpPr>
          <p:cNvPr id="22" name="Text 20"/>
          <p:cNvSpPr txBox="1"/>
          <p:nvPr/>
        </p:nvSpPr>
        <p:spPr>
          <a:xfrm>
            <a:off x="1554480" y="5056632"/>
            <a:ext cx="3611880" cy="310896"/>
          </a:xfrm>
          <a:prstGeom prst="rect">
            <a:avLst/>
          </a:prstGeom>
          <a:noFill/>
          <a:ln/>
        </p:spPr>
        <p:txBody>
          <a:bodyPr wrap="square" lIns="0" tIns="0" rIns="0" bIns="0" rtlCol="0" anchor="t">
            <a:normAutofit/>
          </a:bodyPr>
          <a:lstStyle/>
          <a:p>
            <a:pPr algn="l" indent="0" marL="0">
              <a:buNone/>
            </a:pPr>
            <a:r>
              <a:rPr lang="en-US" sz="1070" dirty="0">
                <a:solidFill>
                  <a:srgbClr val="5F6F84"/>
                </a:solidFill>
                <a:latin typeface="Aptos" pitchFamily="34" charset="0"/>
                <a:ea typeface="Aptos" pitchFamily="34" charset="-122"/>
                <a:cs typeface="Aptos" pitchFamily="34" charset="-120"/>
              </a:rPr>
              <a:t>Use Flexbox or Grid and test a narrow screen</a:t>
            </a:r>
            <a:endParaRPr lang="en-US" sz="1070" dirty="0"/>
          </a:p>
        </p:txBody>
      </p:sp>
      <p:sp>
        <p:nvSpPr>
          <p:cNvPr id="23" name="Shape 21"/>
          <p:cNvSpPr/>
          <p:nvPr/>
        </p:nvSpPr>
        <p:spPr>
          <a:xfrm>
            <a:off x="5925312" y="1737360"/>
            <a:ext cx="5559552" cy="4261104"/>
          </a:xfrm>
          <a:prstGeom prst="roundRect">
            <a:avLst>
              <a:gd name="adj" fmla="val 2575"/>
            </a:avLst>
          </a:prstGeom>
          <a:solidFill>
            <a:srgbClr val="EEF3F9"/>
          </a:solidFill>
          <a:ln w="12700">
            <a:solidFill>
              <a:srgbClr val="DCE5EF"/>
            </a:solidFill>
            <a:prstDash val="solid"/>
          </a:ln>
        </p:spPr>
      </p:sp>
      <p:sp>
        <p:nvSpPr>
          <p:cNvPr id="24" name="Shape 22"/>
          <p:cNvSpPr/>
          <p:nvPr/>
        </p:nvSpPr>
        <p:spPr>
          <a:xfrm>
            <a:off x="6291072" y="2011680"/>
            <a:ext cx="4828032" cy="3419856"/>
          </a:xfrm>
          <a:prstGeom prst="roundRect">
            <a:avLst>
              <a:gd name="adj" fmla="val 3209"/>
            </a:avLst>
          </a:prstGeom>
          <a:solidFill>
            <a:srgbClr val="FFFFFF"/>
          </a:solidFill>
          <a:ln w="12700">
            <a:solidFill>
              <a:srgbClr val="D5DEEA"/>
            </a:solidFill>
            <a:prstDash val="solid"/>
          </a:ln>
        </p:spPr>
      </p:sp>
      <p:sp>
        <p:nvSpPr>
          <p:cNvPr id="25" name="Shape 23"/>
          <p:cNvSpPr/>
          <p:nvPr/>
        </p:nvSpPr>
        <p:spPr>
          <a:xfrm>
            <a:off x="6291072" y="2011680"/>
            <a:ext cx="4828032" cy="356616"/>
          </a:xfrm>
          <a:prstGeom prst="roundRect">
            <a:avLst>
              <a:gd name="adj" fmla="val 30769"/>
            </a:avLst>
          </a:prstGeom>
          <a:solidFill>
            <a:srgbClr val="101828"/>
          </a:solidFill>
          <a:ln w="1270">
            <a:solidFill>
              <a:srgbClr val="101828">
                <a:alpha val="0"/>
              </a:srgbClr>
            </a:solidFill>
            <a:prstDash val="solid"/>
          </a:ln>
        </p:spPr>
      </p:sp>
      <p:sp>
        <p:nvSpPr>
          <p:cNvPr id="26" name="Shape 24"/>
          <p:cNvSpPr/>
          <p:nvPr/>
        </p:nvSpPr>
        <p:spPr>
          <a:xfrm>
            <a:off x="6492240" y="2139696"/>
            <a:ext cx="73152" cy="73152"/>
          </a:xfrm>
          <a:prstGeom prst="ellipse">
            <a:avLst/>
          </a:prstGeom>
          <a:solidFill>
            <a:srgbClr val="FF826E"/>
          </a:solidFill>
          <a:ln w="12700">
            <a:solidFill>
              <a:srgbClr val="FF826E"/>
            </a:solidFill>
            <a:prstDash val="solid"/>
          </a:ln>
        </p:spPr>
      </p:sp>
      <p:sp>
        <p:nvSpPr>
          <p:cNvPr id="27" name="Shape 25"/>
          <p:cNvSpPr/>
          <p:nvPr/>
        </p:nvSpPr>
        <p:spPr>
          <a:xfrm>
            <a:off x="6620256" y="2139696"/>
            <a:ext cx="73152" cy="73152"/>
          </a:xfrm>
          <a:prstGeom prst="ellipse">
            <a:avLst/>
          </a:prstGeom>
          <a:solidFill>
            <a:srgbClr val="F4C45E"/>
          </a:solidFill>
          <a:ln w="12700">
            <a:solidFill>
              <a:srgbClr val="F4C45E"/>
            </a:solidFill>
            <a:prstDash val="solid"/>
          </a:ln>
        </p:spPr>
      </p:sp>
      <p:sp>
        <p:nvSpPr>
          <p:cNvPr id="28" name="Shape 26"/>
          <p:cNvSpPr/>
          <p:nvPr/>
        </p:nvSpPr>
        <p:spPr>
          <a:xfrm>
            <a:off x="6748272" y="2139696"/>
            <a:ext cx="73152" cy="73152"/>
          </a:xfrm>
          <a:prstGeom prst="ellipse">
            <a:avLst/>
          </a:prstGeom>
          <a:solidFill>
            <a:srgbClr val="16B7A4"/>
          </a:solidFill>
          <a:ln w="12700">
            <a:solidFill>
              <a:srgbClr val="16B7A4"/>
            </a:solidFill>
            <a:prstDash val="solid"/>
          </a:ln>
        </p:spPr>
      </p:sp>
      <p:sp>
        <p:nvSpPr>
          <p:cNvPr id="29" name="Text 27"/>
          <p:cNvSpPr txBox="1"/>
          <p:nvPr/>
        </p:nvSpPr>
        <p:spPr>
          <a:xfrm>
            <a:off x="7726680" y="2093976"/>
            <a:ext cx="1508760" cy="164592"/>
          </a:xfrm>
          <a:prstGeom prst="rect">
            <a:avLst/>
          </a:prstGeom>
          <a:noFill/>
          <a:ln/>
        </p:spPr>
        <p:txBody>
          <a:bodyPr wrap="square" lIns="0" tIns="0" rIns="0" bIns="0" rtlCol="0" anchor="ctr">
            <a:normAutofit/>
          </a:bodyPr>
          <a:lstStyle/>
          <a:p>
            <a:pPr algn="ctr" indent="0" marL="0">
              <a:buNone/>
            </a:pPr>
            <a:r>
              <a:rPr lang="en-US" sz="870" dirty="0">
                <a:solidFill>
                  <a:srgbClr val="CFD9E6"/>
                </a:solidFill>
                <a:latin typeface="Aptos" pitchFamily="34" charset="0"/>
                <a:ea typeface="Aptos" pitchFamily="34" charset="-122"/>
                <a:cs typeface="Aptos" pitchFamily="34" charset="-120"/>
              </a:rPr>
              <a:t>join.example</a:t>
            </a:r>
            <a:endParaRPr lang="en-US" sz="870" dirty="0"/>
          </a:p>
        </p:txBody>
      </p:sp>
      <p:sp>
        <p:nvSpPr>
          <p:cNvPr id="30" name="Text 28"/>
          <p:cNvSpPr txBox="1"/>
          <p:nvPr/>
        </p:nvSpPr>
        <p:spPr>
          <a:xfrm>
            <a:off x="6903720" y="2642616"/>
            <a:ext cx="3566160" cy="320040"/>
          </a:xfrm>
          <a:prstGeom prst="rect">
            <a:avLst/>
          </a:prstGeom>
          <a:noFill/>
          <a:ln/>
        </p:spPr>
        <p:txBody>
          <a:bodyPr wrap="square" lIns="0" tIns="0" rIns="0" bIns="0" rtlCol="0" anchor="ctr">
            <a:normAutofit/>
          </a:bodyPr>
          <a:lstStyle/>
          <a:p>
            <a:pPr algn="ctr" indent="0" marL="0">
              <a:buNone/>
            </a:pPr>
            <a:r>
              <a:rPr lang="en-US" sz="1900" b="1" dirty="0">
                <a:solidFill>
                  <a:srgbClr val="101828"/>
                </a:solidFill>
                <a:latin typeface="Aptos" pitchFamily="34" charset="0"/>
                <a:ea typeface="Aptos" pitchFamily="34" charset="-122"/>
                <a:cs typeface="Aptos" pitchFamily="34" charset="-120"/>
              </a:rPr>
              <a:t>Create your account</a:t>
            </a:r>
            <a:endParaRPr lang="en-US" sz="1900" dirty="0"/>
          </a:p>
        </p:txBody>
      </p:sp>
      <p:sp>
        <p:nvSpPr>
          <p:cNvPr id="31" name="Text 29"/>
          <p:cNvSpPr txBox="1"/>
          <p:nvPr/>
        </p:nvSpPr>
        <p:spPr>
          <a:xfrm>
            <a:off x="6903720" y="3026664"/>
            <a:ext cx="3566160" cy="228600"/>
          </a:xfrm>
          <a:prstGeom prst="rect">
            <a:avLst/>
          </a:prstGeom>
          <a:noFill/>
          <a:ln/>
        </p:spPr>
        <p:txBody>
          <a:bodyPr wrap="square" lIns="0" tIns="0" rIns="0" bIns="0" rtlCol="0" anchor="ctr">
            <a:normAutofit/>
          </a:bodyPr>
          <a:lstStyle/>
          <a:p>
            <a:pPr algn="ctr" indent="0" marL="0">
              <a:buNone/>
            </a:pPr>
            <a:r>
              <a:rPr lang="en-US" sz="1040" dirty="0">
                <a:solidFill>
                  <a:srgbClr val="5F6F84"/>
                </a:solidFill>
                <a:latin typeface="Aptos" pitchFamily="34" charset="0"/>
                <a:ea typeface="Aptos" pitchFamily="34" charset="-122"/>
                <a:cs typeface="Aptos" pitchFamily="34" charset="-120"/>
              </a:rPr>
              <a:t>A clear form with comfortable spacing</a:t>
            </a:r>
            <a:endParaRPr lang="en-US" sz="1040" dirty="0"/>
          </a:p>
        </p:txBody>
      </p:sp>
      <p:sp>
        <p:nvSpPr>
          <p:cNvPr id="32" name="Text 30"/>
          <p:cNvSpPr txBox="1"/>
          <p:nvPr/>
        </p:nvSpPr>
        <p:spPr>
          <a:xfrm>
            <a:off x="6858000" y="3456432"/>
            <a:ext cx="1920240" cy="164592"/>
          </a:xfrm>
          <a:prstGeom prst="rect">
            <a:avLst/>
          </a:prstGeom>
          <a:noFill/>
          <a:ln/>
        </p:spPr>
        <p:txBody>
          <a:bodyPr wrap="square" lIns="0" tIns="0" rIns="0" bIns="0" rtlCol="0" anchor="ctr">
            <a:normAutofit/>
          </a:bodyPr>
          <a:lstStyle/>
          <a:p>
            <a:pPr algn="l" indent="0" marL="0">
              <a:buNone/>
            </a:pPr>
            <a:r>
              <a:rPr lang="en-US" sz="950" b="1" dirty="0">
                <a:solidFill>
                  <a:srgbClr val="182230"/>
                </a:solidFill>
                <a:latin typeface="Aptos" pitchFamily="34" charset="0"/>
                <a:ea typeface="Aptos" pitchFamily="34" charset="-122"/>
                <a:cs typeface="Aptos" pitchFamily="34" charset="-120"/>
              </a:rPr>
              <a:t>Email</a:t>
            </a:r>
            <a:endParaRPr lang="en-US" sz="950" dirty="0"/>
          </a:p>
        </p:txBody>
      </p:sp>
      <p:sp>
        <p:nvSpPr>
          <p:cNvPr id="33" name="Shape 31"/>
          <p:cNvSpPr/>
          <p:nvPr/>
        </p:nvSpPr>
        <p:spPr>
          <a:xfrm>
            <a:off x="6858000" y="3657600"/>
            <a:ext cx="3703320" cy="329184"/>
          </a:xfrm>
          <a:prstGeom prst="roundRect">
            <a:avLst>
              <a:gd name="adj" fmla="val 33333"/>
            </a:avLst>
          </a:prstGeom>
          <a:solidFill>
            <a:srgbClr val="FFFFFF"/>
          </a:solidFill>
          <a:ln w="12700">
            <a:solidFill>
              <a:srgbClr val="CCD7E5"/>
            </a:solidFill>
            <a:prstDash val="solid"/>
          </a:ln>
        </p:spPr>
      </p:sp>
      <p:sp>
        <p:nvSpPr>
          <p:cNvPr id="34" name="Text 32"/>
          <p:cNvSpPr txBox="1"/>
          <p:nvPr/>
        </p:nvSpPr>
        <p:spPr>
          <a:xfrm>
            <a:off x="6995160" y="3703320"/>
            <a:ext cx="3383280" cy="210312"/>
          </a:xfrm>
          <a:prstGeom prst="rect">
            <a:avLst/>
          </a:prstGeom>
          <a:noFill/>
          <a:ln/>
        </p:spPr>
        <p:txBody>
          <a:bodyPr wrap="square" lIns="0" tIns="0" rIns="0" bIns="0" rtlCol="0" anchor="ctr">
            <a:normAutofit/>
          </a:bodyPr>
          <a:lstStyle/>
          <a:p>
            <a:pPr algn="l" indent="0" marL="0">
              <a:buNone/>
            </a:pPr>
            <a:r>
              <a:rPr lang="en-US" sz="980" dirty="0">
                <a:solidFill>
                  <a:srgbClr val="91A0B4"/>
                </a:solidFill>
                <a:latin typeface="Aptos" pitchFamily="34" charset="0"/>
                <a:ea typeface="Aptos" pitchFamily="34" charset="-122"/>
                <a:cs typeface="Aptos" pitchFamily="34" charset="-120"/>
              </a:rPr>
              <a:t>you@example.com</a:t>
            </a:r>
            <a:endParaRPr lang="en-US" sz="980" dirty="0"/>
          </a:p>
        </p:txBody>
      </p:sp>
      <p:sp>
        <p:nvSpPr>
          <p:cNvPr id="35" name="Text 33"/>
          <p:cNvSpPr txBox="1"/>
          <p:nvPr/>
        </p:nvSpPr>
        <p:spPr>
          <a:xfrm>
            <a:off x="6858000" y="4059936"/>
            <a:ext cx="1920240" cy="164592"/>
          </a:xfrm>
          <a:prstGeom prst="rect">
            <a:avLst/>
          </a:prstGeom>
          <a:noFill/>
          <a:ln/>
        </p:spPr>
        <p:txBody>
          <a:bodyPr wrap="square" lIns="0" tIns="0" rIns="0" bIns="0" rtlCol="0" anchor="ctr">
            <a:normAutofit/>
          </a:bodyPr>
          <a:lstStyle/>
          <a:p>
            <a:pPr algn="l" indent="0" marL="0">
              <a:buNone/>
            </a:pPr>
            <a:r>
              <a:rPr lang="en-US" sz="950" b="1" dirty="0">
                <a:solidFill>
                  <a:srgbClr val="182230"/>
                </a:solidFill>
                <a:latin typeface="Aptos" pitchFamily="34" charset="0"/>
                <a:ea typeface="Aptos" pitchFamily="34" charset="-122"/>
                <a:cs typeface="Aptos" pitchFamily="34" charset="-120"/>
              </a:rPr>
              <a:t>Password</a:t>
            </a:r>
            <a:endParaRPr lang="en-US" sz="950" dirty="0"/>
          </a:p>
        </p:txBody>
      </p:sp>
      <p:sp>
        <p:nvSpPr>
          <p:cNvPr id="36" name="Shape 34"/>
          <p:cNvSpPr/>
          <p:nvPr/>
        </p:nvSpPr>
        <p:spPr>
          <a:xfrm>
            <a:off x="6858000" y="4261104"/>
            <a:ext cx="3703320" cy="329184"/>
          </a:xfrm>
          <a:prstGeom prst="roundRect">
            <a:avLst>
              <a:gd name="adj" fmla="val 33333"/>
            </a:avLst>
          </a:prstGeom>
          <a:solidFill>
            <a:srgbClr val="FFFFFF"/>
          </a:solidFill>
          <a:ln w="12700">
            <a:solidFill>
              <a:srgbClr val="CCD7E5"/>
            </a:solidFill>
            <a:prstDash val="solid"/>
          </a:ln>
        </p:spPr>
      </p:sp>
      <p:sp>
        <p:nvSpPr>
          <p:cNvPr id="37" name="Text 35"/>
          <p:cNvSpPr txBox="1"/>
          <p:nvPr/>
        </p:nvSpPr>
        <p:spPr>
          <a:xfrm>
            <a:off x="6995160" y="4306824"/>
            <a:ext cx="3383280" cy="210312"/>
          </a:xfrm>
          <a:prstGeom prst="rect">
            <a:avLst/>
          </a:prstGeom>
          <a:noFill/>
          <a:ln/>
        </p:spPr>
        <p:txBody>
          <a:bodyPr wrap="square" lIns="0" tIns="0" rIns="0" bIns="0" rtlCol="0" anchor="ctr">
            <a:normAutofit/>
          </a:bodyPr>
          <a:lstStyle/>
          <a:p>
            <a:pPr algn="l" indent="0" marL="0">
              <a:buNone/>
            </a:pPr>
            <a:r>
              <a:rPr lang="en-US" sz="980" dirty="0">
                <a:solidFill>
                  <a:srgbClr val="91A0B4"/>
                </a:solidFill>
                <a:latin typeface="Aptos" pitchFamily="34" charset="0"/>
                <a:ea typeface="Aptos" pitchFamily="34" charset="-122"/>
                <a:cs typeface="Aptos" pitchFamily="34" charset="-120"/>
              </a:rPr>
              <a:t>••••••••</a:t>
            </a:r>
            <a:endParaRPr lang="en-US" sz="980" dirty="0"/>
          </a:p>
        </p:txBody>
      </p:sp>
      <p:sp>
        <p:nvSpPr>
          <p:cNvPr id="38" name="Shape 36"/>
          <p:cNvSpPr/>
          <p:nvPr/>
        </p:nvSpPr>
        <p:spPr>
          <a:xfrm>
            <a:off x="6858000" y="4800600"/>
            <a:ext cx="3703320" cy="393192"/>
          </a:xfrm>
          <a:prstGeom prst="roundRect">
            <a:avLst>
              <a:gd name="adj" fmla="val 27907"/>
            </a:avLst>
          </a:prstGeom>
          <a:solidFill>
            <a:srgbClr val="16B7A4"/>
          </a:solidFill>
          <a:ln w="1270">
            <a:solidFill>
              <a:srgbClr val="16B7A4">
                <a:alpha val="0"/>
              </a:srgbClr>
            </a:solidFill>
            <a:prstDash val="solid"/>
          </a:ln>
        </p:spPr>
      </p:sp>
      <p:sp>
        <p:nvSpPr>
          <p:cNvPr id="39" name="Text 37"/>
          <p:cNvSpPr txBox="1"/>
          <p:nvPr/>
        </p:nvSpPr>
        <p:spPr>
          <a:xfrm>
            <a:off x="6858000" y="4864608"/>
            <a:ext cx="3703320" cy="24688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Sign up</a:t>
            </a:r>
            <a:endParaRPr lang="en-US" sz="1100" dirty="0"/>
          </a:p>
        </p:txBody>
      </p:sp>
      <p:sp>
        <p:nvSpPr>
          <p:cNvPr id="40" name="Text 38"/>
          <p:cNvSpPr txBox="1"/>
          <p:nvPr/>
        </p:nvSpPr>
        <p:spPr>
          <a:xfrm>
            <a:off x="6144768" y="5596128"/>
            <a:ext cx="5120640" cy="237744"/>
          </a:xfrm>
          <a:prstGeom prst="rect">
            <a:avLst/>
          </a:prstGeom>
          <a:noFill/>
          <a:ln/>
        </p:spPr>
        <p:txBody>
          <a:bodyPr wrap="square" lIns="0" tIns="0" rIns="0" bIns="0" rtlCol="0" anchor="ctr">
            <a:normAutofit/>
          </a:bodyPr>
          <a:lstStyle/>
          <a:p>
            <a:pPr algn="ctr" indent="0" marL="0">
              <a:buNone/>
            </a:pPr>
            <a:r>
              <a:rPr lang="en-US" sz="1020" b="1" dirty="0">
                <a:solidFill>
                  <a:srgbClr val="101828"/>
                </a:solidFill>
                <a:latin typeface="Aptos" pitchFamily="34" charset="0"/>
                <a:ea typeface="Aptos" pitchFamily="34" charset="-122"/>
                <a:cs typeface="Aptos" pitchFamily="34" charset="-120"/>
              </a:rPr>
              <a:t>Success checklist: labels work • fields validate • spacing is consistent • mobile view is usable</a:t>
            </a:r>
            <a:endParaRPr lang="en-US" sz="1020" dirty="0"/>
          </a:p>
        </p:txBody>
      </p:sp>
      <p:sp>
        <p:nvSpPr>
          <p:cNvPr id="41" name="Text 39"/>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Inspired by The Odin Project’s Sign-up Form project</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15</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Key takeaways + quick check</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You do not need to memorize everything today. Focus on choosing the right tool for the job.</a:t>
            </a:r>
            <a:endParaRPr lang="en-US" sz="1250" dirty="0"/>
          </a:p>
        </p:txBody>
      </p:sp>
      <p:sp>
        <p:nvSpPr>
          <p:cNvPr id="5" name="Shape 3"/>
          <p:cNvSpPr/>
          <p:nvPr/>
        </p:nvSpPr>
        <p:spPr>
          <a:xfrm>
            <a:off x="731520" y="1755648"/>
            <a:ext cx="4800600" cy="512064"/>
          </a:xfrm>
          <a:prstGeom prst="roundRect">
            <a:avLst>
              <a:gd name="adj" fmla="val 21429"/>
            </a:avLst>
          </a:prstGeom>
          <a:solidFill>
            <a:srgbClr val="FFFFFF"/>
          </a:solidFill>
          <a:ln w="12700">
            <a:solidFill>
              <a:srgbClr val="DEE5EE"/>
            </a:solidFill>
            <a:prstDash val="solid"/>
          </a:ln>
        </p:spPr>
      </p:sp>
      <p:sp>
        <p:nvSpPr>
          <p:cNvPr id="6" name="Shape 4"/>
          <p:cNvSpPr/>
          <p:nvPr/>
        </p:nvSpPr>
        <p:spPr>
          <a:xfrm>
            <a:off x="896112" y="1865376"/>
            <a:ext cx="914400" cy="283464"/>
          </a:xfrm>
          <a:prstGeom prst="roundRect">
            <a:avLst>
              <a:gd name="adj" fmla="val 38710"/>
            </a:avLst>
          </a:prstGeom>
          <a:solidFill>
            <a:srgbClr val="E8EDFF"/>
          </a:solidFill>
          <a:ln w="1270">
            <a:solidFill>
              <a:srgbClr val="E8EDFF">
                <a:alpha val="0"/>
              </a:srgbClr>
            </a:solidFill>
            <a:prstDash val="solid"/>
          </a:ln>
        </p:spPr>
      </p:sp>
      <p:sp>
        <p:nvSpPr>
          <p:cNvPr id="7" name="Text 5"/>
          <p:cNvSpPr txBox="1"/>
          <p:nvPr/>
        </p:nvSpPr>
        <p:spPr>
          <a:xfrm>
            <a:off x="969264" y="1879092"/>
            <a:ext cx="76809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5272F2"/>
                </a:solidFill>
                <a:latin typeface="Aptos" pitchFamily="34" charset="0"/>
                <a:ea typeface="Aptos" pitchFamily="34" charset="-122"/>
                <a:cs typeface="Aptos" pitchFamily="34" charset="-120"/>
              </a:rPr>
              <a:t>HTML</a:t>
            </a:r>
            <a:endParaRPr lang="en-US" sz="900" dirty="0"/>
          </a:p>
        </p:txBody>
      </p:sp>
      <p:sp>
        <p:nvSpPr>
          <p:cNvPr id="8" name="Text 6"/>
          <p:cNvSpPr txBox="1"/>
          <p:nvPr/>
        </p:nvSpPr>
        <p:spPr>
          <a:xfrm>
            <a:off x="2331720" y="1856232"/>
            <a:ext cx="2971800" cy="301752"/>
          </a:xfrm>
          <a:prstGeom prst="rect">
            <a:avLst/>
          </a:prstGeom>
          <a:noFill/>
          <a:ln/>
        </p:spPr>
        <p:txBody>
          <a:bodyPr wrap="square" lIns="0" tIns="0" rIns="0" bIns="0" rtlCol="0" anchor="ctr">
            <a:normAutofit/>
          </a:bodyPr>
          <a:lstStyle/>
          <a:p>
            <a:pPr algn="l" indent="0" marL="0">
              <a:buNone/>
            </a:pPr>
            <a:r>
              <a:rPr lang="en-US" sz="1150" dirty="0">
                <a:solidFill>
                  <a:srgbClr val="5F6F84"/>
                </a:solidFill>
                <a:latin typeface="Aptos" pitchFamily="34" charset="0"/>
                <a:ea typeface="Aptos" pitchFamily="34" charset="-122"/>
                <a:cs typeface="Aptos" pitchFamily="34" charset="-120"/>
              </a:rPr>
              <a:t>Describe what the content means.</a:t>
            </a:r>
            <a:endParaRPr lang="en-US" sz="1150" dirty="0"/>
          </a:p>
        </p:txBody>
      </p:sp>
      <p:sp>
        <p:nvSpPr>
          <p:cNvPr id="9" name="Shape 7"/>
          <p:cNvSpPr/>
          <p:nvPr/>
        </p:nvSpPr>
        <p:spPr>
          <a:xfrm>
            <a:off x="731520" y="2414016"/>
            <a:ext cx="4800600" cy="512064"/>
          </a:xfrm>
          <a:prstGeom prst="roundRect">
            <a:avLst>
              <a:gd name="adj" fmla="val 21429"/>
            </a:avLst>
          </a:prstGeom>
          <a:solidFill>
            <a:srgbClr val="FFFFFF"/>
          </a:solidFill>
          <a:ln w="12700">
            <a:solidFill>
              <a:srgbClr val="DEE5EE"/>
            </a:solidFill>
            <a:prstDash val="solid"/>
          </a:ln>
        </p:spPr>
      </p:sp>
      <p:sp>
        <p:nvSpPr>
          <p:cNvPr id="10" name="Shape 8"/>
          <p:cNvSpPr/>
          <p:nvPr/>
        </p:nvSpPr>
        <p:spPr>
          <a:xfrm>
            <a:off x="896112" y="2523744"/>
            <a:ext cx="914400" cy="283464"/>
          </a:xfrm>
          <a:prstGeom prst="roundRect">
            <a:avLst>
              <a:gd name="adj" fmla="val 38710"/>
            </a:avLst>
          </a:prstGeom>
          <a:solidFill>
            <a:srgbClr val="DDF7F2"/>
          </a:solidFill>
          <a:ln w="1270">
            <a:solidFill>
              <a:srgbClr val="DDF7F2">
                <a:alpha val="0"/>
              </a:srgbClr>
            </a:solidFill>
            <a:prstDash val="solid"/>
          </a:ln>
        </p:spPr>
      </p:sp>
      <p:sp>
        <p:nvSpPr>
          <p:cNvPr id="11" name="Text 9"/>
          <p:cNvSpPr txBox="1"/>
          <p:nvPr/>
        </p:nvSpPr>
        <p:spPr>
          <a:xfrm>
            <a:off x="969264" y="2537460"/>
            <a:ext cx="76809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16B7A4"/>
                </a:solidFill>
                <a:latin typeface="Aptos" pitchFamily="34" charset="0"/>
                <a:ea typeface="Aptos" pitchFamily="34" charset="-122"/>
                <a:cs typeface="Aptos" pitchFamily="34" charset="-120"/>
              </a:rPr>
              <a:t>CSS</a:t>
            </a:r>
            <a:endParaRPr lang="en-US" sz="900" dirty="0"/>
          </a:p>
        </p:txBody>
      </p:sp>
      <p:sp>
        <p:nvSpPr>
          <p:cNvPr id="12" name="Text 10"/>
          <p:cNvSpPr txBox="1"/>
          <p:nvPr/>
        </p:nvSpPr>
        <p:spPr>
          <a:xfrm>
            <a:off x="2331720" y="2514600"/>
            <a:ext cx="2971800" cy="301752"/>
          </a:xfrm>
          <a:prstGeom prst="rect">
            <a:avLst/>
          </a:prstGeom>
          <a:noFill/>
          <a:ln/>
        </p:spPr>
        <p:txBody>
          <a:bodyPr wrap="square" lIns="0" tIns="0" rIns="0" bIns="0" rtlCol="0" anchor="ctr">
            <a:normAutofit/>
          </a:bodyPr>
          <a:lstStyle/>
          <a:p>
            <a:pPr algn="l" indent="0" marL="0">
              <a:buNone/>
            </a:pPr>
            <a:r>
              <a:rPr lang="en-US" sz="1150" dirty="0">
                <a:solidFill>
                  <a:srgbClr val="5F6F84"/>
                </a:solidFill>
                <a:latin typeface="Aptos" pitchFamily="34" charset="0"/>
                <a:ea typeface="Aptos" pitchFamily="34" charset="-122"/>
                <a:cs typeface="Aptos" pitchFamily="34" charset="-120"/>
              </a:rPr>
              <a:t>Control how content looks and is arranged.</a:t>
            </a:r>
            <a:endParaRPr lang="en-US" sz="1150" dirty="0"/>
          </a:p>
        </p:txBody>
      </p:sp>
      <p:sp>
        <p:nvSpPr>
          <p:cNvPr id="13" name="Shape 11"/>
          <p:cNvSpPr/>
          <p:nvPr/>
        </p:nvSpPr>
        <p:spPr>
          <a:xfrm>
            <a:off x="731520" y="3072384"/>
            <a:ext cx="4800600" cy="512064"/>
          </a:xfrm>
          <a:prstGeom prst="roundRect">
            <a:avLst>
              <a:gd name="adj" fmla="val 21429"/>
            </a:avLst>
          </a:prstGeom>
          <a:solidFill>
            <a:srgbClr val="FFFFFF"/>
          </a:solidFill>
          <a:ln w="12700">
            <a:solidFill>
              <a:srgbClr val="DEE5EE"/>
            </a:solidFill>
            <a:prstDash val="solid"/>
          </a:ln>
        </p:spPr>
      </p:sp>
      <p:sp>
        <p:nvSpPr>
          <p:cNvPr id="14" name="Shape 12"/>
          <p:cNvSpPr/>
          <p:nvPr/>
        </p:nvSpPr>
        <p:spPr>
          <a:xfrm>
            <a:off x="896112" y="3182112"/>
            <a:ext cx="914400" cy="283464"/>
          </a:xfrm>
          <a:prstGeom prst="roundRect">
            <a:avLst>
              <a:gd name="adj" fmla="val 38710"/>
            </a:avLst>
          </a:prstGeom>
          <a:solidFill>
            <a:srgbClr val="FFE8E3"/>
          </a:solidFill>
          <a:ln w="1270">
            <a:solidFill>
              <a:srgbClr val="FFE8E3">
                <a:alpha val="0"/>
              </a:srgbClr>
            </a:solidFill>
            <a:prstDash val="solid"/>
          </a:ln>
        </p:spPr>
      </p:sp>
      <p:sp>
        <p:nvSpPr>
          <p:cNvPr id="15" name="Text 13"/>
          <p:cNvSpPr txBox="1"/>
          <p:nvPr/>
        </p:nvSpPr>
        <p:spPr>
          <a:xfrm>
            <a:off x="969264" y="3195828"/>
            <a:ext cx="76809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FF826E"/>
                </a:solidFill>
                <a:latin typeface="Aptos" pitchFamily="34" charset="0"/>
                <a:ea typeface="Aptos" pitchFamily="34" charset="-122"/>
                <a:cs typeface="Aptos" pitchFamily="34" charset="-120"/>
              </a:rPr>
              <a:t>Forms</a:t>
            </a:r>
            <a:endParaRPr lang="en-US" sz="900" dirty="0"/>
          </a:p>
        </p:txBody>
      </p:sp>
      <p:sp>
        <p:nvSpPr>
          <p:cNvPr id="16" name="Text 14"/>
          <p:cNvSpPr txBox="1"/>
          <p:nvPr/>
        </p:nvSpPr>
        <p:spPr>
          <a:xfrm>
            <a:off x="2331720" y="3172968"/>
            <a:ext cx="2971800" cy="301752"/>
          </a:xfrm>
          <a:prstGeom prst="rect">
            <a:avLst/>
          </a:prstGeom>
          <a:noFill/>
          <a:ln/>
        </p:spPr>
        <p:txBody>
          <a:bodyPr wrap="square" lIns="0" tIns="0" rIns="0" bIns="0" rtlCol="0" anchor="ctr">
            <a:normAutofit/>
          </a:bodyPr>
          <a:lstStyle/>
          <a:p>
            <a:pPr algn="l" indent="0" marL="0">
              <a:buNone/>
            </a:pPr>
            <a:r>
              <a:rPr lang="en-US" sz="1150" dirty="0">
                <a:solidFill>
                  <a:srgbClr val="5F6F84"/>
                </a:solidFill>
                <a:latin typeface="Aptos" pitchFamily="34" charset="0"/>
                <a:ea typeface="Aptos" pitchFamily="34" charset="-122"/>
                <a:cs typeface="Aptos" pitchFamily="34" charset="-120"/>
              </a:rPr>
              <a:t>Use labels and validation to improve input.</a:t>
            </a:r>
            <a:endParaRPr lang="en-US" sz="1150" dirty="0"/>
          </a:p>
        </p:txBody>
      </p:sp>
      <p:sp>
        <p:nvSpPr>
          <p:cNvPr id="17" name="Shape 15"/>
          <p:cNvSpPr/>
          <p:nvPr/>
        </p:nvSpPr>
        <p:spPr>
          <a:xfrm>
            <a:off x="731520" y="3730752"/>
            <a:ext cx="4800600" cy="512064"/>
          </a:xfrm>
          <a:prstGeom prst="roundRect">
            <a:avLst>
              <a:gd name="adj" fmla="val 21429"/>
            </a:avLst>
          </a:prstGeom>
          <a:solidFill>
            <a:srgbClr val="FFFFFF"/>
          </a:solidFill>
          <a:ln w="12700">
            <a:solidFill>
              <a:srgbClr val="DEE5EE"/>
            </a:solidFill>
            <a:prstDash val="solid"/>
          </a:ln>
        </p:spPr>
      </p:sp>
      <p:sp>
        <p:nvSpPr>
          <p:cNvPr id="18" name="Shape 16"/>
          <p:cNvSpPr/>
          <p:nvPr/>
        </p:nvSpPr>
        <p:spPr>
          <a:xfrm>
            <a:off x="896112" y="3840480"/>
            <a:ext cx="1234440" cy="283464"/>
          </a:xfrm>
          <a:prstGeom prst="roundRect">
            <a:avLst>
              <a:gd name="adj" fmla="val 38710"/>
            </a:avLst>
          </a:prstGeom>
          <a:solidFill>
            <a:srgbClr val="EEE8FF"/>
          </a:solidFill>
          <a:ln w="1270">
            <a:solidFill>
              <a:srgbClr val="EEE8FF">
                <a:alpha val="0"/>
              </a:srgbClr>
            </a:solidFill>
            <a:prstDash val="solid"/>
          </a:ln>
        </p:spPr>
      </p:sp>
      <p:sp>
        <p:nvSpPr>
          <p:cNvPr id="19" name="Text 17"/>
          <p:cNvSpPr txBox="1"/>
          <p:nvPr/>
        </p:nvSpPr>
        <p:spPr>
          <a:xfrm>
            <a:off x="969264" y="3854196"/>
            <a:ext cx="1088136" cy="246888"/>
          </a:xfrm>
          <a:prstGeom prst="rect">
            <a:avLst/>
          </a:prstGeom>
          <a:noFill/>
          <a:ln/>
        </p:spPr>
        <p:txBody>
          <a:bodyPr wrap="square" lIns="0" tIns="0" rIns="0" bIns="0" rtlCol="0" anchor="ctr">
            <a:normAutofit/>
          </a:bodyPr>
          <a:lstStyle/>
          <a:p>
            <a:pPr algn="ctr" indent="0" marL="0">
              <a:buNone/>
            </a:pPr>
            <a:r>
              <a:rPr lang="en-US" sz="900" b="1" spc="60" kern="0" dirty="0">
                <a:solidFill>
                  <a:srgbClr val="8C6FE8"/>
                </a:solidFill>
                <a:latin typeface="Aptos" pitchFamily="34" charset="0"/>
                <a:ea typeface="Aptos" pitchFamily="34" charset="-122"/>
                <a:cs typeface="Aptos" pitchFamily="34" charset="-120"/>
              </a:rPr>
              <a:t>Flexbox / Grid</a:t>
            </a:r>
            <a:endParaRPr lang="en-US" sz="900" dirty="0"/>
          </a:p>
        </p:txBody>
      </p:sp>
      <p:sp>
        <p:nvSpPr>
          <p:cNvPr id="20" name="Text 18"/>
          <p:cNvSpPr txBox="1"/>
          <p:nvPr/>
        </p:nvSpPr>
        <p:spPr>
          <a:xfrm>
            <a:off x="2331720" y="3831336"/>
            <a:ext cx="2971800" cy="301752"/>
          </a:xfrm>
          <a:prstGeom prst="rect">
            <a:avLst/>
          </a:prstGeom>
          <a:noFill/>
          <a:ln/>
        </p:spPr>
        <p:txBody>
          <a:bodyPr wrap="square" lIns="0" tIns="0" rIns="0" bIns="0" rtlCol="0" anchor="ctr">
            <a:normAutofit/>
          </a:bodyPr>
          <a:lstStyle/>
          <a:p>
            <a:pPr algn="l" indent="0" marL="0">
              <a:buNone/>
            </a:pPr>
            <a:r>
              <a:rPr lang="en-US" sz="1150" dirty="0">
                <a:solidFill>
                  <a:srgbClr val="5F6F84"/>
                </a:solidFill>
                <a:latin typeface="Aptos" pitchFamily="34" charset="0"/>
                <a:ea typeface="Aptos" pitchFamily="34" charset="-122"/>
                <a:cs typeface="Aptos" pitchFamily="34" charset="-120"/>
              </a:rPr>
              <a:t>Choose layout tools based on the structure you need.</a:t>
            </a:r>
            <a:endParaRPr lang="en-US" sz="1150" dirty="0"/>
          </a:p>
        </p:txBody>
      </p:sp>
      <p:sp>
        <p:nvSpPr>
          <p:cNvPr id="21" name="Shape 19"/>
          <p:cNvSpPr/>
          <p:nvPr/>
        </p:nvSpPr>
        <p:spPr>
          <a:xfrm>
            <a:off x="5943600" y="1755648"/>
            <a:ext cx="5486400" cy="3438144"/>
          </a:xfrm>
          <a:prstGeom prst="roundRect">
            <a:avLst>
              <a:gd name="adj" fmla="val 3191"/>
            </a:avLst>
          </a:prstGeom>
          <a:solidFill>
            <a:srgbClr val="FFF7E2"/>
          </a:solidFill>
          <a:ln w="12700">
            <a:solidFill>
              <a:srgbClr val="F1E3B9"/>
            </a:solidFill>
            <a:prstDash val="solid"/>
          </a:ln>
        </p:spPr>
      </p:sp>
      <p:sp>
        <p:nvSpPr>
          <p:cNvPr id="22" name="Text 20"/>
          <p:cNvSpPr txBox="1"/>
          <p:nvPr/>
        </p:nvSpPr>
        <p:spPr>
          <a:xfrm>
            <a:off x="6272784" y="2048256"/>
            <a:ext cx="2377440" cy="292608"/>
          </a:xfrm>
          <a:prstGeom prst="rect">
            <a:avLst/>
          </a:prstGeom>
          <a:noFill/>
          <a:ln/>
        </p:spPr>
        <p:txBody>
          <a:bodyPr wrap="square" lIns="0" tIns="0" rIns="0" bIns="0" rtlCol="0" anchor="ctr">
            <a:normAutofit/>
          </a:bodyPr>
          <a:lstStyle/>
          <a:p>
            <a:pPr algn="l" indent="0" marL="0">
              <a:buNone/>
            </a:pPr>
            <a:r>
              <a:rPr lang="en-US" sz="1900" b="1" dirty="0">
                <a:solidFill>
                  <a:srgbClr val="8C6500"/>
                </a:solidFill>
                <a:latin typeface="Aptos" pitchFamily="34" charset="0"/>
                <a:ea typeface="Aptos" pitchFamily="34" charset="-122"/>
                <a:cs typeface="Aptos" pitchFamily="34" charset="-120"/>
              </a:rPr>
              <a:t>Quick check</a:t>
            </a:r>
            <a:endParaRPr lang="en-US" sz="1900" dirty="0"/>
          </a:p>
        </p:txBody>
      </p:sp>
      <p:sp>
        <p:nvSpPr>
          <p:cNvPr id="23" name="Text 21"/>
          <p:cNvSpPr txBox="1"/>
          <p:nvPr/>
        </p:nvSpPr>
        <p:spPr>
          <a:xfrm>
            <a:off x="6291072" y="2587752"/>
            <a:ext cx="4663440" cy="475488"/>
          </a:xfrm>
          <a:prstGeom prst="rect">
            <a:avLst/>
          </a:prstGeom>
          <a:noFill/>
          <a:ln/>
        </p:spPr>
        <p:txBody>
          <a:bodyPr wrap="square" lIns="0" tIns="0" rIns="0" bIns="0" rtlCol="0" anchor="t">
            <a:normAutofit/>
          </a:bodyPr>
          <a:lstStyle/>
          <a:p>
            <a:pPr algn="l" indent="0" marL="0">
              <a:buNone/>
            </a:pPr>
            <a:r>
              <a:rPr lang="en-US" sz="1240" dirty="0">
                <a:solidFill>
                  <a:srgbClr val="182230"/>
                </a:solidFill>
                <a:latin typeface="Aptos" pitchFamily="34" charset="0"/>
                <a:ea typeface="Aptos" pitchFamily="34" charset="-122"/>
                <a:cs typeface="Aptos" pitchFamily="34" charset="-120"/>
              </a:rPr>
              <a:t>1. Which is better for a photo-realistic image: SVG or a photo format?</a:t>
            </a:r>
            <a:endParaRPr lang="en-US" sz="1240" dirty="0"/>
          </a:p>
        </p:txBody>
      </p:sp>
      <p:sp>
        <p:nvSpPr>
          <p:cNvPr id="24" name="Text 22"/>
          <p:cNvSpPr txBox="1"/>
          <p:nvPr/>
        </p:nvSpPr>
        <p:spPr>
          <a:xfrm>
            <a:off x="6291072" y="3300984"/>
            <a:ext cx="4663440" cy="475488"/>
          </a:xfrm>
          <a:prstGeom prst="rect">
            <a:avLst/>
          </a:prstGeom>
          <a:noFill/>
          <a:ln/>
        </p:spPr>
        <p:txBody>
          <a:bodyPr wrap="square" lIns="0" tIns="0" rIns="0" bIns="0" rtlCol="0" anchor="t">
            <a:normAutofit/>
          </a:bodyPr>
          <a:lstStyle/>
          <a:p>
            <a:pPr algn="l" indent="0" marL="0">
              <a:buNone/>
            </a:pPr>
            <a:r>
              <a:rPr lang="en-US" sz="1240" dirty="0">
                <a:solidFill>
                  <a:srgbClr val="182230"/>
                </a:solidFill>
                <a:latin typeface="Aptos" pitchFamily="34" charset="0"/>
                <a:ea typeface="Aptos" pitchFamily="34" charset="-122"/>
                <a:cs typeface="Aptos" pitchFamily="34" charset="-120"/>
              </a:rPr>
              <a:t>2. Which layout tool is designed for rows and columns together?</a:t>
            </a:r>
            <a:endParaRPr lang="en-US" sz="1240" dirty="0"/>
          </a:p>
        </p:txBody>
      </p:sp>
      <p:sp>
        <p:nvSpPr>
          <p:cNvPr id="25" name="Text 23"/>
          <p:cNvSpPr txBox="1"/>
          <p:nvPr/>
        </p:nvSpPr>
        <p:spPr>
          <a:xfrm>
            <a:off x="6291072" y="4014216"/>
            <a:ext cx="4663440" cy="475488"/>
          </a:xfrm>
          <a:prstGeom prst="rect">
            <a:avLst/>
          </a:prstGeom>
          <a:noFill/>
          <a:ln/>
        </p:spPr>
        <p:txBody>
          <a:bodyPr wrap="square" lIns="0" tIns="0" rIns="0" bIns="0" rtlCol="0" anchor="t">
            <a:normAutofit/>
          </a:bodyPr>
          <a:lstStyle/>
          <a:p>
            <a:pPr algn="l" indent="0" marL="0">
              <a:buNone/>
            </a:pPr>
            <a:r>
              <a:rPr lang="en-US" sz="1240" dirty="0">
                <a:solidFill>
                  <a:srgbClr val="182230"/>
                </a:solidFill>
                <a:latin typeface="Aptos" pitchFamily="34" charset="0"/>
                <a:ea typeface="Aptos" pitchFamily="34" charset="-122"/>
                <a:cs typeface="Aptos" pitchFamily="34" charset="-120"/>
              </a:rPr>
              <a:t>3. What does the required attribute help with in a form?</a:t>
            </a:r>
            <a:endParaRPr lang="en-US" sz="1240" dirty="0"/>
          </a:p>
        </p:txBody>
      </p:sp>
      <p:sp>
        <p:nvSpPr>
          <p:cNvPr id="26" name="Shape 24"/>
          <p:cNvSpPr/>
          <p:nvPr/>
        </p:nvSpPr>
        <p:spPr>
          <a:xfrm>
            <a:off x="6263640" y="5413248"/>
            <a:ext cx="4800600" cy="365760"/>
          </a:xfrm>
          <a:prstGeom prst="roundRect">
            <a:avLst>
              <a:gd name="adj" fmla="val 30000"/>
            </a:avLst>
          </a:prstGeom>
          <a:solidFill>
            <a:srgbClr val="FFFFFF"/>
          </a:solidFill>
          <a:ln w="12700">
            <a:solidFill>
              <a:srgbClr val="EEDDAA"/>
            </a:solidFill>
            <a:prstDash val="solid"/>
          </a:ln>
        </p:spPr>
      </p:sp>
      <p:sp>
        <p:nvSpPr>
          <p:cNvPr id="27" name="Text 25"/>
          <p:cNvSpPr txBox="1"/>
          <p:nvPr/>
        </p:nvSpPr>
        <p:spPr>
          <a:xfrm>
            <a:off x="6355080" y="5468112"/>
            <a:ext cx="4617720" cy="246888"/>
          </a:xfrm>
          <a:prstGeom prst="rect">
            <a:avLst/>
          </a:prstGeom>
          <a:noFill/>
          <a:ln/>
        </p:spPr>
        <p:txBody>
          <a:bodyPr wrap="square" lIns="0" tIns="0" rIns="0" bIns="0" rtlCol="0" anchor="ctr">
            <a:normAutofit/>
          </a:bodyPr>
          <a:lstStyle/>
          <a:p>
            <a:pPr algn="ctr" indent="0" marL="0">
              <a:buNone/>
            </a:pPr>
            <a:r>
              <a:rPr lang="en-US" sz="1020" b="1" dirty="0">
                <a:solidFill>
                  <a:srgbClr val="8C6500"/>
                </a:solidFill>
                <a:latin typeface="Aptos" pitchFamily="34" charset="0"/>
                <a:ea typeface="Aptos" pitchFamily="34" charset="-122"/>
                <a:cs typeface="Aptos" pitchFamily="34" charset="-120"/>
              </a:rPr>
              <a:t>Answers: photo format • Grid • makes a field mandatory</a:t>
            </a:r>
            <a:endParaRPr lang="en-US" sz="1020" dirty="0"/>
          </a:p>
        </p:txBody>
      </p:sp>
      <p:sp>
        <p:nvSpPr>
          <p:cNvPr id="28" name="Text 26"/>
          <p:cNvSpPr txBox="1"/>
          <p:nvPr/>
        </p:nvSpPr>
        <p:spPr>
          <a:xfrm>
            <a:off x="868680" y="5138928"/>
            <a:ext cx="3291840" cy="548640"/>
          </a:xfrm>
          <a:prstGeom prst="rect">
            <a:avLst/>
          </a:prstGeom>
          <a:noFill/>
          <a:ln/>
        </p:spPr>
        <p:txBody>
          <a:bodyPr wrap="square" lIns="0" tIns="0" rIns="0" bIns="0" rtlCol="0" anchor="ctr">
            <a:normAutofit/>
          </a:bodyPr>
          <a:lstStyle/>
          <a:p>
            <a:pPr algn="l" indent="0" marL="0">
              <a:buNone/>
            </a:pPr>
            <a:r>
              <a:rPr lang="en-US" sz="3200" b="1" dirty="0">
                <a:solidFill>
                  <a:srgbClr val="101828"/>
                </a:solidFill>
                <a:latin typeface="Aptos" pitchFamily="34" charset="0"/>
                <a:ea typeface="Aptos" pitchFamily="34" charset="-122"/>
                <a:cs typeface="Aptos" pitchFamily="34" charset="-120"/>
              </a:rPr>
              <a:t>Questions?</a:t>
            </a:r>
            <a:endParaRPr lang="en-US" sz="3200" dirty="0"/>
          </a:p>
        </p:txBody>
      </p:sp>
      <p:sp>
        <p:nvSpPr>
          <p:cNvPr id="29" name="Text 27"/>
          <p:cNvSpPr txBox="1"/>
          <p:nvPr/>
        </p:nvSpPr>
        <p:spPr>
          <a:xfrm>
            <a:off x="621792" y="6208776"/>
            <a:ext cx="7772400" cy="146304"/>
          </a:xfrm>
          <a:prstGeom prst="rect">
            <a:avLst/>
          </a:prstGeom>
          <a:noFill/>
          <a:ln/>
        </p:spPr>
        <p:txBody>
          <a:bodyPr wrap="square" lIns="0" tIns="0" rIns="0" bIns="0" rtlCol="0" anchor="ctr">
            <a:normAutofit/>
          </a:bodyPr>
          <a:lstStyle/>
          <a:p>
            <a:pPr algn="l" indent="0" marL="0">
              <a:buNone/>
            </a:pPr>
            <a:r>
              <a:rPr lang="en-US" sz="850" i="1" dirty="0">
                <a:solidFill>
                  <a:srgbClr val="91A0B4"/>
                </a:solidFill>
                <a:latin typeface="Aptos" pitchFamily="34" charset="0"/>
                <a:ea typeface="Aptos" pitchFamily="34" charset="-122"/>
                <a:cs typeface="Aptos" pitchFamily="34" charset="-120"/>
              </a:rPr>
              <a:t>Based on The Odin Project course outline</a:t>
            </a:r>
            <a:endParaRPr lang="en-US" sz="85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03504" y="384048"/>
            <a:ext cx="384048" cy="219456"/>
          </a:xfrm>
          <a:prstGeom prst="rect">
            <a:avLst/>
          </a:prstGeom>
          <a:noFill/>
          <a:ln/>
        </p:spPr>
        <p:txBody>
          <a:bodyPr wrap="square" lIns="0" tIns="0" rIns="0" bIns="0" rtlCol="0" anchor="ctr">
            <a:normAutofit/>
          </a:bodyPr>
          <a:lstStyle/>
          <a:p>
            <a:pPr algn="l" indent="0" marL="0">
              <a:buNone/>
            </a:pPr>
            <a:r>
              <a:rPr lang="en-US" sz="1000" b="1" spc="150" kern="0" dirty="0">
                <a:solidFill>
                  <a:srgbClr val="16B7A4"/>
                </a:solidFill>
                <a:latin typeface="Aptos" pitchFamily="34" charset="0"/>
                <a:ea typeface="Aptos" pitchFamily="34" charset="-122"/>
                <a:cs typeface="Aptos" pitchFamily="34" charset="-120"/>
              </a:rPr>
              <a:t>16</a:t>
            </a:r>
            <a:endParaRPr lang="en-US" sz="1000" dirty="0"/>
          </a:p>
        </p:txBody>
      </p:sp>
      <p:sp>
        <p:nvSpPr>
          <p:cNvPr id="3" name="Text 1"/>
          <p:cNvSpPr txBox="1"/>
          <p:nvPr/>
        </p:nvSpPr>
        <p:spPr>
          <a:xfrm>
            <a:off x="603504" y="667512"/>
            <a:ext cx="10972800" cy="438912"/>
          </a:xfrm>
          <a:prstGeom prst="rect">
            <a:avLst/>
          </a:prstGeom>
          <a:noFill/>
          <a:ln/>
        </p:spPr>
        <p:txBody>
          <a:bodyPr wrap="square" lIns="0" tIns="0" rIns="0" bIns="0" rtlCol="0" anchor="ctr">
            <a:normAutofit/>
          </a:bodyPr>
          <a:lstStyle/>
          <a:p>
            <a:pPr algn="l" indent="0" marL="0">
              <a:buNone/>
            </a:pPr>
            <a:r>
              <a:rPr lang="en-US" sz="2800" b="1" dirty="0">
                <a:solidFill>
                  <a:srgbClr val="101828"/>
                </a:solidFill>
                <a:latin typeface="Aptos" pitchFamily="34" charset="0"/>
                <a:ea typeface="Aptos" pitchFamily="34" charset="-122"/>
                <a:cs typeface="Aptos" pitchFamily="34" charset="-120"/>
              </a:rPr>
              <a:t>Source and further learning</a:t>
            </a:r>
            <a:endParaRPr lang="en-US" sz="2800" dirty="0"/>
          </a:p>
        </p:txBody>
      </p:sp>
      <p:sp>
        <p:nvSpPr>
          <p:cNvPr id="4" name="Text 2"/>
          <p:cNvSpPr txBox="1"/>
          <p:nvPr/>
        </p:nvSpPr>
        <p:spPr>
          <a:xfrm>
            <a:off x="621792" y="1133856"/>
            <a:ext cx="10789920" cy="32918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The main source for this presentation is The Odin Project’s free Intermediate HTML and CSS course.</a:t>
            </a:r>
            <a:endParaRPr lang="en-US" sz="1250" dirty="0"/>
          </a:p>
        </p:txBody>
      </p:sp>
      <p:sp>
        <p:nvSpPr>
          <p:cNvPr id="5" name="Shape 3"/>
          <p:cNvSpPr/>
          <p:nvPr/>
        </p:nvSpPr>
        <p:spPr>
          <a:xfrm>
            <a:off x="777240" y="1828800"/>
            <a:ext cx="10652760" cy="1234440"/>
          </a:xfrm>
          <a:prstGeom prst="roundRect">
            <a:avLst>
              <a:gd name="adj" fmla="val 8889"/>
            </a:avLst>
          </a:prstGeom>
          <a:solidFill>
            <a:srgbClr val="FFFFFF"/>
          </a:solidFill>
          <a:ln w="12700">
            <a:solidFill>
              <a:srgbClr val="DEE5EE"/>
            </a:solidFill>
            <a:prstDash val="solid"/>
          </a:ln>
        </p:spPr>
      </p:sp>
      <p:sp>
        <p:nvSpPr>
          <p:cNvPr id="6" name="Text 4"/>
          <p:cNvSpPr txBox="1"/>
          <p:nvPr/>
        </p:nvSpPr>
        <p:spPr>
          <a:xfrm>
            <a:off x="1097280" y="2103120"/>
            <a:ext cx="2743200" cy="329184"/>
          </a:xfrm>
          <a:prstGeom prst="rect">
            <a:avLst/>
          </a:prstGeom>
          <a:noFill/>
          <a:ln/>
        </p:spPr>
        <p:txBody>
          <a:bodyPr wrap="square" lIns="0" tIns="0" rIns="0" bIns="0" rtlCol="0" anchor="ctr">
            <a:normAutofit/>
          </a:bodyPr>
          <a:lstStyle/>
          <a:p>
            <a:pPr algn="l" indent="0" marL="0">
              <a:buNone/>
            </a:pPr>
            <a:r>
              <a:rPr lang="en-US" sz="2200" b="1" dirty="0">
                <a:solidFill>
                  <a:srgbClr val="101828"/>
                </a:solidFill>
                <a:latin typeface="Aptos" pitchFamily="34" charset="0"/>
                <a:ea typeface="Aptos" pitchFamily="34" charset="-122"/>
                <a:cs typeface="Aptos" pitchFamily="34" charset="-120"/>
              </a:rPr>
              <a:t>The Odin Project</a:t>
            </a:r>
            <a:endParaRPr lang="en-US" sz="2200" dirty="0"/>
          </a:p>
        </p:txBody>
      </p:sp>
      <p:sp>
        <p:nvSpPr>
          <p:cNvPr id="7" name="Text 5"/>
          <p:cNvSpPr txBox="1"/>
          <p:nvPr/>
        </p:nvSpPr>
        <p:spPr>
          <a:xfrm>
            <a:off x="1097280" y="2532888"/>
            <a:ext cx="4023360" cy="237744"/>
          </a:xfrm>
          <a:prstGeom prst="rect">
            <a:avLst/>
          </a:prstGeom>
          <a:noFill/>
          <a:ln/>
        </p:spPr>
        <p:txBody>
          <a:bodyPr wrap="square" lIns="0" tIns="0" rIns="0" bIns="0" rtlCol="0" anchor="ctr">
            <a:normAutofit/>
          </a:bodyPr>
          <a:lstStyle/>
          <a:p>
            <a:pPr algn="l" indent="0" marL="0">
              <a:buNone/>
            </a:pPr>
            <a:r>
              <a:rPr lang="en-US" sz="1250" dirty="0">
                <a:solidFill>
                  <a:srgbClr val="5F6F84"/>
                </a:solidFill>
                <a:latin typeface="Aptos" pitchFamily="34" charset="0"/>
                <a:ea typeface="Aptos" pitchFamily="34" charset="-122"/>
                <a:cs typeface="Aptos" pitchFamily="34" charset="-120"/>
              </a:rPr>
              <a:t>Intermediate HTML and CSS — course outline</a:t>
            </a:r>
            <a:endParaRPr lang="en-US" sz="1250" dirty="0"/>
          </a:p>
        </p:txBody>
      </p:sp>
      <p:sp>
        <p:nvSpPr>
          <p:cNvPr id="8" name="Text 6">
            <a:hlinkClick r:id="rId1" tooltip=""/>
          </p:cNvPr>
          <p:cNvSpPr txBox="1"/>
          <p:nvPr/>
        </p:nvSpPr>
        <p:spPr>
          <a:xfrm>
            <a:off x="1097280" y="2971800"/>
            <a:ext cx="9509760" cy="310896"/>
          </a:xfrm>
          <a:prstGeom prst="rect">
            <a:avLst/>
          </a:prstGeom>
          <a:noFill/>
          <a:ln/>
        </p:spPr>
        <p:txBody>
          <a:bodyPr wrap="square" lIns="0" tIns="0" rIns="0" bIns="0" rtlCol="0" anchor="ctr">
            <a:normAutofit/>
          </a:bodyPr>
          <a:lstStyle/>
          <a:p>
            <a:pPr algn="l" indent="0" marL="0">
              <a:buNone/>
            </a:pPr>
            <a:r>
              <a:rPr lang="en-US" sz="1300" b="1" u="sng" dirty="0">
                <a:solidFill>
                  <a:srgbClr val="5272F2"/>
                </a:solidFill>
                <a:uFill>
                  <a:solidFill>
                    <a:srgbClr val="5272F2"/>
                  </a:solidFill>
                </a:u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https://www.theodinproject.com/paths/full-stack-javascript/courses/intermediate-html-and-css</a:t>
            </a:r>
            <a:endParaRPr lang="en-US" sz="1300" dirty="0"/>
          </a:p>
        </p:txBody>
      </p:sp>
      <p:sp>
        <p:nvSpPr>
          <p:cNvPr id="9" name="Text 7"/>
          <p:cNvSpPr txBox="1"/>
          <p:nvPr/>
        </p:nvSpPr>
        <p:spPr>
          <a:xfrm>
            <a:off x="914400" y="3602736"/>
            <a:ext cx="1828800" cy="274320"/>
          </a:xfrm>
          <a:prstGeom prst="rect">
            <a:avLst/>
          </a:prstGeom>
          <a:noFill/>
          <a:ln/>
        </p:spPr>
        <p:txBody>
          <a:bodyPr wrap="square" lIns="0" tIns="0" rIns="0" bIns="0" rtlCol="0" anchor="ctr">
            <a:normAutofit/>
          </a:bodyPr>
          <a:lstStyle/>
          <a:p>
            <a:pPr algn="l" indent="0" marL="0">
              <a:buNone/>
            </a:pPr>
            <a:r>
              <a:rPr lang="en-US" sz="1700" b="1" dirty="0">
                <a:solidFill>
                  <a:srgbClr val="101828"/>
                </a:solidFill>
                <a:latin typeface="Aptos" pitchFamily="34" charset="0"/>
                <a:ea typeface="Aptos" pitchFamily="34" charset="-122"/>
                <a:cs typeface="Aptos" pitchFamily="34" charset="-120"/>
              </a:rPr>
              <a:t>Topics referenced</a:t>
            </a:r>
            <a:endParaRPr lang="en-US" sz="1700" dirty="0"/>
          </a:p>
        </p:txBody>
      </p:sp>
      <p:sp>
        <p:nvSpPr>
          <p:cNvPr id="10" name="Shape 8"/>
          <p:cNvSpPr/>
          <p:nvPr/>
        </p:nvSpPr>
        <p:spPr>
          <a:xfrm>
            <a:off x="932688" y="4151376"/>
            <a:ext cx="82296" cy="82296"/>
          </a:xfrm>
          <a:prstGeom prst="ellipse">
            <a:avLst/>
          </a:prstGeom>
          <a:solidFill>
            <a:srgbClr val="16B7A4"/>
          </a:solidFill>
          <a:ln w="12700">
            <a:solidFill>
              <a:srgbClr val="16B7A4"/>
            </a:solidFill>
            <a:prstDash val="solid"/>
          </a:ln>
        </p:spPr>
      </p:sp>
      <p:sp>
        <p:nvSpPr>
          <p:cNvPr id="11" name="Text 9"/>
          <p:cNvSpPr txBox="1"/>
          <p:nvPr/>
        </p:nvSpPr>
        <p:spPr>
          <a:xfrm>
            <a:off x="1133856" y="4041648"/>
            <a:ext cx="9582912" cy="329184"/>
          </a:xfrm>
          <a:prstGeom prst="rect">
            <a:avLst/>
          </a:prstGeom>
          <a:noFill/>
          <a:ln/>
        </p:spPr>
        <p:txBody>
          <a:bodyPr wrap="square" lIns="0" tIns="0" rIns="0" bIns="0" rtlCol="0" anchor="t">
            <a:normAutofit/>
          </a:bodyPr>
          <a:lstStyle/>
          <a:p>
            <a:pPr algn="l" indent="0" marL="0">
              <a:buNone/>
            </a:pPr>
            <a:r>
              <a:rPr lang="en-US" sz="1230" dirty="0">
                <a:solidFill>
                  <a:srgbClr val="182230"/>
                </a:solidFill>
                <a:latin typeface="Aptos" pitchFamily="34" charset="0"/>
                <a:ea typeface="Aptos" pitchFamily="34" charset="-122"/>
                <a:cs typeface="Aptos" pitchFamily="34" charset="-120"/>
              </a:rPr>
              <a:t>SVG and HTML tables</a:t>
            </a:r>
            <a:endParaRPr lang="en-US" sz="1230" dirty="0"/>
          </a:p>
        </p:txBody>
      </p:sp>
      <p:sp>
        <p:nvSpPr>
          <p:cNvPr id="12" name="Shape 10"/>
          <p:cNvSpPr/>
          <p:nvPr/>
        </p:nvSpPr>
        <p:spPr>
          <a:xfrm>
            <a:off x="932688" y="4590288"/>
            <a:ext cx="82296" cy="82296"/>
          </a:xfrm>
          <a:prstGeom prst="ellipse">
            <a:avLst/>
          </a:prstGeom>
          <a:solidFill>
            <a:srgbClr val="5272F2"/>
          </a:solidFill>
          <a:ln w="12700">
            <a:solidFill>
              <a:srgbClr val="5272F2"/>
            </a:solidFill>
            <a:prstDash val="solid"/>
          </a:ln>
        </p:spPr>
      </p:sp>
      <p:sp>
        <p:nvSpPr>
          <p:cNvPr id="13" name="Text 11"/>
          <p:cNvSpPr txBox="1"/>
          <p:nvPr/>
        </p:nvSpPr>
        <p:spPr>
          <a:xfrm>
            <a:off x="1133856" y="4480560"/>
            <a:ext cx="9582912" cy="329184"/>
          </a:xfrm>
          <a:prstGeom prst="rect">
            <a:avLst/>
          </a:prstGeom>
          <a:noFill/>
          <a:ln/>
        </p:spPr>
        <p:txBody>
          <a:bodyPr wrap="square" lIns="0" tIns="0" rIns="0" bIns="0" rtlCol="0" anchor="t">
            <a:normAutofit/>
          </a:bodyPr>
          <a:lstStyle/>
          <a:p>
            <a:pPr algn="l" indent="0" marL="0">
              <a:buNone/>
            </a:pPr>
            <a:r>
              <a:rPr lang="en-US" sz="1230" dirty="0">
                <a:solidFill>
                  <a:srgbClr val="182230"/>
                </a:solidFill>
                <a:latin typeface="Aptos" pitchFamily="34" charset="0"/>
                <a:ea typeface="Aptos" pitchFamily="34" charset="-122"/>
                <a:cs typeface="Aptos" pitchFamily="34" charset="-120"/>
              </a:rPr>
              <a:t>CSS units, selectors, positioning, functions and custom properties</a:t>
            </a:r>
            <a:endParaRPr lang="en-US" sz="1230" dirty="0"/>
          </a:p>
        </p:txBody>
      </p:sp>
      <p:sp>
        <p:nvSpPr>
          <p:cNvPr id="14" name="Shape 12"/>
          <p:cNvSpPr/>
          <p:nvPr/>
        </p:nvSpPr>
        <p:spPr>
          <a:xfrm>
            <a:off x="932688" y="5029200"/>
            <a:ext cx="82296" cy="82296"/>
          </a:xfrm>
          <a:prstGeom prst="ellipse">
            <a:avLst/>
          </a:prstGeom>
          <a:solidFill>
            <a:srgbClr val="FF826E"/>
          </a:solidFill>
          <a:ln w="12700">
            <a:solidFill>
              <a:srgbClr val="FF826E"/>
            </a:solidFill>
            <a:prstDash val="solid"/>
          </a:ln>
        </p:spPr>
      </p:sp>
      <p:sp>
        <p:nvSpPr>
          <p:cNvPr id="15" name="Text 13"/>
          <p:cNvSpPr txBox="1"/>
          <p:nvPr/>
        </p:nvSpPr>
        <p:spPr>
          <a:xfrm>
            <a:off x="1133856" y="4919472"/>
            <a:ext cx="9582912" cy="329184"/>
          </a:xfrm>
          <a:prstGeom prst="rect">
            <a:avLst/>
          </a:prstGeom>
          <a:noFill/>
          <a:ln/>
        </p:spPr>
        <p:txBody>
          <a:bodyPr wrap="square" lIns="0" tIns="0" rIns="0" bIns="0" rtlCol="0" anchor="t">
            <a:normAutofit/>
          </a:bodyPr>
          <a:lstStyle/>
          <a:p>
            <a:pPr algn="l" indent="0" marL="0">
              <a:buNone/>
            </a:pPr>
            <a:r>
              <a:rPr lang="en-US" sz="1230" dirty="0">
                <a:solidFill>
                  <a:srgbClr val="182230"/>
                </a:solidFill>
                <a:latin typeface="Aptos" pitchFamily="34" charset="0"/>
                <a:ea typeface="Aptos" pitchFamily="34" charset="-122"/>
                <a:cs typeface="Aptos" pitchFamily="34" charset="-120"/>
              </a:rPr>
              <a:t>Forms and form validation</a:t>
            </a:r>
            <a:endParaRPr lang="en-US" sz="1230" dirty="0"/>
          </a:p>
        </p:txBody>
      </p:sp>
      <p:sp>
        <p:nvSpPr>
          <p:cNvPr id="16" name="Shape 14"/>
          <p:cNvSpPr/>
          <p:nvPr/>
        </p:nvSpPr>
        <p:spPr>
          <a:xfrm>
            <a:off x="932688" y="5468112"/>
            <a:ext cx="82296" cy="82296"/>
          </a:xfrm>
          <a:prstGeom prst="ellipse">
            <a:avLst/>
          </a:prstGeom>
          <a:solidFill>
            <a:srgbClr val="8C6FE8"/>
          </a:solidFill>
          <a:ln w="12700">
            <a:solidFill>
              <a:srgbClr val="8C6FE8"/>
            </a:solidFill>
            <a:prstDash val="solid"/>
          </a:ln>
        </p:spPr>
      </p:sp>
      <p:sp>
        <p:nvSpPr>
          <p:cNvPr id="17" name="Text 15"/>
          <p:cNvSpPr txBox="1"/>
          <p:nvPr/>
        </p:nvSpPr>
        <p:spPr>
          <a:xfrm>
            <a:off x="1133856" y="5358384"/>
            <a:ext cx="9582912" cy="329184"/>
          </a:xfrm>
          <a:prstGeom prst="rect">
            <a:avLst/>
          </a:prstGeom>
          <a:noFill/>
          <a:ln/>
        </p:spPr>
        <p:txBody>
          <a:bodyPr wrap="square" lIns="0" tIns="0" rIns="0" bIns="0" rtlCol="0" anchor="t">
            <a:normAutofit/>
          </a:bodyPr>
          <a:lstStyle/>
          <a:p>
            <a:pPr algn="l" indent="0" marL="0">
              <a:buNone/>
            </a:pPr>
            <a:r>
              <a:rPr lang="en-US" sz="1230" dirty="0">
                <a:solidFill>
                  <a:srgbClr val="182230"/>
                </a:solidFill>
                <a:latin typeface="Aptos" pitchFamily="34" charset="0"/>
                <a:ea typeface="Aptos" pitchFamily="34" charset="-122"/>
                <a:cs typeface="Aptos" pitchFamily="34" charset="-120"/>
              </a:rPr>
              <a:t>Flexbox, Grid, browser compatibility, frameworks and preprocessors</a:t>
            </a:r>
            <a:endParaRPr lang="en-US" sz="1230" dirty="0"/>
          </a:p>
        </p:txBody>
      </p:sp>
      <p:sp>
        <p:nvSpPr>
          <p:cNvPr id="18" name="Shape 16"/>
          <p:cNvSpPr/>
          <p:nvPr/>
        </p:nvSpPr>
        <p:spPr>
          <a:xfrm>
            <a:off x="868680" y="5925312"/>
            <a:ext cx="10469880" cy="320040"/>
          </a:xfrm>
          <a:prstGeom prst="roundRect">
            <a:avLst>
              <a:gd name="adj" fmla="val 34286"/>
            </a:avLst>
          </a:prstGeom>
          <a:solidFill>
            <a:srgbClr val="EAF5F6"/>
          </a:solidFill>
          <a:ln w="12700">
            <a:solidFill>
              <a:srgbClr val="D3E8E9"/>
            </a:solidFill>
            <a:prstDash val="solid"/>
          </a:ln>
        </p:spPr>
      </p:sp>
      <p:sp>
        <p:nvSpPr>
          <p:cNvPr id="19" name="Text 17"/>
          <p:cNvSpPr txBox="1"/>
          <p:nvPr/>
        </p:nvSpPr>
        <p:spPr>
          <a:xfrm>
            <a:off x="1042416" y="5961888"/>
            <a:ext cx="10104120" cy="228600"/>
          </a:xfrm>
          <a:prstGeom prst="rect">
            <a:avLst/>
          </a:prstGeom>
          <a:noFill/>
          <a:ln/>
        </p:spPr>
        <p:txBody>
          <a:bodyPr wrap="square" lIns="0" tIns="0" rIns="0" bIns="0" rtlCol="0" anchor="ctr">
            <a:normAutofit/>
          </a:bodyPr>
          <a:lstStyle/>
          <a:p>
            <a:pPr algn="ctr" indent="0" marL="0">
              <a:buNone/>
            </a:pPr>
            <a:r>
              <a:rPr lang="en-US" sz="1130" b="1" dirty="0">
                <a:solidFill>
                  <a:srgbClr val="101828"/>
                </a:solidFill>
                <a:latin typeface="Aptos" pitchFamily="34" charset="0"/>
                <a:ea typeface="Aptos" pitchFamily="34" charset="-122"/>
                <a:cs typeface="Aptos" pitchFamily="34" charset="-120"/>
              </a:rPr>
              <a:t>Tip: use the original lessons for detailed explanations and coding practice.</a:t>
            </a:r>
            <a:endParaRPr lang="en-US" sz="1130" dirty="0"/>
          </a:p>
        </p:txBody>
      </p:sp>
      <p:sp>
        <p:nvSpPr>
          <p:cNvPr id="25" name="Slide Number Placeholder 0"/>
          <p:cNvSpPr>
            <a:spLocks noGrp="1"/>
          </p:cNvSpPr>
          <p:nvPr>
            <p:ph type="sldNum" sz="quarter" idx="4294967295"/>
          </p:nvPr>
        </p:nvSpPr>
        <p:spPr>
          <a:xfrm>
            <a:off x="11100816" y="6510528"/>
            <a:ext cx="50292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7B8798"/>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Riga Nordic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HTML &amp; CSS — Web Technologies</dc:title>
  <dc:subject>Beginner-friendly introduction to Intermediate HTML and CSS</dc:subject>
  <dc:creator>OpenAI</dc:creator>
  <cp:lastModifiedBy>OpenAI</cp:lastModifiedBy>
  <cp:revision>1</cp:revision>
  <dcterms:created xsi:type="dcterms:W3CDTF">2026-10-15T11:24:46Z</dcterms:created>
  <dcterms:modified xsi:type="dcterms:W3CDTF">2026-10-15T11:24:46Z</dcterms:modified>
</cp:coreProperties>
</file>