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presentation as an explanation of three possible AI mini projects. The goal is not to build all three at once, but to understand what each product does, how a user would interact with it, what modules are needed, and which tools may help. The examples and technology names come from the project-ideas document; the explanations here unpack them in beginner-friendly terms.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mini project should be small enough to complete in stages. Instead of promising every possible feature immediately, build a simple version that proves the idea. All three concepts have the same basic pattern: user input goes in, an AI model or other program processes it, and a useful result comes back. The optional features can make the project more impressive later, but they are not required for the first version.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audience a quick preview before going into detail. The Dungeon Master focuses on interactive storytelling and remembering the game. The Rap Battle Generator focuses on writing structured, rhyming text and optionally performing it with voice. The Meme Maker combines captions and visual templates. Each has a clear user journey and can be built as a web app.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an AI model does not make a complete application by itself. The input needs to be collected, the AI response may need to be checked or formatted, and the interface must show the output. Some projects save data, while others can work without long-term storage. In the Dungeon Master project, memory is especially useful. In the Meme Maker, image rendering is important. In the Rap Battle project, rhyme checking and audio playback can be added after text generation works.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first project. An AI Dungeon Master is inspired by tabletop role-playing games. In a traditional game, a human game master describes the world and reacts to players. Here, an AI helps create scenes and possible actions. The application also needs to remember the player's character, inventory, and quest progress so the story feels consistent.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example. The user does not simply read a fixed story; they take an action, and the AI creates a response. The app should ask for a small, manageable number of choices so the player knows what to do next. The important design challenge is continuity: if the player has already collected a key, the story should remember that. A first prototype can use typed actions and simple choices before adding voice or images.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repeatable cycle: player action, AI-generated response, choices, then saving updated state. State can include health or other stats, inventory, quests, and recent events. Then the next turn begins using both the new action and the saved state. This process helps the story remain consistent and makes debugging easier because the developer can inspect what the app remembers after each turn.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Story Generator is the part that asks the language model to create scene text based on context. A clear prompt tells it where the player is, what just happened, and what kind of response is needed. The Choice Handler makes the game easier to use by asking for a small number of possible actions. It can accept a clicked button or typed action. In a more advanced system, the app can validate the result format so the choices are consistently displayed.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Character Builder collects details once, usually using a form. The game state changes over time, so it needs to be saved. For example, after a player finds a potion, the inventory should be updated. If a quest is completed, the state should reflect that. The project idea lists Firebase or SQLite for storage and LangChain memory as an option to manage context. Beginners can start with simple structured data before adding a more advanced memory framework.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the dice roller is an optional game mechanic. D20 means a die with twenty sides. The app generates a random number, then applies a rule to determine whether an action succeeds, fails, or has a mixed result. The exact thresholds are design choices; the project idea only proposes D20-style randomness for actions such as attacking or persuading. It can be added later after the story loop works.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groups the proposed tools by their jobs. A language model creates text; a UI framework builds the interaction; a database saves the state; a context or memory library can help manage previous information; and text-to-speech can read the story aloud. These are alternatives rather than a mandatory shopping list. A beginner should pick one UI approach and one storage approach, then add more technology only when there is a clear need.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good place to explain scope. A working first version could be just a form, a prompt, a set of choices, and saved data. The source document lists co-op play, voice input, and generated scene art as bonus features. Those options are exciting but require additional work. Common challenges include inconsistent story facts, long AI responses, unexpected input, and persistence. For a class demo, show one complete user journey rather than many unfinished features.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Rap Battle Generator. It creates short, energetic verses from a topic, a style, or an opponent. It can be text-only initially, then enhanced with rhyme tools, a battle format, and voice playback. Keep examples playful and appropriate for a broad classroom audience.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bar is commonly used to mean one line or measure in a rap verse, depending on the context. The app should collect structured input such as style, topic, opponent, and line count. A specific prompt gives the model constraints to follow. This also makes the result easier to evaluate: did it stay on topic, follow the requested length, and keep the requested tone? For a classroom demo, choose a humorous or friendly subject.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how the form can assemble a prompt automatically. The user makes a few simple selections, and the app combines them into a clear instruction. This lowers the barrier for beginners. The interface could also limit length options, such as 4, 8, or 16 bars, so the response is predictable. Allowing users to regenerate or adjust the style gives them control without requiring them to understand prompt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idea proposes a rhyme enhancer using RhymeBrain API or a pronunciation resource in Python. This is a post-processing step: first generate the verse, then inspect its rhyme endings and try to improve them. A rhyme list cannot guarantee that the entire verse makes sense or sounds natural, so human listening remains valuable. The battle format can be AI-versus-AI or user-versus-AI, depending on the intended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document lists several language models as options, plus rhyme resources and text-to-speech. Text-to-speech means a service converts written text into spoken audio. The performance stage may offer rap-style modulation and a background beat, but these should be optional. The simplest project only needs to generate readable text. Add voice once the text quality and user experience are acceptable. Use royalty-free audio for any background music included in a demo.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first version can take structured input and return a verse of the requested length. The bonus ideas include battle scoring, uploading a beat, a social leaderboard, or a Discord bot. These features add complexity because they involve audio handling, storage, user identity, or moderation. For evaluation, consider several criteria instead of a single score. For a class audience, keep the content playful and focused on fictional or harmless topics.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third idea. The AI Meme Maker helps users create a meme from a topic or an uploaded image. It selects or uses a template, generates caption text, and places that text onto an image. The app can be a web app or a mobile-style interface. It can begin with a small local collection of templates before connecting to a template API or trending-topic source.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basic meme creation pipeline. First, a user enters a topic or uploads an image. The app chooses a template, then generates captions for the top and bottom or another layout. The renderer combines the text and image. The user should be able to edit the captions because AI suggestions will not always be funny or appropriate. Finally, the app exports a readable image.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 Selector chooses the visual layout. It could use a local folder of images or connect to a template service such as Imgflip, as mentioned in the source. The Caption Generator uses the user's topic and optional context to propose text. Mood categories can help guide the style. Image understanding tools such as BLIP or CLIP are listed as optional ways to analyze an uploaded picture. The MVP does not need this: a topic-based caption generator plus a local template can already demonstrate the idea.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renderer is where the image and caption become one final asset. The project idea names Pillow, also called PIL, and OpenCV as possible tools for overlaying text and producing the final meme. Text should be readable, stay within the image boundaries, and support font, size, and placement customization. The example on the left shows the concept: an image alone becomes a meme after the caption is placed on top.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follows the roles named in the source idea. The language model suggests the text; optional image analysis supplies extra context; a template source provides layouts; Pillow or OpenCV render the caption; and the user interface allows editing and preview. The simplest implementation can use Streamlit and a small local template folder. A larger web app could use React. Choose the stack based on the team's current skills.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idea suggests real-time memes from current trends, chat bots, and a rating or sharing leaderboard. Those are bonus ideas. For the first version, focus on creating an image reliably. Give the user editing control and preview the result before export. If images are uploaded, consider privacy. If templates or images are pulled from elsewhere, respect the source's terms and usage rights. The demo should clearly show all stages from a topic to the final image.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comparison to help the audience choose. The Dungeon Master is suitable for someone interested in games and keeping track of state. The Rap Battle Generator is useful for exploring language, prompts, and optional audio. The Meme Maker is a good fit for visual output and image manipulation. All can be prototyped as web apps. The easiest choice depends on experience and scope, so compare the smallest working version, not the largest possible future feature list.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roadmap works for all three ideas. Begin by defining a user and the main task. Build a basic interface before integrating the AI. Test one prompt end to end. Then add the project's special logic, such as memory, rhyme enhancement, or image rendering. Finally, test both normal and unexpected inputs. A successful demo shows a complete flow rather than a long list of features that are only partially implemented.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glossary to decode the technical names mentioned in the deck. An API lets a program use a service. An LLM is a type of model that works with language. A prompt is the instruction and context sent to that model. The UI is what the user sees, and the database stores data. Text-to-speech creates audio from text. A renderer combines text and image content. MVP means the smallest useful working version of a project.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by repeating the role of each idea and reinforcing the build-small principle. The purpose of this presentation is to explain the ideas and possible architecture, not to prescribe one fixed implementation. The best project is the one that is interesting to the developer and can be finished as a small, working demo. Invite questions about which project would be easiest to start with, which technologies are needed, or how to scope a first version.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Explain that the original first section presents three AI software projects. This new section extends the presentation with eight hands-on robotics and embedded-system project directions from the ENV MONITOR mini-project page. The shared learning approach is to understand an input, decide what the system should do, and produce a clear result.</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Review the whole presentation in one minute. The first 28 slides explain three AI-based mini projects from the Word document. The next slides explain the eight tasks in the ENV MONITOR website. These are different project categories but follow the same product-development habit: start small, map inputs to logic and outputs, then test.</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Explain the four boxes left to right. The sensor or input is how the system learns about the world. The microcontroller runs instructions. The rule decides what action is needed. The output provides feedback or changes something. Some projects also save readings so a person can review them later.</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The page calls this Basic Output Control. GPIO means a programmable pin on a microcontroller. For the first prototype, use an LED and a simple sequence. A status panel is the same idea with different meanings assigned to the colors. The site also provides a Wokwi simulator link.</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Contrast ordinary digital output, which is mostly on or off, with variable control. PWM stands for pulse-width modulation. It rapidly switches a signal on and off; changing the proportion of time spent on changes the effective output. Motor and lighting hardware can have different requirements, so a simulator is a useful starting point.</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Describe a state as the condition the program currently remembers, such as ON or OFF. A state machine is a tidy way of defining how inputs move the program from one state to another. Debouncing prevents electrical noise or contact bounce from turning one press into several events. The website provides a Wokwi example for this task.</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The website groups these ideas as an alert and notification system. Make the alert meaningful rather than merely noisy: state what caused it, use a clear pattern, and define when it stops. Sensor examples should be treated as educational simulations, not as certified safety alarms.</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Emphasize that a display does not have to be complicated. The goal is to make the readings understandable. A 16×2 LCD has two text rows with sixteen character positions each. I²C is a communication method often used to connect a display using a small number of signal wires.</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 sensing node is a small device that gathers information about its surroundings. An LDR gives a resistance that changes with light; a PIR detects movement; a BH1750 returns a light measurement in lux. The sample projects demonstrate the pattern: sense a condition, apply a rule, and then act.</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The key difference from a simple sensing node is the focus on repeated readings and change over time. DHT11 is a beginner sensor that measures temperature and humidity. Logging means saving values with a timestamp or sequence so they can be reviewed. Threshold values in a prototype are examples, not universal recommendations.</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An actuator is a component that performs an action. The task page names servo positioning, DC motor control, and PWM. Start with a simulated or small low-voltage model, verify the actuator’s allowed range, and test stop behavior before connecting anything larger.</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Use this slide to explain why selecting the right sensor matters. Some sensors provide a simple signal; others return numeric measurements. The program should understand what the reading means and how reliable it is before using it to make an automatic decision.</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Explain that not every output needs to be a motor. A single LED is often enough for a first success. A display communicates several numbers; a buzzer asks for attention; an actuator makes a physical change. Good output design makes the state easy to understand.</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PWM means pulse-width modulation. Think of a fast light switch: if the signal is on for almost none of each cycle, the output appears low; if it is on for a larger share, the effective output is higher. It is commonly used for LED brightness and motor-speed control. Do not assume a microcontroller pin can directly power every motor.</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Explain why a raw button read can sometimes be unreliable. Debouncing is a small software or hardware technique to treat one physical press as one event. The state machine records the current mode, so the program knows how a new input should affect the output.</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 threshold is a chosen boundary for deciding what to do. The exact value depends on the sensor and the project; the website examples are idea starters, not universal settings. Testing readings just below, at, and above the boundary helps reveal unexpected behavior. In some projects, designers use separate turn-on and turn-off values to reduce flicker.</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Relate this back to Task 05 and Task 07. A display helps a person make a decision immediately. A data log is useful for tracking changes and finding patterns. A beginner project can start with only a display and add logging later after the readings are stable.</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Clicking the links opens the example simulators from the user’s site. Use a simulator to observe code behavior, change inputs, and catch mistakes before assembling a physical prototype. Only four of the eight task cards on the website included direct Wokwi links.</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Walk through this as a project students could demonstrate. Start by simulating light values instead of connecting a physical sensor. Make the LED response correct first. Once the core loop works, add variable brightness or a display. This demonstrates how several mini-project ideas can be combined into one application.</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example is a simple educational monitor. It does not replace a certified environmental or safety device. First show the values on the display, then add one rule and one alert. Repeated readings and a short log can show whether the environment is changing.</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Explain that the saved state matters. The program should not simply set the LED to follow a held button; it should record the last state and reverse it on each new press. Try repeated presses and holding the button to check for bugs.</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Present testing as a normal part of building, not only something done at the end. Test expected inputs, boundary values, repeated events, and unusual values. Clear logs make it easier to identify whether a problem comes from the sensor, program logic, or output.</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Use this comparison to show the common structure between both groups. The AI ideas are mainly software and content generation; the embedded ideas include sensing and physical outputs. A hybrid project is possible later—for example, a sensor dashboard that uses AI to summarize trends—but beginners should first make one core flow work.</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There is no single best choice. A good beginner project has a clear output, a small first version, and a way to test it. Choose a project whose main idea interests you, then resist adding every advanced feature in the first attempt.</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Summarize the development process. Define the problem before choosing tools. Draw the data flow. Build a first prototype that only proves the main idea. Test it. Add optional features only after the simple version is stable. This keeps the work manageable and makes a class demo easier to explain.</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Use this as a quick reference. The left side lists the term and the right side gives a practical meaning. Ask students to connect each term to one project: a prompt for AI writing, GPIO for an LED, PWM for dimming, and a threshold for an automatic lamp.</a:t>
            </a:r>
            <a:endParaRPr lang="en-US"/>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Finish by reminding the audience that these are project directions, not all features that must be implemented. The source website provides eight embedded-system task ideas and simulator links for four of them. The original document provides the three AI application ideas. Invite the audience to choose a small first version and test it before expanding.</a:t>
            </a:r>
            <a:endParaRPr lang="en-US"/>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okwi.com/projects/458827337398061057" TargetMode="Externa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okwi.com/projects/456225078295121921" TargetMode="Externa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okwi.com/projects/457703570878839809" TargetMode="Externa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okwi.com/projects/457703252830999553" TargetMode="Externa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okwi.com/projects/458827337398061057" TargetMode="External"/><Relationship Id="rId3" Type="http://schemas.openxmlformats.org/officeDocument/2006/relationships/hyperlink" Target="https://wokwi.com/projects/456225078295121921" TargetMode="External"/><Relationship Id="rId4" Type="http://schemas.openxmlformats.org/officeDocument/2006/relationships/hyperlink" Target="https://wokwi.com/projects/457703570878839809" TargetMode="External"/><Relationship Id="rId5" Type="http://schemas.openxmlformats.org/officeDocument/2006/relationships/hyperlink" Target="https://wokwi.com/projects/457703252830999553" TargetMode="Externa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bhijith-sivakumar-rekha.github.io/Smart-Home-Monitor/mini-projects.html" TargetMode="External"/><Relationship Id="rId3" Type="http://schemas.openxmlformats.org/officeDocument/2006/relationships/notesSlide" Target="../notesSlides/notesSlide5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C35"/>
        </a:solidFill>
        <a:effectLst/>
      </p:bgPr>
    </p:bg>
    <p:spTree>
      <p:nvGrpSpPr>
        <p:cNvPr id="1" name=""/>
        <p:cNvGrpSpPr/>
        <p:nvPr/>
      </p:nvGrpSpPr>
      <p:grpSpPr/>
      <p:sp>
        <p:nvSpPr>
          <p:cNvPr id="2" name="Oval 1"/>
          <p:cNvSpPr/>
          <p:nvPr/>
        </p:nvSpPr>
        <p:spPr>
          <a:xfrm>
            <a:off x="8412480" y="-914400"/>
            <a:ext cx="4389120" cy="4389120"/>
          </a:xfrm>
          <a:prstGeom prst="ellipse">
            <a:avLst/>
          </a:prstGeom>
          <a:solidFill>
            <a:srgbClr val="1C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326880" y="3840480"/>
            <a:ext cx="3200400" cy="3200400"/>
          </a:xfrm>
          <a:prstGeom prst="ellipse">
            <a:avLst/>
          </a:prstGeom>
          <a:solidFill>
            <a:srgbClr val="24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685800"/>
            <a:ext cx="1874519" cy="292608"/>
          </a:xfrm>
          <a:prstGeom prst="roundRect">
            <a:avLst/>
          </a:prstGeom>
          <a:solidFill>
            <a:srgbClr val="293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0664" y="717804"/>
            <a:ext cx="1764791"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9FE9E1"/>
                </a:solidFill>
                <a:latin typeface="Aptos"/>
              </a:rPr>
              <a:t>PROJECT EXPLORATION</a:t>
            </a:r>
          </a:p>
        </p:txBody>
      </p:sp>
      <p:sp>
        <p:nvSpPr>
          <p:cNvPr id="6" name="TextBox 5"/>
          <p:cNvSpPr txBox="1"/>
          <p:nvPr/>
        </p:nvSpPr>
        <p:spPr>
          <a:xfrm>
            <a:off x="685800" y="1298448"/>
            <a:ext cx="6675120" cy="1627632"/>
          </a:xfrm>
          <a:prstGeom prst="rect">
            <a:avLst/>
          </a:prstGeom>
          <a:noFill/>
        </p:spPr>
        <p:txBody>
          <a:bodyPr wrap="square" lIns="18288" rIns="18288" tIns="18288" bIns="18288" anchor="t">
            <a:spAutoFit/>
          </a:bodyPr>
          <a:lstStyle/>
          <a:p>
            <a:pPr algn="l">
              <a:spcBef>
                <a:spcPts val="0"/>
              </a:spcBef>
              <a:spcAft>
                <a:spcPts val="200"/>
              </a:spcAft>
            </a:pPr>
            <a:r>
              <a:rPr sz="3600" b="1" i="0">
                <a:solidFill>
                  <a:srgbClr val="FFFFFF"/>
                </a:solidFill>
                <a:latin typeface="Aptos"/>
              </a:rPr>
              <a:t>3 AI MINI</a:t>
            </a:r>
          </a:p>
          <a:p>
            <a:pPr algn="l">
              <a:spcBef>
                <a:spcPts val="0"/>
              </a:spcBef>
              <a:spcAft>
                <a:spcPts val="200"/>
              </a:spcAft>
            </a:pPr>
            <a:r>
              <a:rPr sz="3600" b="1" i="0">
                <a:solidFill>
                  <a:srgbClr val="FFFFFF"/>
                </a:solidFill>
                <a:latin typeface="Aptos"/>
              </a:rPr>
              <a:t>PROJECT IDEAS</a:t>
            </a:r>
          </a:p>
        </p:txBody>
      </p:sp>
      <p:sp>
        <p:nvSpPr>
          <p:cNvPr id="7" name="TextBox 6"/>
          <p:cNvSpPr txBox="1"/>
          <p:nvPr/>
        </p:nvSpPr>
        <p:spPr>
          <a:xfrm>
            <a:off x="722376" y="3154680"/>
            <a:ext cx="6035040" cy="777240"/>
          </a:xfrm>
          <a:prstGeom prst="rect">
            <a:avLst/>
          </a:prstGeom>
          <a:noFill/>
        </p:spPr>
        <p:txBody>
          <a:bodyPr wrap="square" lIns="18288" rIns="18288" tIns="18288" bIns="18288" anchor="t">
            <a:spAutoFit/>
          </a:bodyPr>
          <a:lstStyle/>
          <a:p>
            <a:pPr algn="l">
              <a:spcBef>
                <a:spcPts val="0"/>
              </a:spcBef>
              <a:spcAft>
                <a:spcPts val="200"/>
              </a:spcAft>
            </a:pPr>
            <a:r>
              <a:rPr sz="1800" b="0" i="0">
                <a:solidFill>
                  <a:srgbClr val="D7E0F1"/>
                </a:solidFill>
                <a:latin typeface="Aptos"/>
              </a:rPr>
              <a:t>From a story-telling game to a rap generator and an AI meme maker</a:t>
            </a:r>
          </a:p>
        </p:txBody>
      </p:sp>
      <p:sp>
        <p:nvSpPr>
          <p:cNvPr id="8" name="TextBox 7"/>
          <p:cNvSpPr txBox="1"/>
          <p:nvPr/>
        </p:nvSpPr>
        <p:spPr>
          <a:xfrm>
            <a:off x="722376" y="4096512"/>
            <a:ext cx="5852160" cy="65836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AEBBD1"/>
                </a:solidFill>
                <a:latin typeface="Aptos"/>
              </a:rPr>
              <a:t>A beginner-friendly guide to concepts, features, tools, and how each project could work.</a:t>
            </a:r>
          </a:p>
        </p:txBody>
      </p:sp>
      <p:sp>
        <p:nvSpPr>
          <p:cNvPr id="9" name="Rounded Rectangle 8"/>
          <p:cNvSpPr/>
          <p:nvPr/>
        </p:nvSpPr>
        <p:spPr>
          <a:xfrm>
            <a:off x="6995160" y="1874519"/>
            <a:ext cx="1353312"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42632" y="2157984"/>
            <a:ext cx="658368" cy="658368"/>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42632" y="2313432"/>
            <a:ext cx="658368" cy="256032"/>
          </a:xfrm>
          <a:prstGeom prst="rect">
            <a:avLst/>
          </a:prstGeom>
          <a:noFill/>
        </p:spPr>
        <p:txBody>
          <a:bodyPr wrap="square" lIns="0" rIns="0" tIns="0" bIns="0" anchor="ctr">
            <a:spAutoFit/>
          </a:bodyPr>
          <a:lstStyle/>
          <a:p>
            <a:pPr algn="ctr">
              <a:spcBef>
                <a:spcPts val="0"/>
              </a:spcBef>
              <a:spcAft>
                <a:spcPts val="200"/>
              </a:spcAft>
            </a:pPr>
            <a:r>
              <a:rPr sz="1400" b="1" i="0">
                <a:solidFill>
                  <a:srgbClr val="FFFFFF"/>
                </a:solidFill>
                <a:latin typeface="Aptos"/>
              </a:rPr>
              <a:t>01</a:t>
            </a:r>
          </a:p>
        </p:txBody>
      </p:sp>
      <p:sp>
        <p:nvSpPr>
          <p:cNvPr id="12" name="TextBox 11"/>
          <p:cNvSpPr txBox="1"/>
          <p:nvPr/>
        </p:nvSpPr>
        <p:spPr>
          <a:xfrm>
            <a:off x="7104888" y="3081528"/>
            <a:ext cx="1143000" cy="393192"/>
          </a:xfrm>
          <a:prstGeom prst="rect">
            <a:avLst/>
          </a:prstGeom>
          <a:noFill/>
        </p:spPr>
        <p:txBody>
          <a:bodyPr wrap="square" lIns="18288" rIns="18288" tIns="18288" bIns="18288" anchor="ctr">
            <a:spAutoFit/>
          </a:bodyPr>
          <a:lstStyle/>
          <a:p>
            <a:pPr algn="ctr">
              <a:spcBef>
                <a:spcPts val="0"/>
              </a:spcBef>
              <a:spcAft>
                <a:spcPts val="200"/>
              </a:spcAft>
            </a:pPr>
            <a:r>
              <a:rPr sz="1200" b="1" i="0">
                <a:solidFill>
                  <a:srgbClr val="1B2740"/>
                </a:solidFill>
                <a:latin typeface="Aptos"/>
              </a:rPr>
              <a:t>AI DUNGEON</a:t>
            </a:r>
          </a:p>
        </p:txBody>
      </p:sp>
      <p:sp>
        <p:nvSpPr>
          <p:cNvPr id="13" name="TextBox 12"/>
          <p:cNvSpPr txBox="1"/>
          <p:nvPr/>
        </p:nvSpPr>
        <p:spPr>
          <a:xfrm>
            <a:off x="7104888" y="3575304"/>
            <a:ext cx="1143000" cy="365760"/>
          </a:xfrm>
          <a:prstGeom prst="rect">
            <a:avLst/>
          </a:prstGeom>
          <a:noFill/>
        </p:spPr>
        <p:txBody>
          <a:bodyPr wrap="square" lIns="18288" rIns="18288" tIns="18288" bIns="18288" anchor="t">
            <a:spAutoFit/>
          </a:bodyPr>
          <a:lstStyle/>
          <a:p>
            <a:pPr algn="ctr">
              <a:spcBef>
                <a:spcPts val="0"/>
              </a:spcBef>
              <a:spcAft>
                <a:spcPts val="200"/>
              </a:spcAft>
            </a:pPr>
            <a:r>
              <a:rPr sz="1000" b="0" i="0">
                <a:solidFill>
                  <a:srgbClr val="5E6B84"/>
                </a:solidFill>
                <a:latin typeface="Aptos"/>
              </a:rPr>
              <a:t>Interactive story</a:t>
            </a:r>
          </a:p>
        </p:txBody>
      </p:sp>
      <p:sp>
        <p:nvSpPr>
          <p:cNvPr id="14" name="Rounded Rectangle 13"/>
          <p:cNvSpPr/>
          <p:nvPr/>
        </p:nvSpPr>
        <p:spPr>
          <a:xfrm>
            <a:off x="8549640" y="1874519"/>
            <a:ext cx="1353312"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897112" y="2157984"/>
            <a:ext cx="658368" cy="658368"/>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97112" y="2313432"/>
            <a:ext cx="658368" cy="256032"/>
          </a:xfrm>
          <a:prstGeom prst="rect">
            <a:avLst/>
          </a:prstGeom>
          <a:noFill/>
        </p:spPr>
        <p:txBody>
          <a:bodyPr wrap="square" lIns="0" rIns="0" tIns="0" bIns="0" anchor="ctr">
            <a:spAutoFit/>
          </a:bodyPr>
          <a:lstStyle/>
          <a:p>
            <a:pPr algn="ctr">
              <a:spcBef>
                <a:spcPts val="0"/>
              </a:spcBef>
              <a:spcAft>
                <a:spcPts val="200"/>
              </a:spcAft>
            </a:pPr>
            <a:r>
              <a:rPr sz="1400" b="1" i="0">
                <a:solidFill>
                  <a:srgbClr val="FFFFFF"/>
                </a:solidFill>
                <a:latin typeface="Aptos"/>
              </a:rPr>
              <a:t>02</a:t>
            </a:r>
          </a:p>
        </p:txBody>
      </p:sp>
      <p:sp>
        <p:nvSpPr>
          <p:cNvPr id="17" name="TextBox 16"/>
          <p:cNvSpPr txBox="1"/>
          <p:nvPr/>
        </p:nvSpPr>
        <p:spPr>
          <a:xfrm>
            <a:off x="8659367" y="3081528"/>
            <a:ext cx="1143000" cy="393192"/>
          </a:xfrm>
          <a:prstGeom prst="rect">
            <a:avLst/>
          </a:prstGeom>
          <a:noFill/>
        </p:spPr>
        <p:txBody>
          <a:bodyPr wrap="square" lIns="18288" rIns="18288" tIns="18288" bIns="18288" anchor="ctr">
            <a:spAutoFit/>
          </a:bodyPr>
          <a:lstStyle/>
          <a:p>
            <a:pPr algn="ctr">
              <a:spcBef>
                <a:spcPts val="0"/>
              </a:spcBef>
              <a:spcAft>
                <a:spcPts val="200"/>
              </a:spcAft>
            </a:pPr>
            <a:r>
              <a:rPr sz="1200" b="1" i="0">
                <a:solidFill>
                  <a:srgbClr val="1B2740"/>
                </a:solidFill>
                <a:latin typeface="Aptos"/>
              </a:rPr>
              <a:t>RAP BATTLE</a:t>
            </a:r>
          </a:p>
        </p:txBody>
      </p:sp>
      <p:sp>
        <p:nvSpPr>
          <p:cNvPr id="18" name="TextBox 17"/>
          <p:cNvSpPr txBox="1"/>
          <p:nvPr/>
        </p:nvSpPr>
        <p:spPr>
          <a:xfrm>
            <a:off x="8659367" y="3575304"/>
            <a:ext cx="1143000" cy="365760"/>
          </a:xfrm>
          <a:prstGeom prst="rect">
            <a:avLst/>
          </a:prstGeom>
          <a:noFill/>
        </p:spPr>
        <p:txBody>
          <a:bodyPr wrap="square" lIns="18288" rIns="18288" tIns="18288" bIns="18288" anchor="t">
            <a:spAutoFit/>
          </a:bodyPr>
          <a:lstStyle/>
          <a:p>
            <a:pPr algn="ctr">
              <a:spcBef>
                <a:spcPts val="0"/>
              </a:spcBef>
              <a:spcAft>
                <a:spcPts val="200"/>
              </a:spcAft>
            </a:pPr>
            <a:r>
              <a:rPr sz="1000" b="0" i="0">
                <a:solidFill>
                  <a:srgbClr val="5E6B84"/>
                </a:solidFill>
                <a:latin typeface="Aptos"/>
              </a:rPr>
              <a:t>Rhymes and voice</a:t>
            </a:r>
          </a:p>
        </p:txBody>
      </p:sp>
      <p:sp>
        <p:nvSpPr>
          <p:cNvPr id="19" name="Rounded Rectangle 18"/>
          <p:cNvSpPr/>
          <p:nvPr/>
        </p:nvSpPr>
        <p:spPr>
          <a:xfrm>
            <a:off x="10104120" y="1874519"/>
            <a:ext cx="1353312"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51592" y="2157984"/>
            <a:ext cx="658368" cy="658368"/>
          </a:xfrm>
          <a:prstGeom prst="ellipse">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51592" y="2313432"/>
            <a:ext cx="658368" cy="256032"/>
          </a:xfrm>
          <a:prstGeom prst="rect">
            <a:avLst/>
          </a:prstGeom>
          <a:noFill/>
        </p:spPr>
        <p:txBody>
          <a:bodyPr wrap="square" lIns="0" rIns="0" tIns="0" bIns="0" anchor="ctr">
            <a:spAutoFit/>
          </a:bodyPr>
          <a:lstStyle/>
          <a:p>
            <a:pPr algn="ctr">
              <a:spcBef>
                <a:spcPts val="0"/>
              </a:spcBef>
              <a:spcAft>
                <a:spcPts val="200"/>
              </a:spcAft>
            </a:pPr>
            <a:r>
              <a:rPr sz="1400" b="1" i="0">
                <a:solidFill>
                  <a:srgbClr val="FFFFFF"/>
                </a:solidFill>
                <a:latin typeface="Aptos"/>
              </a:rPr>
              <a:t>03</a:t>
            </a:r>
          </a:p>
        </p:txBody>
      </p:sp>
      <p:sp>
        <p:nvSpPr>
          <p:cNvPr id="22" name="TextBox 21"/>
          <p:cNvSpPr txBox="1"/>
          <p:nvPr/>
        </p:nvSpPr>
        <p:spPr>
          <a:xfrm>
            <a:off x="10213848" y="3081528"/>
            <a:ext cx="1143000" cy="393192"/>
          </a:xfrm>
          <a:prstGeom prst="rect">
            <a:avLst/>
          </a:prstGeom>
          <a:noFill/>
        </p:spPr>
        <p:txBody>
          <a:bodyPr wrap="square" lIns="18288" rIns="18288" tIns="18288" bIns="18288" anchor="ctr">
            <a:spAutoFit/>
          </a:bodyPr>
          <a:lstStyle/>
          <a:p>
            <a:pPr algn="ctr">
              <a:spcBef>
                <a:spcPts val="0"/>
              </a:spcBef>
              <a:spcAft>
                <a:spcPts val="200"/>
              </a:spcAft>
            </a:pPr>
            <a:r>
              <a:rPr sz="1200" b="1" i="0">
                <a:solidFill>
                  <a:srgbClr val="1B2740"/>
                </a:solidFill>
                <a:latin typeface="Aptos"/>
              </a:rPr>
              <a:t>AI MEME</a:t>
            </a:r>
          </a:p>
        </p:txBody>
      </p:sp>
      <p:sp>
        <p:nvSpPr>
          <p:cNvPr id="23" name="TextBox 22"/>
          <p:cNvSpPr txBox="1"/>
          <p:nvPr/>
        </p:nvSpPr>
        <p:spPr>
          <a:xfrm>
            <a:off x="10213848" y="3575304"/>
            <a:ext cx="1143000" cy="365760"/>
          </a:xfrm>
          <a:prstGeom prst="rect">
            <a:avLst/>
          </a:prstGeom>
          <a:noFill/>
        </p:spPr>
        <p:txBody>
          <a:bodyPr wrap="square" lIns="18288" rIns="18288" tIns="18288" bIns="18288" anchor="t">
            <a:spAutoFit/>
          </a:bodyPr>
          <a:lstStyle/>
          <a:p>
            <a:pPr algn="ctr">
              <a:spcBef>
                <a:spcPts val="0"/>
              </a:spcBef>
              <a:spcAft>
                <a:spcPts val="200"/>
              </a:spcAft>
            </a:pPr>
            <a:r>
              <a:rPr sz="1000" b="0" i="0">
                <a:solidFill>
                  <a:srgbClr val="5E6B84"/>
                </a:solidFill>
                <a:latin typeface="Aptos"/>
              </a:rPr>
              <a:t>Captions + images</a:t>
            </a:r>
          </a:p>
        </p:txBody>
      </p:sp>
      <p:sp>
        <p:nvSpPr>
          <p:cNvPr id="24" name="TextBox 23"/>
          <p:cNvSpPr txBox="1"/>
          <p:nvPr/>
        </p:nvSpPr>
        <p:spPr>
          <a:xfrm>
            <a:off x="722376" y="6291072"/>
            <a:ext cx="6400800" cy="182880"/>
          </a:xfrm>
          <a:prstGeom prst="rect">
            <a:avLst/>
          </a:prstGeom>
          <a:noFill/>
        </p:spPr>
        <p:txBody>
          <a:bodyPr wrap="square" lIns="18288" rIns="18288" tIns="18288" bIns="18288" anchor="t">
            <a:spAutoFit/>
          </a:bodyPr>
          <a:lstStyle/>
          <a:p>
            <a:pPr algn="l">
              <a:spcBef>
                <a:spcPts val="0"/>
              </a:spcBef>
              <a:spcAft>
                <a:spcPts val="200"/>
              </a:spcAft>
            </a:pPr>
            <a:r>
              <a:rPr sz="900" b="1" i="0">
                <a:solidFill>
                  <a:srgbClr val="94A4BF"/>
                </a:solidFill>
                <a:latin typeface="Aptos"/>
              </a:rPr>
              <a:t>MINI PROJECTS  •  CONCEPTS TO PROTOTYPES</a:t>
            </a:r>
          </a:p>
        </p:txBody>
      </p:sp>
      <p:sp>
        <p:nvSpPr>
          <p:cNvPr id="25" name="TextBox 24"/>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9EABC1"/>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5676F5"/>
                </a:solidFill>
                <a:latin typeface="Aptos"/>
              </a:rPr>
              <a:t>START HERE</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What is a mini project?</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A small, focused application that demonstrates a useful idea from start to finish.</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02</a:t>
            </a:r>
          </a:p>
        </p:txBody>
      </p:sp>
      <p:sp>
        <p:nvSpPr>
          <p:cNvPr id="8" name="Rounded Rectangle 7"/>
          <p:cNvSpPr/>
          <p:nvPr/>
        </p:nvSpPr>
        <p:spPr>
          <a:xfrm>
            <a:off x="640080" y="1965960"/>
            <a:ext cx="3401568" cy="21488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84248"/>
            <a:ext cx="64008" cy="2112264"/>
          </a:xfrm>
          <a:prstGeom prst="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50392" y="2167128"/>
            <a:ext cx="384048" cy="384048"/>
          </a:xfrm>
          <a:prstGeom prst="ellipse">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2199132"/>
            <a:ext cx="384048" cy="228600"/>
          </a:xfrm>
          <a:prstGeom prst="rect">
            <a:avLst/>
          </a:prstGeom>
          <a:noFill/>
        </p:spPr>
        <p:txBody>
          <a:bodyPr wrap="square" lIns="0" rIns="0" tIns="0" bIns="0" anchor="ctr">
            <a:spAutoFit/>
          </a:bodyPr>
          <a:lstStyle/>
          <a:p>
            <a:pPr algn="ctr">
              <a:spcBef>
                <a:spcPts val="0"/>
              </a:spcBef>
              <a:spcAft>
                <a:spcPts val="200"/>
              </a:spcAft>
            </a:pPr>
            <a:r>
              <a:rPr sz="1200" b="1" i="0">
                <a:solidFill>
                  <a:srgbClr val="FFFFFF"/>
                </a:solidFill>
                <a:latin typeface="Aptos"/>
              </a:rPr>
              <a:t>1</a:t>
            </a:r>
          </a:p>
        </p:txBody>
      </p:sp>
      <p:sp>
        <p:nvSpPr>
          <p:cNvPr id="12" name="TextBox 11"/>
          <p:cNvSpPr txBox="1"/>
          <p:nvPr/>
        </p:nvSpPr>
        <p:spPr>
          <a:xfrm>
            <a:off x="1353312" y="2139696"/>
            <a:ext cx="2523744" cy="38404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Solve one clear problem</a:t>
            </a:r>
          </a:p>
        </p:txBody>
      </p:sp>
      <p:sp>
        <p:nvSpPr>
          <p:cNvPr id="13" name="TextBox 12"/>
          <p:cNvSpPr txBox="1"/>
          <p:nvPr/>
        </p:nvSpPr>
        <p:spPr>
          <a:xfrm>
            <a:off x="850392" y="2679191"/>
            <a:ext cx="3008376" cy="128930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Choose one job for the app to do well. A mini project is easier to build when the first version has a narrow goal.</a:t>
            </a:r>
          </a:p>
        </p:txBody>
      </p:sp>
      <p:sp>
        <p:nvSpPr>
          <p:cNvPr id="14" name="Rounded Rectangle 13"/>
          <p:cNvSpPr/>
          <p:nvPr/>
        </p:nvSpPr>
        <p:spPr>
          <a:xfrm>
            <a:off x="4389120" y="1965960"/>
            <a:ext cx="3401568" cy="21488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984248"/>
            <a:ext cx="64008" cy="211226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599432" y="2167128"/>
            <a:ext cx="384048" cy="384048"/>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9432" y="2199132"/>
            <a:ext cx="384048" cy="228600"/>
          </a:xfrm>
          <a:prstGeom prst="rect">
            <a:avLst/>
          </a:prstGeom>
          <a:noFill/>
        </p:spPr>
        <p:txBody>
          <a:bodyPr wrap="square" lIns="0" rIns="0" tIns="0" bIns="0" anchor="ctr">
            <a:spAutoFit/>
          </a:bodyPr>
          <a:lstStyle/>
          <a:p>
            <a:pPr algn="ctr">
              <a:spcBef>
                <a:spcPts val="0"/>
              </a:spcBef>
              <a:spcAft>
                <a:spcPts val="200"/>
              </a:spcAft>
            </a:pPr>
            <a:r>
              <a:rPr sz="1200" b="1" i="0">
                <a:solidFill>
                  <a:srgbClr val="FFFFFF"/>
                </a:solidFill>
                <a:latin typeface="Aptos"/>
              </a:rPr>
              <a:t>2</a:t>
            </a:r>
          </a:p>
        </p:txBody>
      </p:sp>
      <p:sp>
        <p:nvSpPr>
          <p:cNvPr id="18" name="TextBox 17"/>
          <p:cNvSpPr txBox="1"/>
          <p:nvPr/>
        </p:nvSpPr>
        <p:spPr>
          <a:xfrm>
            <a:off x="5102352" y="2139696"/>
            <a:ext cx="2523744" cy="38404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Connect a few modules</a:t>
            </a:r>
          </a:p>
        </p:txBody>
      </p:sp>
      <p:sp>
        <p:nvSpPr>
          <p:cNvPr id="19" name="TextBox 18"/>
          <p:cNvSpPr txBox="1"/>
          <p:nvPr/>
        </p:nvSpPr>
        <p:spPr>
          <a:xfrm>
            <a:off x="4599432" y="2679191"/>
            <a:ext cx="3008376" cy="128930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The interface collects input, logic or AI processes it, and the application returns a result.</a:t>
            </a:r>
          </a:p>
        </p:txBody>
      </p:sp>
      <p:sp>
        <p:nvSpPr>
          <p:cNvPr id="20" name="Rounded Rectangle 19"/>
          <p:cNvSpPr/>
          <p:nvPr/>
        </p:nvSpPr>
        <p:spPr>
          <a:xfrm>
            <a:off x="8138160" y="1965960"/>
            <a:ext cx="3401568" cy="21488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38160" y="1984248"/>
            <a:ext cx="64008" cy="2112264"/>
          </a:xfrm>
          <a:prstGeom prst="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348472" y="2167128"/>
            <a:ext cx="384048" cy="384048"/>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199132"/>
            <a:ext cx="384048" cy="228600"/>
          </a:xfrm>
          <a:prstGeom prst="rect">
            <a:avLst/>
          </a:prstGeom>
          <a:noFill/>
        </p:spPr>
        <p:txBody>
          <a:bodyPr wrap="square" lIns="0" rIns="0" tIns="0" bIns="0" anchor="ctr">
            <a:spAutoFit/>
          </a:bodyPr>
          <a:lstStyle/>
          <a:p>
            <a:pPr algn="ctr">
              <a:spcBef>
                <a:spcPts val="0"/>
              </a:spcBef>
              <a:spcAft>
                <a:spcPts val="200"/>
              </a:spcAft>
            </a:pPr>
            <a:r>
              <a:rPr sz="1200" b="1" i="0">
                <a:solidFill>
                  <a:srgbClr val="FFFFFF"/>
                </a:solidFill>
                <a:latin typeface="Aptos"/>
              </a:rPr>
              <a:t>3</a:t>
            </a:r>
          </a:p>
        </p:txBody>
      </p:sp>
      <p:sp>
        <p:nvSpPr>
          <p:cNvPr id="24" name="TextBox 23"/>
          <p:cNvSpPr txBox="1"/>
          <p:nvPr/>
        </p:nvSpPr>
        <p:spPr>
          <a:xfrm>
            <a:off x="8851392" y="2139696"/>
            <a:ext cx="2523744" cy="38404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Build, test, improve</a:t>
            </a:r>
          </a:p>
        </p:txBody>
      </p:sp>
      <p:sp>
        <p:nvSpPr>
          <p:cNvPr id="25" name="TextBox 24"/>
          <p:cNvSpPr txBox="1"/>
          <p:nvPr/>
        </p:nvSpPr>
        <p:spPr>
          <a:xfrm>
            <a:off x="8348472" y="2679191"/>
            <a:ext cx="3008376" cy="128930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Start with the minimum working version. Add voice, memory, images, or sharing only after the core works.</a:t>
            </a:r>
          </a:p>
        </p:txBody>
      </p:sp>
      <p:sp>
        <p:nvSpPr>
          <p:cNvPr id="26" name="TextBox 25"/>
          <p:cNvSpPr txBox="1"/>
          <p:nvPr/>
        </p:nvSpPr>
        <p:spPr>
          <a:xfrm>
            <a:off x="685800" y="4663440"/>
            <a:ext cx="1828800" cy="246888"/>
          </a:xfrm>
          <a:prstGeom prst="rect">
            <a:avLst/>
          </a:prstGeom>
          <a:noFill/>
        </p:spPr>
        <p:txBody>
          <a:bodyPr wrap="square" lIns="18288" rIns="18288" tIns="18288" bIns="18288" anchor="t">
            <a:spAutoFit/>
          </a:bodyPr>
          <a:lstStyle/>
          <a:p>
            <a:pPr algn="l">
              <a:spcBef>
                <a:spcPts val="0"/>
              </a:spcBef>
              <a:spcAft>
                <a:spcPts val="200"/>
              </a:spcAft>
            </a:pPr>
            <a:r>
              <a:rPr sz="1000" b="1" i="0">
                <a:solidFill>
                  <a:srgbClr val="5E6B84"/>
                </a:solidFill>
                <a:latin typeface="Aptos"/>
              </a:rPr>
              <a:t>THE THREE IDEAS</a:t>
            </a:r>
          </a:p>
        </p:txBody>
      </p:sp>
      <p:sp>
        <p:nvSpPr>
          <p:cNvPr id="27" name="Rounded Rectangle 26"/>
          <p:cNvSpPr/>
          <p:nvPr/>
        </p:nvSpPr>
        <p:spPr>
          <a:xfrm>
            <a:off x="685800" y="5065776"/>
            <a:ext cx="214884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0664" y="5097780"/>
            <a:ext cx="203911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23856F"/>
                </a:solidFill>
                <a:latin typeface="Aptos"/>
              </a:rPr>
              <a:t>AI DUNGEON MASTER</a:t>
            </a:r>
          </a:p>
        </p:txBody>
      </p:sp>
      <p:sp>
        <p:nvSpPr>
          <p:cNvPr id="29" name="Rounded Rectangle 28"/>
          <p:cNvSpPr/>
          <p:nvPr/>
        </p:nvSpPr>
        <p:spPr>
          <a:xfrm>
            <a:off x="3108960" y="5065776"/>
            <a:ext cx="2240280" cy="29260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63824" y="5097780"/>
            <a:ext cx="213055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9B5A00"/>
                </a:solidFill>
                <a:latin typeface="Aptos"/>
              </a:rPr>
              <a:t>RAP BATTLE GENERATOR</a:t>
            </a:r>
          </a:p>
        </p:txBody>
      </p:sp>
      <p:sp>
        <p:nvSpPr>
          <p:cNvPr id="31" name="Rounded Rectangle 30"/>
          <p:cNvSpPr/>
          <p:nvPr/>
        </p:nvSpPr>
        <p:spPr>
          <a:xfrm>
            <a:off x="5623560" y="5065776"/>
            <a:ext cx="1783080" cy="292608"/>
          </a:xfrm>
          <a:prstGeom prst="round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78424" y="5097780"/>
            <a:ext cx="167335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B43D61"/>
                </a:solidFill>
                <a:latin typeface="Aptos"/>
              </a:rPr>
              <a:t>AI MEME MAKER</a:t>
            </a:r>
          </a:p>
        </p:txBody>
      </p:sp>
      <p:sp>
        <p:nvSpPr>
          <p:cNvPr id="33" name="TextBox 32"/>
          <p:cNvSpPr txBox="1"/>
          <p:nvPr/>
        </p:nvSpPr>
        <p:spPr>
          <a:xfrm>
            <a:off x="694944" y="5532120"/>
            <a:ext cx="10789920" cy="457200"/>
          </a:xfrm>
          <a:prstGeom prst="rect">
            <a:avLst/>
          </a:prstGeom>
          <a:noFill/>
        </p:spPr>
        <p:txBody>
          <a:bodyPr wrap="square" lIns="18288" rIns="18288" tIns="18288" bIns="18288" anchor="t">
            <a:spAutoFit/>
          </a:bodyPr>
          <a:lstStyle/>
          <a:p>
            <a:pPr algn="l">
              <a:spcBef>
                <a:spcPts val="0"/>
              </a:spcBef>
              <a:spcAft>
                <a:spcPts val="200"/>
              </a:spcAft>
            </a:pPr>
            <a:r>
              <a:rPr sz="1600" b="1" i="0">
                <a:solidFill>
                  <a:srgbClr val="1B2740"/>
                </a:solidFill>
                <a:latin typeface="Aptos"/>
              </a:rPr>
              <a:t>Each project combines user input, AI-generated content, and a user-friendly way to see or hear the result.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5676F5"/>
                </a:solidFill>
                <a:latin typeface="Aptos"/>
              </a:rPr>
              <a:t>START HERE</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Meet the three project ideas</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Three different experiences, built around the same idea: turn input into something useful or entertaining.</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03</a:t>
            </a:r>
          </a:p>
        </p:txBody>
      </p:sp>
      <p:sp>
        <p:nvSpPr>
          <p:cNvPr id="8" name="Rounded Rectangle 7"/>
          <p:cNvSpPr/>
          <p:nvPr/>
        </p:nvSpPr>
        <p:spPr>
          <a:xfrm>
            <a:off x="640080" y="1874519"/>
            <a:ext cx="3520440" cy="33375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892807"/>
            <a:ext cx="64008" cy="330098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048255"/>
            <a:ext cx="3154679" cy="384048"/>
          </a:xfrm>
          <a:prstGeom prst="rect">
            <a:avLst/>
          </a:prstGeom>
          <a:noFill/>
        </p:spPr>
        <p:txBody>
          <a:bodyPr wrap="square" lIns="18288" rIns="18288" tIns="18288" bIns="18288" anchor="ctr">
            <a:spAutoFit/>
          </a:bodyPr>
          <a:lstStyle/>
          <a:p>
            <a:pPr algn="l">
              <a:spcBef>
                <a:spcPts val="0"/>
              </a:spcBef>
              <a:spcAft>
                <a:spcPts val="200"/>
              </a:spcAft>
            </a:pPr>
            <a:r>
              <a:rPr sz="2000" b="1" i="0">
                <a:solidFill>
                  <a:srgbClr val="1B2740"/>
                </a:solidFill>
                <a:latin typeface="Aptos"/>
              </a:rPr>
              <a:t>01  AI Dungeon Master</a:t>
            </a:r>
          </a:p>
        </p:txBody>
      </p:sp>
      <p:sp>
        <p:nvSpPr>
          <p:cNvPr id="11" name="TextBox 10"/>
          <p:cNvSpPr txBox="1"/>
          <p:nvPr/>
        </p:nvSpPr>
        <p:spPr>
          <a:xfrm>
            <a:off x="850392" y="2587752"/>
            <a:ext cx="3127248" cy="2478024"/>
          </a:xfrm>
          <a:prstGeom prst="rect">
            <a:avLst/>
          </a:prstGeom>
          <a:noFill/>
        </p:spPr>
        <p:txBody>
          <a:bodyPr wrap="square" lIns="18288" rIns="18288" tIns="18288" bIns="18288" anchor="t">
            <a:spAutoFit/>
          </a:bodyPr>
          <a:lstStyle/>
          <a:p>
            <a:pPr algn="l">
              <a:spcBef>
                <a:spcPts val="0"/>
              </a:spcBef>
              <a:spcAft>
                <a:spcPts val="200"/>
              </a:spcAft>
            </a:pPr>
            <a:r>
              <a:rPr sz="1500" b="0" i="0">
                <a:solidFill>
                  <a:srgbClr val="5E6B84"/>
                </a:solidFill>
                <a:latin typeface="Aptos"/>
              </a:rPr>
              <a:t>USER GIVES AN ACTION</a:t>
            </a:r>
          </a:p>
          <a:p>
            <a:pPr algn="l">
              <a:spcBef>
                <a:spcPts val="0"/>
              </a:spcBef>
              <a:spcAft>
                <a:spcPts val="200"/>
              </a:spcAft>
            </a:pPr>
            <a:r>
              <a:rPr sz="1500" b="0" i="0">
                <a:solidFill>
                  <a:srgbClr val="5E6B84"/>
                </a:solidFill>
                <a:latin typeface="Aptos"/>
              </a:rPr>
              <a:t>The AI describes a scene, offers choices, and continues the story based on what the player chooses.</a:t>
            </a:r>
          </a:p>
        </p:txBody>
      </p:sp>
      <p:sp>
        <p:nvSpPr>
          <p:cNvPr id="12" name="Rounded Rectangle 11"/>
          <p:cNvSpPr/>
          <p:nvPr/>
        </p:nvSpPr>
        <p:spPr>
          <a:xfrm>
            <a:off x="868680" y="4645152"/>
            <a:ext cx="160020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4677156"/>
            <a:ext cx="149047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3856F"/>
                </a:solidFill>
                <a:latin typeface="Aptos"/>
              </a:rPr>
              <a:t>STORY + MEMORY</a:t>
            </a:r>
          </a:p>
        </p:txBody>
      </p:sp>
      <p:sp>
        <p:nvSpPr>
          <p:cNvPr id="14" name="Rounded Rectangle 13"/>
          <p:cNvSpPr/>
          <p:nvPr/>
        </p:nvSpPr>
        <p:spPr>
          <a:xfrm>
            <a:off x="4343400" y="1874519"/>
            <a:ext cx="3520440" cy="33375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1892807"/>
            <a:ext cx="64008" cy="3300984"/>
          </a:xfrm>
          <a:prstGeom prst="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4568" y="2048255"/>
            <a:ext cx="3154680" cy="384048"/>
          </a:xfrm>
          <a:prstGeom prst="rect">
            <a:avLst/>
          </a:prstGeom>
          <a:noFill/>
        </p:spPr>
        <p:txBody>
          <a:bodyPr wrap="square" lIns="18288" rIns="18288" tIns="18288" bIns="18288" anchor="ctr">
            <a:spAutoFit/>
          </a:bodyPr>
          <a:lstStyle/>
          <a:p>
            <a:pPr algn="l">
              <a:spcBef>
                <a:spcPts val="0"/>
              </a:spcBef>
              <a:spcAft>
                <a:spcPts val="200"/>
              </a:spcAft>
            </a:pPr>
            <a:r>
              <a:rPr sz="2000" b="1" i="0">
                <a:solidFill>
                  <a:srgbClr val="1B2740"/>
                </a:solidFill>
                <a:latin typeface="Aptos"/>
              </a:rPr>
              <a:t>02  Rap Battle Generator</a:t>
            </a:r>
          </a:p>
        </p:txBody>
      </p:sp>
      <p:sp>
        <p:nvSpPr>
          <p:cNvPr id="17" name="TextBox 16"/>
          <p:cNvSpPr txBox="1"/>
          <p:nvPr/>
        </p:nvSpPr>
        <p:spPr>
          <a:xfrm>
            <a:off x="4553712" y="2587752"/>
            <a:ext cx="3127248" cy="2478024"/>
          </a:xfrm>
          <a:prstGeom prst="rect">
            <a:avLst/>
          </a:prstGeom>
          <a:noFill/>
        </p:spPr>
        <p:txBody>
          <a:bodyPr wrap="square" lIns="18288" rIns="18288" tIns="18288" bIns="18288" anchor="t">
            <a:spAutoFit/>
          </a:bodyPr>
          <a:lstStyle/>
          <a:p>
            <a:pPr algn="l">
              <a:spcBef>
                <a:spcPts val="0"/>
              </a:spcBef>
              <a:spcAft>
                <a:spcPts val="200"/>
              </a:spcAft>
            </a:pPr>
            <a:r>
              <a:rPr sz="1500" b="0" i="0">
                <a:solidFill>
                  <a:srgbClr val="5E6B84"/>
                </a:solidFill>
                <a:latin typeface="Aptos"/>
              </a:rPr>
              <a:t>USER CHOOSES A TOPIC</a:t>
            </a:r>
          </a:p>
          <a:p>
            <a:pPr algn="l">
              <a:spcBef>
                <a:spcPts val="0"/>
              </a:spcBef>
              <a:spcAft>
                <a:spcPts val="200"/>
              </a:spcAft>
            </a:pPr>
            <a:r>
              <a:rPr sz="1500" b="0" i="0">
                <a:solidFill>
                  <a:srgbClr val="5E6B84"/>
                </a:solidFill>
                <a:latin typeface="Aptos"/>
              </a:rPr>
              <a:t>The AI writes short verses, improves rhymes, and can present the result as a battle.</a:t>
            </a:r>
          </a:p>
        </p:txBody>
      </p:sp>
      <p:sp>
        <p:nvSpPr>
          <p:cNvPr id="18" name="Rounded Rectangle 17"/>
          <p:cNvSpPr/>
          <p:nvPr/>
        </p:nvSpPr>
        <p:spPr>
          <a:xfrm>
            <a:off x="4572000" y="4645152"/>
            <a:ext cx="1874519" cy="29260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26864" y="4677156"/>
            <a:ext cx="1764791"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9B5A00"/>
                </a:solidFill>
                <a:latin typeface="Aptos"/>
              </a:rPr>
              <a:t>TEXT + PERFORMANCE</a:t>
            </a:r>
          </a:p>
        </p:txBody>
      </p:sp>
      <p:sp>
        <p:nvSpPr>
          <p:cNvPr id="20" name="Rounded Rectangle 19"/>
          <p:cNvSpPr/>
          <p:nvPr/>
        </p:nvSpPr>
        <p:spPr>
          <a:xfrm>
            <a:off x="8046720" y="1874519"/>
            <a:ext cx="3520440" cy="33375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0" y="1892807"/>
            <a:ext cx="64008" cy="3300984"/>
          </a:xfrm>
          <a:prstGeom prst="rect">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47888" y="2048255"/>
            <a:ext cx="3154679" cy="384048"/>
          </a:xfrm>
          <a:prstGeom prst="rect">
            <a:avLst/>
          </a:prstGeom>
          <a:noFill/>
        </p:spPr>
        <p:txBody>
          <a:bodyPr wrap="square" lIns="18288" rIns="18288" tIns="18288" bIns="18288" anchor="ctr">
            <a:spAutoFit/>
          </a:bodyPr>
          <a:lstStyle/>
          <a:p>
            <a:pPr algn="l">
              <a:spcBef>
                <a:spcPts val="0"/>
              </a:spcBef>
              <a:spcAft>
                <a:spcPts val="200"/>
              </a:spcAft>
            </a:pPr>
            <a:r>
              <a:rPr sz="2000" b="1" i="0">
                <a:solidFill>
                  <a:srgbClr val="1B2740"/>
                </a:solidFill>
                <a:latin typeface="Aptos"/>
              </a:rPr>
              <a:t>03  AI Meme Maker</a:t>
            </a:r>
          </a:p>
        </p:txBody>
      </p:sp>
      <p:sp>
        <p:nvSpPr>
          <p:cNvPr id="23" name="TextBox 22"/>
          <p:cNvSpPr txBox="1"/>
          <p:nvPr/>
        </p:nvSpPr>
        <p:spPr>
          <a:xfrm>
            <a:off x="8257032" y="2587752"/>
            <a:ext cx="3127248" cy="2478024"/>
          </a:xfrm>
          <a:prstGeom prst="rect">
            <a:avLst/>
          </a:prstGeom>
          <a:noFill/>
        </p:spPr>
        <p:txBody>
          <a:bodyPr wrap="square" lIns="18288" rIns="18288" tIns="18288" bIns="18288" anchor="t">
            <a:spAutoFit/>
          </a:bodyPr>
          <a:lstStyle/>
          <a:p>
            <a:pPr algn="l">
              <a:spcBef>
                <a:spcPts val="0"/>
              </a:spcBef>
              <a:spcAft>
                <a:spcPts val="200"/>
              </a:spcAft>
            </a:pPr>
            <a:r>
              <a:rPr sz="1500" b="0" i="0">
                <a:solidFill>
                  <a:srgbClr val="5E6B84"/>
                </a:solidFill>
                <a:latin typeface="Aptos"/>
              </a:rPr>
              <a:t>USER CHOOSES A TOPIC OR IMAGE</a:t>
            </a:r>
          </a:p>
          <a:p>
            <a:pPr algn="l">
              <a:spcBef>
                <a:spcPts val="0"/>
              </a:spcBef>
              <a:spcAft>
                <a:spcPts val="200"/>
              </a:spcAft>
            </a:pPr>
            <a:r>
              <a:rPr sz="1500" b="0" i="0">
                <a:solidFill>
                  <a:srgbClr val="5E6B84"/>
                </a:solidFill>
                <a:latin typeface="Aptos"/>
              </a:rPr>
              <a:t>The app selects a template, suggests a caption, and combines text with an image.</a:t>
            </a:r>
          </a:p>
        </p:txBody>
      </p:sp>
      <p:sp>
        <p:nvSpPr>
          <p:cNvPr id="24" name="Rounded Rectangle 23"/>
          <p:cNvSpPr/>
          <p:nvPr/>
        </p:nvSpPr>
        <p:spPr>
          <a:xfrm>
            <a:off x="8275320" y="4645152"/>
            <a:ext cx="1737360" cy="292608"/>
          </a:xfrm>
          <a:prstGeom prst="round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30184" y="4677156"/>
            <a:ext cx="1627631"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B43D61"/>
                </a:solidFill>
                <a:latin typeface="Aptos"/>
              </a:rPr>
              <a:t>IMAGE + CAPTION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5676F5"/>
                </a:solidFill>
                <a:latin typeface="Aptos"/>
              </a:rPr>
              <a:t>FOUNDATION</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How a typical AI mini project works</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This is a useful mental model for all three ideas. Each project may use only some of these parts.</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04</a:t>
            </a:r>
          </a:p>
        </p:txBody>
      </p:sp>
      <p:sp>
        <p:nvSpPr>
          <p:cNvPr id="8" name="Rounded Rectangle 7"/>
          <p:cNvSpPr/>
          <p:nvPr/>
        </p:nvSpPr>
        <p:spPr>
          <a:xfrm>
            <a:off x="713232" y="2331720"/>
            <a:ext cx="1874519" cy="137160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41248" y="2478024"/>
            <a:ext cx="201168" cy="201168"/>
          </a:xfrm>
          <a:prstGeom prst="ellipse">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6424" y="2450591"/>
            <a:ext cx="1362455"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1. INPUT</a:t>
            </a:r>
          </a:p>
        </p:txBody>
      </p:sp>
      <p:sp>
        <p:nvSpPr>
          <p:cNvPr id="11" name="TextBox 10"/>
          <p:cNvSpPr txBox="1"/>
          <p:nvPr/>
        </p:nvSpPr>
        <p:spPr>
          <a:xfrm>
            <a:off x="859536" y="2834639"/>
            <a:ext cx="1581911" cy="804672"/>
          </a:xfrm>
          <a:prstGeom prst="rect">
            <a:avLst/>
          </a:prstGeom>
          <a:noFill/>
        </p:spPr>
        <p:txBody>
          <a:bodyPr wrap="square" lIns="18288" rIns="18288" tIns="18288" bIns="18288" anchor="t">
            <a:spAutoFit/>
          </a:bodyPr>
          <a:lstStyle/>
          <a:p>
            <a:pPr algn="l">
              <a:spcBef>
                <a:spcPts val="0"/>
              </a:spcBef>
              <a:spcAft>
                <a:spcPts val="200"/>
              </a:spcAft>
            </a:pPr>
            <a:r>
              <a:rPr sz="1000" b="0" i="0">
                <a:solidFill>
                  <a:srgbClr val="5E6B84"/>
                </a:solidFill>
                <a:latin typeface="Aptos"/>
              </a:rPr>
              <a:t>Prompt, form,</a:t>
            </a:r>
          </a:p>
          <a:p>
            <a:pPr algn="l">
              <a:spcBef>
                <a:spcPts val="0"/>
              </a:spcBef>
              <a:spcAft>
                <a:spcPts val="200"/>
              </a:spcAft>
            </a:pPr>
            <a:r>
              <a:rPr sz="1000" b="0" i="0">
                <a:solidFill>
                  <a:srgbClr val="5E6B84"/>
                </a:solidFill>
                <a:latin typeface="Aptos"/>
              </a:rPr>
              <a:t>choice, or image</a:t>
            </a:r>
          </a:p>
        </p:txBody>
      </p:sp>
      <p:sp>
        <p:nvSpPr>
          <p:cNvPr id="12" name="Rounded Rectangle 11"/>
          <p:cNvSpPr/>
          <p:nvPr/>
        </p:nvSpPr>
        <p:spPr>
          <a:xfrm>
            <a:off x="2907792" y="2331720"/>
            <a:ext cx="1874519" cy="137160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35808" y="2478024"/>
            <a:ext cx="201168" cy="201168"/>
          </a:xfrm>
          <a:prstGeom prst="ellipse">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00984" y="2450591"/>
            <a:ext cx="1362455"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2. AI ENGINE</a:t>
            </a:r>
          </a:p>
        </p:txBody>
      </p:sp>
      <p:sp>
        <p:nvSpPr>
          <p:cNvPr id="15" name="TextBox 14"/>
          <p:cNvSpPr txBox="1"/>
          <p:nvPr/>
        </p:nvSpPr>
        <p:spPr>
          <a:xfrm>
            <a:off x="3054096" y="2834639"/>
            <a:ext cx="1581911" cy="804672"/>
          </a:xfrm>
          <a:prstGeom prst="rect">
            <a:avLst/>
          </a:prstGeom>
          <a:noFill/>
        </p:spPr>
        <p:txBody>
          <a:bodyPr wrap="square" lIns="18288" rIns="18288" tIns="18288" bIns="18288" anchor="t">
            <a:spAutoFit/>
          </a:bodyPr>
          <a:lstStyle/>
          <a:p>
            <a:pPr algn="l">
              <a:spcBef>
                <a:spcPts val="0"/>
              </a:spcBef>
              <a:spcAft>
                <a:spcPts val="200"/>
              </a:spcAft>
            </a:pPr>
            <a:r>
              <a:rPr sz="1000" b="0" i="0">
                <a:solidFill>
                  <a:srgbClr val="5E6B84"/>
                </a:solidFill>
                <a:latin typeface="Aptos"/>
              </a:rPr>
              <a:t>Generate or interpret</a:t>
            </a:r>
          </a:p>
          <a:p>
            <a:pPr algn="l">
              <a:spcBef>
                <a:spcPts val="0"/>
              </a:spcBef>
              <a:spcAft>
                <a:spcPts val="200"/>
              </a:spcAft>
            </a:pPr>
            <a:r>
              <a:rPr sz="1000" b="0" i="0">
                <a:solidFill>
                  <a:srgbClr val="5E6B84"/>
                </a:solidFill>
                <a:latin typeface="Aptos"/>
              </a:rPr>
              <a:t>content</a:t>
            </a:r>
          </a:p>
        </p:txBody>
      </p:sp>
      <p:sp>
        <p:nvSpPr>
          <p:cNvPr id="16" name="Rounded Rectangle 15"/>
          <p:cNvSpPr/>
          <p:nvPr/>
        </p:nvSpPr>
        <p:spPr>
          <a:xfrm>
            <a:off x="5102352" y="2331720"/>
            <a:ext cx="1874519" cy="137160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230368" y="2478024"/>
            <a:ext cx="201168" cy="201168"/>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95544" y="2450591"/>
            <a:ext cx="1362455"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3. APP LOGIC</a:t>
            </a:r>
          </a:p>
        </p:txBody>
      </p:sp>
      <p:sp>
        <p:nvSpPr>
          <p:cNvPr id="19" name="TextBox 18"/>
          <p:cNvSpPr txBox="1"/>
          <p:nvPr/>
        </p:nvSpPr>
        <p:spPr>
          <a:xfrm>
            <a:off x="5248656" y="2834639"/>
            <a:ext cx="1581911" cy="804672"/>
          </a:xfrm>
          <a:prstGeom prst="rect">
            <a:avLst/>
          </a:prstGeom>
          <a:noFill/>
        </p:spPr>
        <p:txBody>
          <a:bodyPr wrap="square" lIns="18288" rIns="18288" tIns="18288" bIns="18288" anchor="t">
            <a:spAutoFit/>
          </a:bodyPr>
          <a:lstStyle/>
          <a:p>
            <a:pPr algn="l">
              <a:spcBef>
                <a:spcPts val="0"/>
              </a:spcBef>
              <a:spcAft>
                <a:spcPts val="200"/>
              </a:spcAft>
            </a:pPr>
            <a:r>
              <a:rPr sz="1000" b="0" i="0">
                <a:solidFill>
                  <a:srgbClr val="5E6B84"/>
                </a:solidFill>
                <a:latin typeface="Aptos"/>
              </a:rPr>
              <a:t>Apply rules, choose</a:t>
            </a:r>
          </a:p>
          <a:p>
            <a:pPr algn="l">
              <a:spcBef>
                <a:spcPts val="0"/>
              </a:spcBef>
              <a:spcAft>
                <a:spcPts val="200"/>
              </a:spcAft>
            </a:pPr>
            <a:r>
              <a:rPr sz="1000" b="0" i="0">
                <a:solidFill>
                  <a:srgbClr val="5E6B84"/>
                </a:solidFill>
                <a:latin typeface="Aptos"/>
              </a:rPr>
              <a:t>a template, roll dice</a:t>
            </a:r>
          </a:p>
        </p:txBody>
      </p:sp>
      <p:sp>
        <p:nvSpPr>
          <p:cNvPr id="20" name="Rounded Rectangle 19"/>
          <p:cNvSpPr/>
          <p:nvPr/>
        </p:nvSpPr>
        <p:spPr>
          <a:xfrm>
            <a:off x="7296912" y="2331720"/>
            <a:ext cx="1874519" cy="137160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424928" y="2478024"/>
            <a:ext cx="201168" cy="201168"/>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90104" y="2450591"/>
            <a:ext cx="1362455"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4. RESULT</a:t>
            </a:r>
          </a:p>
        </p:txBody>
      </p:sp>
      <p:sp>
        <p:nvSpPr>
          <p:cNvPr id="23" name="TextBox 22"/>
          <p:cNvSpPr txBox="1"/>
          <p:nvPr/>
        </p:nvSpPr>
        <p:spPr>
          <a:xfrm>
            <a:off x="7443216" y="2834639"/>
            <a:ext cx="1581911" cy="804672"/>
          </a:xfrm>
          <a:prstGeom prst="rect">
            <a:avLst/>
          </a:prstGeom>
          <a:noFill/>
        </p:spPr>
        <p:txBody>
          <a:bodyPr wrap="square" lIns="18288" rIns="18288" tIns="18288" bIns="18288" anchor="t">
            <a:spAutoFit/>
          </a:bodyPr>
          <a:lstStyle/>
          <a:p>
            <a:pPr algn="l">
              <a:spcBef>
                <a:spcPts val="0"/>
              </a:spcBef>
              <a:spcAft>
                <a:spcPts val="200"/>
              </a:spcAft>
            </a:pPr>
            <a:r>
              <a:rPr sz="1000" b="0" i="0">
                <a:solidFill>
                  <a:srgbClr val="5E6B84"/>
                </a:solidFill>
                <a:latin typeface="Aptos"/>
              </a:rPr>
              <a:t>Story, verse, or</a:t>
            </a:r>
          </a:p>
          <a:p>
            <a:pPr algn="l">
              <a:spcBef>
                <a:spcPts val="0"/>
              </a:spcBef>
              <a:spcAft>
                <a:spcPts val="200"/>
              </a:spcAft>
            </a:pPr>
            <a:r>
              <a:rPr sz="1000" b="0" i="0">
                <a:solidFill>
                  <a:srgbClr val="5E6B84"/>
                </a:solidFill>
                <a:latin typeface="Aptos"/>
              </a:rPr>
              <a:t>finished meme</a:t>
            </a:r>
          </a:p>
        </p:txBody>
      </p:sp>
      <p:sp>
        <p:nvSpPr>
          <p:cNvPr id="24" name="Rounded Rectangle 23"/>
          <p:cNvSpPr/>
          <p:nvPr/>
        </p:nvSpPr>
        <p:spPr>
          <a:xfrm>
            <a:off x="9491472" y="2331720"/>
            <a:ext cx="1874519" cy="137160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619488" y="2478024"/>
            <a:ext cx="201168" cy="201168"/>
          </a:xfrm>
          <a:prstGeom prst="ellipse">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84664" y="2450591"/>
            <a:ext cx="1362455"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5. MEMORY</a:t>
            </a:r>
          </a:p>
        </p:txBody>
      </p:sp>
      <p:sp>
        <p:nvSpPr>
          <p:cNvPr id="27" name="TextBox 26"/>
          <p:cNvSpPr txBox="1"/>
          <p:nvPr/>
        </p:nvSpPr>
        <p:spPr>
          <a:xfrm>
            <a:off x="9637776" y="2834639"/>
            <a:ext cx="1581911" cy="804672"/>
          </a:xfrm>
          <a:prstGeom prst="rect">
            <a:avLst/>
          </a:prstGeom>
          <a:noFill/>
        </p:spPr>
        <p:txBody>
          <a:bodyPr wrap="square" lIns="18288" rIns="18288" tIns="18288" bIns="18288" anchor="t">
            <a:spAutoFit/>
          </a:bodyPr>
          <a:lstStyle/>
          <a:p>
            <a:pPr algn="l">
              <a:spcBef>
                <a:spcPts val="0"/>
              </a:spcBef>
              <a:spcAft>
                <a:spcPts val="200"/>
              </a:spcAft>
            </a:pPr>
            <a:r>
              <a:rPr sz="1000" b="0" i="0">
                <a:solidFill>
                  <a:srgbClr val="5E6B84"/>
                </a:solidFill>
                <a:latin typeface="Aptos"/>
              </a:rPr>
              <a:t>Save history or</a:t>
            </a:r>
          </a:p>
          <a:p>
            <a:pPr algn="l">
              <a:spcBef>
                <a:spcPts val="0"/>
              </a:spcBef>
              <a:spcAft>
                <a:spcPts val="200"/>
              </a:spcAft>
            </a:pPr>
            <a:r>
              <a:rPr sz="1000" b="0" i="0">
                <a:solidFill>
                  <a:srgbClr val="5E6B84"/>
                </a:solidFill>
                <a:latin typeface="Aptos"/>
              </a:rPr>
              <a:t>user preferences</a:t>
            </a:r>
          </a:p>
        </p:txBody>
      </p:sp>
      <p:cxnSp>
        <p:nvCxnSpPr>
          <p:cNvPr id="28" name="Connector 27"/>
          <p:cNvCxnSpPr/>
          <p:nvPr/>
        </p:nvCxnSpPr>
        <p:spPr>
          <a:xfrm>
            <a:off x="2596896" y="2999232"/>
            <a:ext cx="237744"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791456" y="2999232"/>
            <a:ext cx="237744"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986016" y="2999232"/>
            <a:ext cx="237744"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180576" y="2999232"/>
            <a:ext cx="237744"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77240" y="4343400"/>
            <a:ext cx="5120640" cy="10515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4361688"/>
            <a:ext cx="64008" cy="1014983"/>
          </a:xfrm>
          <a:prstGeom prst="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8408" y="4517136"/>
            <a:ext cx="4754880" cy="384048"/>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Key idea</a:t>
            </a:r>
          </a:p>
        </p:txBody>
      </p:sp>
      <p:sp>
        <p:nvSpPr>
          <p:cNvPr id="35" name="TextBox 34"/>
          <p:cNvSpPr txBox="1"/>
          <p:nvPr/>
        </p:nvSpPr>
        <p:spPr>
          <a:xfrm>
            <a:off x="987552" y="5056632"/>
            <a:ext cx="4727448" cy="192023"/>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AI is only one part of an application. The interface, rules, and data storage make it usable.</a:t>
            </a:r>
          </a:p>
        </p:txBody>
      </p:sp>
      <p:sp>
        <p:nvSpPr>
          <p:cNvPr id="36" name="Rounded Rectangle 35"/>
          <p:cNvSpPr/>
          <p:nvPr/>
        </p:nvSpPr>
        <p:spPr>
          <a:xfrm>
            <a:off x="6263640" y="4343400"/>
            <a:ext cx="5120640" cy="10515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63640" y="4361688"/>
            <a:ext cx="64008" cy="1014983"/>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64807" y="4517136"/>
            <a:ext cx="4754880" cy="384048"/>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Keep the first version simple</a:t>
            </a:r>
          </a:p>
        </p:txBody>
      </p:sp>
      <p:sp>
        <p:nvSpPr>
          <p:cNvPr id="39" name="TextBox 38"/>
          <p:cNvSpPr txBox="1"/>
          <p:nvPr/>
        </p:nvSpPr>
        <p:spPr>
          <a:xfrm>
            <a:off x="6473952" y="5056632"/>
            <a:ext cx="4727448" cy="192023"/>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Make one complete path work before adding extra features like voice, multiplayer, or trend feeds.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C35"/>
        </a:solidFill>
        <a:effectLst/>
      </p:bgPr>
    </p:bg>
    <p:spTree>
      <p:nvGrpSpPr>
        <p:cNvPr id="1" name=""/>
        <p:cNvGrpSpPr/>
        <p:nvPr/>
      </p:nvGrpSpPr>
      <p:grpSpPr/>
      <p:sp>
        <p:nvSpPr>
          <p:cNvPr id="2" name="TextBox 1"/>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9EABC1"/>
                </a:solidFill>
                <a:latin typeface="Aptos"/>
              </a:rPr>
              <a:t>AI MINI PROJECT IDEAS  •  BEGINNER-FRIENDLY GUIDE</a:t>
            </a:r>
          </a:p>
        </p:txBody>
      </p:sp>
      <p:sp>
        <p:nvSpPr>
          <p:cNvPr id="3" name="TextBox 2"/>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9EABC1"/>
                </a:solidFill>
                <a:latin typeface="Aptos"/>
              </a:rPr>
              <a:t>05</a:t>
            </a:r>
          </a:p>
        </p:txBody>
      </p:sp>
      <p:sp>
        <p:nvSpPr>
          <p:cNvPr id="4" name="Rounded Rectangle 3"/>
          <p:cNvSpPr/>
          <p:nvPr/>
        </p:nvSpPr>
        <p:spPr>
          <a:xfrm>
            <a:off x="685800" y="658368"/>
            <a:ext cx="1188720" cy="292608"/>
          </a:xfrm>
          <a:prstGeom prst="roundRect">
            <a:avLst/>
          </a:prstGeom>
          <a:solidFill>
            <a:srgbClr val="273B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0664" y="690372"/>
            <a:ext cx="107899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8EE6D8"/>
                </a:solidFill>
                <a:latin typeface="Aptos"/>
              </a:rPr>
              <a:t>PROJECT 01</a:t>
            </a:r>
          </a:p>
        </p:txBody>
      </p:sp>
      <p:sp>
        <p:nvSpPr>
          <p:cNvPr id="6" name="TextBox 5"/>
          <p:cNvSpPr txBox="1"/>
          <p:nvPr/>
        </p:nvSpPr>
        <p:spPr>
          <a:xfrm>
            <a:off x="685800" y="1417320"/>
            <a:ext cx="5577840" cy="1463040"/>
          </a:xfrm>
          <a:prstGeom prst="rect">
            <a:avLst/>
          </a:prstGeom>
          <a:noFill/>
        </p:spPr>
        <p:txBody>
          <a:bodyPr wrap="square" lIns="18288" rIns="18288" tIns="18288" bIns="18288" anchor="t">
            <a:spAutoFit/>
          </a:bodyPr>
          <a:lstStyle/>
          <a:p>
            <a:pPr algn="l">
              <a:spcBef>
                <a:spcPts val="0"/>
              </a:spcBef>
              <a:spcAft>
                <a:spcPts val="200"/>
              </a:spcAft>
            </a:pPr>
            <a:r>
              <a:rPr sz="3800" b="1" i="0">
                <a:solidFill>
                  <a:srgbClr val="FFFFFF"/>
                </a:solidFill>
                <a:latin typeface="Aptos"/>
              </a:rPr>
              <a:t>AI DUNGEON</a:t>
            </a:r>
          </a:p>
          <a:p>
            <a:pPr algn="l">
              <a:spcBef>
                <a:spcPts val="0"/>
              </a:spcBef>
              <a:spcAft>
                <a:spcPts val="200"/>
              </a:spcAft>
            </a:pPr>
            <a:r>
              <a:rPr sz="3800" b="1" i="0">
                <a:solidFill>
                  <a:srgbClr val="FFFFFF"/>
                </a:solidFill>
                <a:latin typeface="Aptos"/>
              </a:rPr>
              <a:t>MASTER</a:t>
            </a:r>
          </a:p>
        </p:txBody>
      </p:sp>
      <p:sp>
        <p:nvSpPr>
          <p:cNvPr id="7" name="TextBox 6"/>
          <p:cNvSpPr txBox="1"/>
          <p:nvPr/>
        </p:nvSpPr>
        <p:spPr>
          <a:xfrm>
            <a:off x="731520" y="3246120"/>
            <a:ext cx="5394960" cy="685800"/>
          </a:xfrm>
          <a:prstGeom prst="rect">
            <a:avLst/>
          </a:prstGeom>
          <a:noFill/>
        </p:spPr>
        <p:txBody>
          <a:bodyPr wrap="square" lIns="18288" rIns="18288" tIns="18288" bIns="18288" anchor="t">
            <a:spAutoFit/>
          </a:bodyPr>
          <a:lstStyle/>
          <a:p>
            <a:pPr algn="l">
              <a:spcBef>
                <a:spcPts val="0"/>
              </a:spcBef>
              <a:spcAft>
                <a:spcPts val="200"/>
              </a:spcAft>
            </a:pPr>
            <a:r>
              <a:rPr sz="1800" b="0" i="0">
                <a:solidFill>
                  <a:srgbClr val="D7E0F1"/>
                </a:solidFill>
                <a:latin typeface="Aptos"/>
              </a:rPr>
              <a:t>An interactive story that changes according to the player’s decisions.</a:t>
            </a:r>
          </a:p>
        </p:txBody>
      </p:sp>
      <p:sp>
        <p:nvSpPr>
          <p:cNvPr id="8" name="Arc 7"/>
          <p:cNvSpPr/>
          <p:nvPr/>
        </p:nvSpPr>
        <p:spPr>
          <a:xfrm>
            <a:off x="6995160" y="1463040"/>
            <a:ext cx="3977639" cy="3657600"/>
          </a:xfrm>
          <a:prstGeom prst="arc">
            <a:avLst/>
          </a:prstGeom>
          <a:solidFill>
            <a:srgbClr val="28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43800" y="2057400"/>
            <a:ext cx="2880360" cy="2514600"/>
          </a:xfrm>
          <a:prstGeom prst="ellipse">
            <a:avLst/>
          </a:prstGeom>
          <a:solidFill>
            <a:srgbClr val="17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85632" y="2788920"/>
            <a:ext cx="987552" cy="987552"/>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0" y="3081528"/>
            <a:ext cx="402336" cy="402336"/>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31152" y="5394960"/>
            <a:ext cx="4206240" cy="320040"/>
          </a:xfrm>
          <a:prstGeom prst="rect">
            <a:avLst/>
          </a:prstGeom>
          <a:noFill/>
        </p:spPr>
        <p:txBody>
          <a:bodyPr wrap="square" lIns="18288" rIns="18288" tIns="18288" bIns="18288" anchor="t">
            <a:spAutoFit/>
          </a:bodyPr>
          <a:lstStyle/>
          <a:p>
            <a:pPr algn="ctr">
              <a:spcBef>
                <a:spcPts val="0"/>
              </a:spcBef>
              <a:spcAft>
                <a:spcPts val="200"/>
              </a:spcAft>
            </a:pPr>
            <a:r>
              <a:rPr sz="1100" b="1" i="0">
                <a:solidFill>
                  <a:srgbClr val="B3C2DB"/>
                </a:solidFill>
                <a:latin typeface="Aptos"/>
              </a:rPr>
              <a:t>THE PLAYER IS THE HERO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1B6A8"/>
                </a:solidFill>
                <a:latin typeface="Aptos"/>
              </a:rPr>
              <a:t>01 • DUNGEON MASTER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What does the AI Dungeon Master do?</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The player types an action; the application answers with a scene and a few next choices.</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06</a:t>
            </a:r>
          </a:p>
        </p:txBody>
      </p:sp>
      <p:sp>
        <p:nvSpPr>
          <p:cNvPr id="8" name="Rounded Rectangle 7"/>
          <p:cNvSpPr/>
          <p:nvPr/>
        </p:nvSpPr>
        <p:spPr>
          <a:xfrm>
            <a:off x="658368" y="1938528"/>
            <a:ext cx="3657600" cy="224028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56816"/>
            <a:ext cx="64008" cy="220370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112264"/>
            <a:ext cx="329184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Player input</a:t>
            </a:r>
          </a:p>
        </p:txBody>
      </p:sp>
      <p:sp>
        <p:nvSpPr>
          <p:cNvPr id="11" name="TextBox 10"/>
          <p:cNvSpPr txBox="1"/>
          <p:nvPr/>
        </p:nvSpPr>
        <p:spPr>
          <a:xfrm>
            <a:off x="868680" y="2651760"/>
            <a:ext cx="3264408" cy="1380744"/>
          </a:xfrm>
          <a:prstGeom prst="rect">
            <a:avLst/>
          </a:prstGeom>
          <a:noFill/>
        </p:spPr>
        <p:txBody>
          <a:bodyPr wrap="square" lIns="18288" rIns="18288" tIns="18288" bIns="18288" anchor="t">
            <a:spAutoFit/>
          </a:bodyPr>
          <a:lstStyle/>
          <a:p>
            <a:pPr algn="l">
              <a:spcBef>
                <a:spcPts val="0"/>
              </a:spcBef>
              <a:spcAft>
                <a:spcPts val="200"/>
              </a:spcAft>
            </a:pPr>
            <a:r>
              <a:rPr sz="1500" b="0" i="0">
                <a:solidFill>
                  <a:srgbClr val="5E6B84"/>
                </a:solidFill>
                <a:latin typeface="Aptos"/>
              </a:rPr>
              <a:t>“I enter the old cave and look around.”</a:t>
            </a:r>
          </a:p>
          <a:p>
            <a:pPr algn="l">
              <a:spcBef>
                <a:spcPts val="0"/>
              </a:spcBef>
              <a:spcAft>
                <a:spcPts val="200"/>
              </a:spcAft>
            </a:pPr>
          </a:p>
          <a:p>
            <a:pPr algn="l">
              <a:spcBef>
                <a:spcPts val="0"/>
              </a:spcBef>
              <a:spcAft>
                <a:spcPts val="200"/>
              </a:spcAft>
            </a:pPr>
            <a:r>
              <a:rPr sz="1500" b="0" i="0">
                <a:solidFill>
                  <a:srgbClr val="5E6B84"/>
                </a:solidFill>
                <a:latin typeface="Aptos"/>
              </a:rPr>
              <a:t>The user describes an action in everyday language.</a:t>
            </a:r>
          </a:p>
        </p:txBody>
      </p:sp>
      <p:sp>
        <p:nvSpPr>
          <p:cNvPr id="12" name="Chevron 11"/>
          <p:cNvSpPr/>
          <p:nvPr/>
        </p:nvSpPr>
        <p:spPr>
          <a:xfrm>
            <a:off x="4480560" y="2697480"/>
            <a:ext cx="530352" cy="594360"/>
          </a:xfrm>
          <a:prstGeom prst="chevron">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66360" y="1938528"/>
            <a:ext cx="6309360" cy="224028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66360" y="1956816"/>
            <a:ext cx="64008" cy="2203704"/>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67528" y="2112264"/>
            <a:ext cx="594360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AI response</a:t>
            </a:r>
          </a:p>
        </p:txBody>
      </p:sp>
      <p:sp>
        <p:nvSpPr>
          <p:cNvPr id="16" name="TextBox 15"/>
          <p:cNvSpPr txBox="1"/>
          <p:nvPr/>
        </p:nvSpPr>
        <p:spPr>
          <a:xfrm>
            <a:off x="5376672" y="2651760"/>
            <a:ext cx="5916168" cy="1380744"/>
          </a:xfrm>
          <a:prstGeom prst="rect">
            <a:avLst/>
          </a:prstGeom>
          <a:noFill/>
        </p:spPr>
        <p:txBody>
          <a:bodyPr wrap="square" lIns="18288" rIns="18288" tIns="18288" bIns="18288" anchor="t">
            <a:spAutoFit/>
          </a:bodyPr>
          <a:lstStyle/>
          <a:p>
            <a:pPr algn="l">
              <a:spcBef>
                <a:spcPts val="0"/>
              </a:spcBef>
              <a:spcAft>
                <a:spcPts val="200"/>
              </a:spcAft>
            </a:pPr>
            <a:r>
              <a:rPr sz="1500" b="0" i="0">
                <a:solidFill>
                  <a:srgbClr val="5E6B84"/>
                </a:solidFill>
                <a:latin typeface="Aptos"/>
              </a:rPr>
              <a:t>“Cold air drifts from the tunnel. You see footprints near a broken lantern.”</a:t>
            </a:r>
          </a:p>
          <a:p>
            <a:pPr algn="l">
              <a:spcBef>
                <a:spcPts val="0"/>
              </a:spcBef>
              <a:spcAft>
                <a:spcPts val="200"/>
              </a:spcAft>
            </a:pPr>
          </a:p>
          <a:p>
            <a:pPr algn="l">
              <a:spcBef>
                <a:spcPts val="0"/>
              </a:spcBef>
              <a:spcAft>
                <a:spcPts val="200"/>
              </a:spcAft>
            </a:pPr>
            <a:r>
              <a:rPr sz="1500" b="0" i="0">
                <a:solidFill>
                  <a:srgbClr val="5E6B84"/>
                </a:solidFill>
                <a:latin typeface="Aptos"/>
              </a:rPr>
              <a:t>1. Follow the footprints   2. Pick up the lantern   3. Call into the cave</a:t>
            </a:r>
          </a:p>
        </p:txBody>
      </p:sp>
      <p:sp>
        <p:nvSpPr>
          <p:cNvPr id="17" name="TextBox 16"/>
          <p:cNvSpPr txBox="1"/>
          <p:nvPr/>
        </p:nvSpPr>
        <p:spPr>
          <a:xfrm>
            <a:off x="731520" y="4709160"/>
            <a:ext cx="3017520" cy="274320"/>
          </a:xfrm>
          <a:prstGeom prst="rect">
            <a:avLst/>
          </a:prstGeom>
          <a:noFill/>
        </p:spPr>
        <p:txBody>
          <a:bodyPr wrap="square" lIns="18288" rIns="18288" tIns="18288" bIns="18288" anchor="t">
            <a:spAutoFit/>
          </a:bodyPr>
          <a:lstStyle/>
          <a:p>
            <a:pPr algn="l">
              <a:spcBef>
                <a:spcPts val="0"/>
              </a:spcBef>
              <a:spcAft>
                <a:spcPts val="200"/>
              </a:spcAft>
            </a:pPr>
            <a:r>
              <a:rPr sz="1100" b="1" i="0">
                <a:solidFill>
                  <a:srgbClr val="5E6B84"/>
                </a:solidFill>
                <a:latin typeface="Aptos"/>
              </a:rPr>
              <a:t>WHY IT FEELS INTERACTIVE</a:t>
            </a:r>
          </a:p>
        </p:txBody>
      </p:sp>
      <p:sp>
        <p:nvSpPr>
          <p:cNvPr id="18" name="Oval 17"/>
          <p:cNvSpPr/>
          <p:nvPr/>
        </p:nvSpPr>
        <p:spPr>
          <a:xfrm>
            <a:off x="749808" y="5184648"/>
            <a:ext cx="91440" cy="91440"/>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 y="5074920"/>
            <a:ext cx="10222992" cy="329184"/>
          </a:xfrm>
          <a:prstGeom prst="rect">
            <a:avLst/>
          </a:prstGeom>
          <a:noFill/>
        </p:spPr>
        <p:txBody>
          <a:bodyPr wrap="square" lIns="18288" rIns="18288" tIns="18288" bIns="18288" anchor="t">
            <a:spAutoFit/>
          </a:bodyPr>
          <a:lstStyle/>
          <a:p>
            <a:pPr algn="l">
              <a:spcAft>
                <a:spcPts val="100"/>
              </a:spcAft>
            </a:pPr>
            <a:r>
              <a:rPr sz="1400" b="1" i="0">
                <a:solidFill>
                  <a:srgbClr val="1B2740"/>
                </a:solidFill>
                <a:latin typeface="Aptos"/>
              </a:rPr>
              <a:t>Player choice: </a:t>
            </a:r>
            <a:r>
              <a:rPr sz="1400" b="0" i="0">
                <a:solidFill>
                  <a:srgbClr val="1B2740"/>
                </a:solidFill>
                <a:latin typeface="Aptos"/>
              </a:rPr>
              <a:t>the next scene depends on the selected action.</a:t>
            </a:r>
          </a:p>
        </p:txBody>
      </p:sp>
      <p:sp>
        <p:nvSpPr>
          <p:cNvPr id="20" name="Oval 19"/>
          <p:cNvSpPr/>
          <p:nvPr/>
        </p:nvSpPr>
        <p:spPr>
          <a:xfrm>
            <a:off x="749808" y="5532120"/>
            <a:ext cx="91440" cy="91440"/>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0976" y="5422392"/>
            <a:ext cx="10222992" cy="329184"/>
          </a:xfrm>
          <a:prstGeom prst="rect">
            <a:avLst/>
          </a:prstGeom>
          <a:noFill/>
        </p:spPr>
        <p:txBody>
          <a:bodyPr wrap="square" lIns="18288" rIns="18288" tIns="18288" bIns="18288" anchor="t">
            <a:spAutoFit/>
          </a:bodyPr>
          <a:lstStyle/>
          <a:p>
            <a:pPr algn="l">
              <a:spcAft>
                <a:spcPts val="100"/>
              </a:spcAft>
            </a:pPr>
            <a:r>
              <a:rPr sz="1400" b="1" i="0">
                <a:solidFill>
                  <a:srgbClr val="1B2740"/>
                </a:solidFill>
                <a:latin typeface="Aptos"/>
              </a:rPr>
              <a:t>Continuity: </a:t>
            </a:r>
            <a:r>
              <a:rPr sz="1400" b="0" i="0">
                <a:solidFill>
                  <a:srgbClr val="1B2740"/>
                </a:solidFill>
                <a:latin typeface="Aptos"/>
              </a:rPr>
              <a:t>character details and past actions can be remembered.</a:t>
            </a:r>
          </a:p>
        </p:txBody>
      </p:sp>
      <p:sp>
        <p:nvSpPr>
          <p:cNvPr id="22" name="Oval 21"/>
          <p:cNvSpPr/>
          <p:nvPr/>
        </p:nvSpPr>
        <p:spPr>
          <a:xfrm>
            <a:off x="749808" y="5879592"/>
            <a:ext cx="91440" cy="91440"/>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 y="5769864"/>
            <a:ext cx="10222992" cy="329184"/>
          </a:xfrm>
          <a:prstGeom prst="rect">
            <a:avLst/>
          </a:prstGeom>
          <a:noFill/>
        </p:spPr>
        <p:txBody>
          <a:bodyPr wrap="square" lIns="18288" rIns="18288" tIns="18288" bIns="18288" anchor="t">
            <a:spAutoFit/>
          </a:bodyPr>
          <a:lstStyle/>
          <a:p>
            <a:pPr algn="l">
              <a:spcAft>
                <a:spcPts val="100"/>
              </a:spcAft>
            </a:pPr>
            <a:r>
              <a:rPr sz="1400" b="1" i="0">
                <a:solidFill>
                  <a:srgbClr val="1B2740"/>
                </a:solidFill>
                <a:latin typeface="Aptos"/>
              </a:rPr>
              <a:t>Replay value: </a:t>
            </a:r>
            <a:r>
              <a:rPr sz="1400" b="0" i="0">
                <a:solidFill>
                  <a:srgbClr val="1B2740"/>
                </a:solidFill>
                <a:latin typeface="Aptos"/>
              </a:rPr>
              <a:t>different choices may lead to different outcomes.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1B6A8"/>
                </a:solidFill>
                <a:latin typeface="Aptos"/>
              </a:rPr>
              <a:t>01 • DUNGEON MASTER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The game loop: how one turn works</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A loop repeats each time the player makes a decision.</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07</a:t>
            </a:r>
          </a:p>
        </p:txBody>
      </p:sp>
      <p:sp>
        <p:nvSpPr>
          <p:cNvPr id="8" name="Rounded Rectangle 7"/>
          <p:cNvSpPr/>
          <p:nvPr/>
        </p:nvSpPr>
        <p:spPr>
          <a:xfrm>
            <a:off x="777240" y="2057400"/>
            <a:ext cx="2057400" cy="11155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203704"/>
            <a:ext cx="201168" cy="201168"/>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0432" y="2176272"/>
            <a:ext cx="154533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1. PLAYER ACTS</a:t>
            </a:r>
          </a:p>
        </p:txBody>
      </p:sp>
      <p:sp>
        <p:nvSpPr>
          <p:cNvPr id="11" name="TextBox 10"/>
          <p:cNvSpPr txBox="1"/>
          <p:nvPr/>
        </p:nvSpPr>
        <p:spPr>
          <a:xfrm>
            <a:off x="923544" y="2560320"/>
            <a:ext cx="1764792" cy="548640"/>
          </a:xfrm>
          <a:prstGeom prst="rect">
            <a:avLst/>
          </a:prstGeom>
          <a:noFill/>
        </p:spPr>
        <p:txBody>
          <a:bodyPr wrap="square" lIns="18288" rIns="18288" tIns="18288" bIns="18288" anchor="t">
            <a:spAutoFit/>
          </a:bodyPr>
          <a:lstStyle/>
          <a:p>
            <a:pPr algn="l">
              <a:spcBef>
                <a:spcPts val="0"/>
              </a:spcBef>
              <a:spcAft>
                <a:spcPts val="200"/>
              </a:spcAft>
            </a:pPr>
            <a:r>
              <a:rPr sz="1100" b="0" i="0">
                <a:solidFill>
                  <a:srgbClr val="5E6B84"/>
                </a:solidFill>
                <a:latin typeface="Aptos"/>
              </a:rPr>
              <a:t>Types an action</a:t>
            </a:r>
          </a:p>
        </p:txBody>
      </p:sp>
      <p:sp>
        <p:nvSpPr>
          <p:cNvPr id="12" name="Rounded Rectangle 11"/>
          <p:cNvSpPr/>
          <p:nvPr/>
        </p:nvSpPr>
        <p:spPr>
          <a:xfrm>
            <a:off x="3429000" y="2057400"/>
            <a:ext cx="2057400" cy="11155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57016" y="2203704"/>
            <a:ext cx="201168" cy="201168"/>
          </a:xfrm>
          <a:prstGeom prst="ellipse">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22191" y="2176272"/>
            <a:ext cx="154533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2. AI RESPONDS</a:t>
            </a:r>
          </a:p>
        </p:txBody>
      </p:sp>
      <p:sp>
        <p:nvSpPr>
          <p:cNvPr id="15" name="TextBox 14"/>
          <p:cNvSpPr txBox="1"/>
          <p:nvPr/>
        </p:nvSpPr>
        <p:spPr>
          <a:xfrm>
            <a:off x="3575304" y="2560320"/>
            <a:ext cx="1764792" cy="548640"/>
          </a:xfrm>
          <a:prstGeom prst="rect">
            <a:avLst/>
          </a:prstGeom>
          <a:noFill/>
        </p:spPr>
        <p:txBody>
          <a:bodyPr wrap="square" lIns="18288" rIns="18288" tIns="18288" bIns="18288" anchor="t">
            <a:spAutoFit/>
          </a:bodyPr>
          <a:lstStyle/>
          <a:p>
            <a:pPr algn="l">
              <a:spcBef>
                <a:spcPts val="0"/>
              </a:spcBef>
              <a:spcAft>
                <a:spcPts val="200"/>
              </a:spcAft>
            </a:pPr>
            <a:r>
              <a:rPr sz="1100" b="0" i="0">
                <a:solidFill>
                  <a:srgbClr val="5E6B84"/>
                </a:solidFill>
                <a:latin typeface="Aptos"/>
              </a:rPr>
              <a:t>Writes next scene</a:t>
            </a:r>
          </a:p>
        </p:txBody>
      </p:sp>
      <p:sp>
        <p:nvSpPr>
          <p:cNvPr id="16" name="Rounded Rectangle 15"/>
          <p:cNvSpPr/>
          <p:nvPr/>
        </p:nvSpPr>
        <p:spPr>
          <a:xfrm>
            <a:off x="6080760" y="2057400"/>
            <a:ext cx="2057400" cy="11155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208776" y="2203704"/>
            <a:ext cx="201168" cy="201168"/>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2176272"/>
            <a:ext cx="154533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3. CHOICES</a:t>
            </a:r>
          </a:p>
        </p:txBody>
      </p:sp>
      <p:sp>
        <p:nvSpPr>
          <p:cNvPr id="19" name="TextBox 18"/>
          <p:cNvSpPr txBox="1"/>
          <p:nvPr/>
        </p:nvSpPr>
        <p:spPr>
          <a:xfrm>
            <a:off x="6227064" y="2560320"/>
            <a:ext cx="1764792" cy="548640"/>
          </a:xfrm>
          <a:prstGeom prst="rect">
            <a:avLst/>
          </a:prstGeom>
          <a:noFill/>
        </p:spPr>
        <p:txBody>
          <a:bodyPr wrap="square" lIns="18288" rIns="18288" tIns="18288" bIns="18288" anchor="t">
            <a:spAutoFit/>
          </a:bodyPr>
          <a:lstStyle/>
          <a:p>
            <a:pPr algn="l">
              <a:spcBef>
                <a:spcPts val="0"/>
              </a:spcBef>
              <a:spcAft>
                <a:spcPts val="200"/>
              </a:spcAft>
            </a:pPr>
            <a:r>
              <a:rPr sz="1100" b="0" i="0">
                <a:solidFill>
                  <a:srgbClr val="5E6B84"/>
                </a:solidFill>
                <a:latin typeface="Aptos"/>
              </a:rPr>
              <a:t>Offers 2–3 options</a:t>
            </a:r>
          </a:p>
        </p:txBody>
      </p:sp>
      <p:sp>
        <p:nvSpPr>
          <p:cNvPr id="20" name="Rounded Rectangle 19"/>
          <p:cNvSpPr/>
          <p:nvPr/>
        </p:nvSpPr>
        <p:spPr>
          <a:xfrm>
            <a:off x="8732520" y="2057400"/>
            <a:ext cx="2468880" cy="11155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860536" y="2203704"/>
            <a:ext cx="201168" cy="201168"/>
          </a:xfrm>
          <a:prstGeom prst="ellipse">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25712" y="2176272"/>
            <a:ext cx="195681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4. STATE UPDATES</a:t>
            </a:r>
          </a:p>
        </p:txBody>
      </p:sp>
      <p:sp>
        <p:nvSpPr>
          <p:cNvPr id="23" name="TextBox 22"/>
          <p:cNvSpPr txBox="1"/>
          <p:nvPr/>
        </p:nvSpPr>
        <p:spPr>
          <a:xfrm>
            <a:off x="8878824" y="2560320"/>
            <a:ext cx="2176272" cy="548640"/>
          </a:xfrm>
          <a:prstGeom prst="rect">
            <a:avLst/>
          </a:prstGeom>
          <a:noFill/>
        </p:spPr>
        <p:txBody>
          <a:bodyPr wrap="square" lIns="18288" rIns="18288" tIns="18288" bIns="18288" anchor="t">
            <a:spAutoFit/>
          </a:bodyPr>
          <a:lstStyle/>
          <a:p>
            <a:pPr algn="l">
              <a:spcBef>
                <a:spcPts val="0"/>
              </a:spcBef>
              <a:spcAft>
                <a:spcPts val="200"/>
              </a:spcAft>
            </a:pPr>
            <a:r>
              <a:rPr sz="1100" b="0" i="0">
                <a:solidFill>
                  <a:srgbClr val="5E6B84"/>
                </a:solidFill>
                <a:latin typeface="Aptos"/>
              </a:rPr>
              <a:t>Save changes</a:t>
            </a:r>
          </a:p>
        </p:txBody>
      </p:sp>
      <p:cxnSp>
        <p:nvCxnSpPr>
          <p:cNvPr id="24" name="Connector 23"/>
          <p:cNvCxnSpPr/>
          <p:nvPr/>
        </p:nvCxnSpPr>
        <p:spPr>
          <a:xfrm>
            <a:off x="2862072" y="2615184"/>
            <a:ext cx="493776"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513832" y="2615184"/>
            <a:ext cx="493776"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165592" y="2615184"/>
            <a:ext cx="493776"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921240" y="3310128"/>
            <a:ext cx="0" cy="667511"/>
          </a:xfrm>
          <a:prstGeom prst="line">
            <a:avLst/>
          </a:prstGeom>
          <a:ln w="25400">
            <a:solidFill>
              <a:srgbClr val="21B6A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1783080" y="3977639"/>
            <a:ext cx="8138160" cy="0"/>
          </a:xfrm>
          <a:prstGeom prst="line">
            <a:avLst/>
          </a:prstGeom>
          <a:ln w="25400">
            <a:solidFill>
              <a:srgbClr val="21B6A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783080" y="3310128"/>
            <a:ext cx="0" cy="667511"/>
          </a:xfrm>
          <a:prstGeom prst="line">
            <a:avLst/>
          </a:prstGeom>
          <a:ln w="25400">
            <a:solidFill>
              <a:srgbClr val="21B6A8"/>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828800" y="4645152"/>
            <a:ext cx="8503920" cy="457200"/>
          </a:xfrm>
          <a:prstGeom prst="rect">
            <a:avLst/>
          </a:prstGeom>
          <a:noFill/>
        </p:spPr>
        <p:txBody>
          <a:bodyPr wrap="square" lIns="18288" rIns="18288" tIns="18288" bIns="18288" anchor="t">
            <a:spAutoFit/>
          </a:bodyPr>
          <a:lstStyle/>
          <a:p>
            <a:pPr algn="ctr">
              <a:spcBef>
                <a:spcPts val="0"/>
              </a:spcBef>
              <a:spcAft>
                <a:spcPts val="200"/>
              </a:spcAft>
            </a:pPr>
            <a:r>
              <a:rPr sz="1700" b="1" i="0">
                <a:solidFill>
                  <a:srgbClr val="1B2740"/>
                </a:solidFill>
                <a:latin typeface="Aptos"/>
              </a:rPr>
              <a:t>Repeat until the player completes a quest, reaches an ending, or decides to stop.</a:t>
            </a:r>
          </a:p>
        </p:txBody>
      </p:sp>
      <p:sp>
        <p:nvSpPr>
          <p:cNvPr id="31" name="Rounded Rectangle 30"/>
          <p:cNvSpPr/>
          <p:nvPr/>
        </p:nvSpPr>
        <p:spPr>
          <a:xfrm>
            <a:off x="1965960" y="5349240"/>
            <a:ext cx="8275320" cy="6583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965960" y="5367527"/>
            <a:ext cx="64008" cy="621792"/>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67128" y="5522976"/>
            <a:ext cx="7909560" cy="384048"/>
          </a:xfrm>
          <a:prstGeom prst="rect">
            <a:avLst/>
          </a:prstGeom>
          <a:noFill/>
        </p:spPr>
        <p:txBody>
          <a:bodyPr wrap="square" lIns="18288" rIns="18288" tIns="18288" bIns="18288" anchor="ctr">
            <a:spAutoFit/>
          </a:bodyPr>
          <a:lstStyle/>
          <a:p>
            <a:pPr algn="l">
              <a:spcBef>
                <a:spcPts val="0"/>
              </a:spcBef>
              <a:spcAft>
                <a:spcPts val="200"/>
              </a:spcAft>
            </a:pPr>
            <a:r>
              <a:rPr sz="1300" b="1" i="0">
                <a:solidFill>
                  <a:srgbClr val="1B2740"/>
                </a:solidFill>
                <a:latin typeface="Aptos"/>
              </a:rPr>
              <a:t>Implementation tip</a:t>
            </a:r>
          </a:p>
        </p:txBody>
      </p:sp>
      <p:sp>
        <p:nvSpPr>
          <p:cNvPr id="34" name="TextBox 33"/>
          <p:cNvSpPr txBox="1"/>
          <p:nvPr/>
        </p:nvSpPr>
        <p:spPr>
          <a:xfrm>
            <a:off x="2176272" y="6062472"/>
            <a:ext cx="7882128" cy="-201167"/>
          </a:xfrm>
          <a:prstGeom prst="rect">
            <a:avLst/>
          </a:prstGeom>
          <a:noFill/>
        </p:spPr>
        <p:txBody>
          <a:bodyPr wrap="square" lIns="18288" rIns="18288" tIns="18288" bIns="18288" anchor="t">
            <a:spAutoFit/>
          </a:bodyPr>
          <a:lstStyle/>
          <a:p>
            <a:pPr algn="l">
              <a:spcBef>
                <a:spcPts val="0"/>
              </a:spcBef>
              <a:spcAft>
                <a:spcPts val="200"/>
              </a:spcAft>
            </a:pPr>
            <a:r>
              <a:rPr sz="1000" b="0" i="0">
                <a:solidFill>
                  <a:srgbClr val="5E6B84"/>
                </a:solidFill>
                <a:latin typeface="Aptos"/>
              </a:rPr>
              <a:t>Store the updated state after each turn instead of trying to recreate the whole game from scratch.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1B6A8"/>
                </a:solidFill>
                <a:latin typeface="Aptos"/>
              </a:rPr>
              <a:t>01 • DUNGEON MASTER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Core modules 1 and 2: story + choices</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The language model writes scenes; the choice handler guides the next action.</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08</a:t>
            </a:r>
          </a:p>
        </p:txBody>
      </p:sp>
      <p:sp>
        <p:nvSpPr>
          <p:cNvPr id="8" name="Rounded Rectangle 7"/>
          <p:cNvSpPr/>
          <p:nvPr/>
        </p:nvSpPr>
        <p:spPr>
          <a:xfrm>
            <a:off x="685800" y="1938528"/>
            <a:ext cx="5029200" cy="19659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56816"/>
            <a:ext cx="64008" cy="1929384"/>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112264"/>
            <a:ext cx="466344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Story Generator</a:t>
            </a:r>
          </a:p>
        </p:txBody>
      </p:sp>
      <p:sp>
        <p:nvSpPr>
          <p:cNvPr id="11" name="TextBox 10"/>
          <p:cNvSpPr txBox="1"/>
          <p:nvPr/>
        </p:nvSpPr>
        <p:spPr>
          <a:xfrm>
            <a:off x="896112" y="2651760"/>
            <a:ext cx="4636008" cy="1106424"/>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Creates descriptions, characters, dialogue, and outcomes from the current situation and the player’s action.</a:t>
            </a:r>
          </a:p>
        </p:txBody>
      </p:sp>
      <p:sp>
        <p:nvSpPr>
          <p:cNvPr id="12" name="Rounded Rectangle 11"/>
          <p:cNvSpPr/>
          <p:nvPr/>
        </p:nvSpPr>
        <p:spPr>
          <a:xfrm>
            <a:off x="6446520" y="1938528"/>
            <a:ext cx="5029200" cy="19659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46520" y="1956816"/>
            <a:ext cx="64008" cy="192938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2112264"/>
            <a:ext cx="466344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Choice Handler</a:t>
            </a:r>
          </a:p>
        </p:txBody>
      </p:sp>
      <p:sp>
        <p:nvSpPr>
          <p:cNvPr id="15" name="TextBox 14"/>
          <p:cNvSpPr txBox="1"/>
          <p:nvPr/>
        </p:nvSpPr>
        <p:spPr>
          <a:xfrm>
            <a:off x="6656832" y="2651760"/>
            <a:ext cx="4636008" cy="1106424"/>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Presents a small set of options and passes the selected option into the next turn.</a:t>
            </a:r>
          </a:p>
        </p:txBody>
      </p:sp>
      <p:cxnSp>
        <p:nvCxnSpPr>
          <p:cNvPr id="16" name="Connector 15"/>
          <p:cNvCxnSpPr/>
          <p:nvPr/>
        </p:nvCxnSpPr>
        <p:spPr>
          <a:xfrm>
            <a:off x="5806440" y="2852928"/>
            <a:ext cx="457200"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2" y="4315968"/>
            <a:ext cx="6492240" cy="1508760"/>
          </a:xfrm>
          <a:prstGeom prst="roundRect">
            <a:avLst/>
          </a:prstGeom>
          <a:solidFill>
            <a:srgbClr val="1C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77824" y="4462272"/>
            <a:ext cx="1426464" cy="292608"/>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494276"/>
            <a:ext cx="1316736" cy="201168"/>
          </a:xfrm>
          <a:prstGeom prst="rect">
            <a:avLst/>
          </a:prstGeom>
          <a:noFill/>
        </p:spPr>
        <p:txBody>
          <a:bodyPr wrap="square" lIns="0" rIns="0" tIns="0" bIns="0" anchor="ctr">
            <a:spAutoFit/>
          </a:bodyPr>
          <a:lstStyle/>
          <a:p>
            <a:pPr algn="ctr">
              <a:spcBef>
                <a:spcPts val="0"/>
              </a:spcBef>
              <a:spcAft>
                <a:spcPts val="200"/>
              </a:spcAft>
            </a:pPr>
            <a:r>
              <a:rPr sz="800" b="1" i="0">
                <a:solidFill>
                  <a:srgbClr val="FFFFFF"/>
                </a:solidFill>
                <a:latin typeface="Aptos"/>
              </a:rPr>
              <a:t>EXAMPLE PROMPT</a:t>
            </a:r>
          </a:p>
        </p:txBody>
      </p:sp>
      <p:sp>
        <p:nvSpPr>
          <p:cNvPr id="20" name="TextBox 19"/>
          <p:cNvSpPr txBox="1"/>
          <p:nvPr/>
        </p:nvSpPr>
        <p:spPr>
          <a:xfrm>
            <a:off x="914400" y="4882896"/>
            <a:ext cx="6089903" cy="795527"/>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F4F6FC"/>
                </a:solidFill>
                <a:latin typeface="Consolas"/>
              </a:rPr>
              <a:t>Player enters a dark cave.</a:t>
            </a:r>
          </a:p>
          <a:p>
            <a:pPr algn="l">
              <a:spcBef>
                <a:spcPts val="0"/>
              </a:spcBef>
              <a:spcAft>
                <a:spcPts val="200"/>
              </a:spcAft>
            </a:pPr>
            <a:r>
              <a:rPr sz="1400" b="0" i="0">
                <a:solidFill>
                  <a:srgbClr val="F4F6FC"/>
                </a:solidFill>
                <a:latin typeface="Consolas"/>
              </a:rPr>
              <a:t>Describe the scene and offer 3 choices.</a:t>
            </a:r>
          </a:p>
        </p:txBody>
      </p:sp>
      <p:sp>
        <p:nvSpPr>
          <p:cNvPr id="21" name="Rounded Rectangle 20"/>
          <p:cNvSpPr/>
          <p:nvPr/>
        </p:nvSpPr>
        <p:spPr>
          <a:xfrm>
            <a:off x="7543800" y="4315968"/>
            <a:ext cx="3794760" cy="15087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43800" y="4334255"/>
            <a:ext cx="64008" cy="147218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44968" y="4489704"/>
            <a:ext cx="3428999" cy="384048"/>
          </a:xfrm>
          <a:prstGeom prst="rect">
            <a:avLst/>
          </a:prstGeom>
          <a:noFill/>
        </p:spPr>
        <p:txBody>
          <a:bodyPr wrap="square" lIns="18288" rIns="18288" tIns="18288" bIns="18288" anchor="ctr">
            <a:spAutoFit/>
          </a:bodyPr>
          <a:lstStyle/>
          <a:p>
            <a:pPr algn="l">
              <a:spcBef>
                <a:spcPts val="0"/>
              </a:spcBef>
              <a:spcAft>
                <a:spcPts val="200"/>
              </a:spcAft>
            </a:pPr>
            <a:r>
              <a:rPr sz="1500" b="1" i="0">
                <a:solidFill>
                  <a:srgbClr val="1B2740"/>
                </a:solidFill>
                <a:latin typeface="Aptos"/>
              </a:rPr>
              <a:t>Good prompt details</a:t>
            </a:r>
          </a:p>
        </p:txBody>
      </p:sp>
      <p:sp>
        <p:nvSpPr>
          <p:cNvPr id="24" name="TextBox 23"/>
          <p:cNvSpPr txBox="1"/>
          <p:nvPr/>
        </p:nvSpPr>
        <p:spPr>
          <a:xfrm>
            <a:off x="7754112" y="5029200"/>
            <a:ext cx="3401568" cy="649224"/>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Current location</a:t>
            </a:r>
          </a:p>
          <a:p>
            <a:pPr algn="l">
              <a:spcBef>
                <a:spcPts val="0"/>
              </a:spcBef>
              <a:spcAft>
                <a:spcPts val="200"/>
              </a:spcAft>
            </a:pPr>
            <a:r>
              <a:rPr sz="1200" b="0" i="0">
                <a:solidFill>
                  <a:srgbClr val="5E6B84"/>
                </a:solidFill>
                <a:latin typeface="Aptos"/>
              </a:rPr>
              <a:t>What just happened</a:t>
            </a:r>
          </a:p>
          <a:p>
            <a:pPr algn="l">
              <a:spcBef>
                <a:spcPts val="0"/>
              </a:spcBef>
              <a:spcAft>
                <a:spcPts val="200"/>
              </a:spcAft>
            </a:pPr>
            <a:r>
              <a:rPr sz="1200" b="0" i="0">
                <a:solidFill>
                  <a:srgbClr val="5E6B84"/>
                </a:solidFill>
                <a:latin typeface="Aptos"/>
              </a:rPr>
              <a:t>Character facts</a:t>
            </a:r>
          </a:p>
          <a:p>
            <a:pPr algn="l">
              <a:spcBef>
                <a:spcPts val="0"/>
              </a:spcBef>
              <a:spcAft>
                <a:spcPts val="200"/>
              </a:spcAft>
            </a:pPr>
            <a:r>
              <a:rPr sz="1200" b="0" i="0">
                <a:solidFill>
                  <a:srgbClr val="5E6B84"/>
                </a:solidFill>
                <a:latin typeface="Aptos"/>
              </a:rPr>
              <a:t>Requested number of choices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1B6A8"/>
                </a:solidFill>
                <a:latin typeface="Aptos"/>
              </a:rPr>
              <a:t>01 • DUNGEON MASTER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Core modules 3 and 4: character + memory</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Personal details and saved game state help the story stay consistent.</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09</a:t>
            </a:r>
          </a:p>
        </p:txBody>
      </p:sp>
      <p:sp>
        <p:nvSpPr>
          <p:cNvPr id="8" name="Rounded Rectangle 7"/>
          <p:cNvSpPr/>
          <p:nvPr/>
        </p:nvSpPr>
        <p:spPr>
          <a:xfrm>
            <a:off x="685800" y="1920240"/>
            <a:ext cx="5166360" cy="324612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38528"/>
            <a:ext cx="64008" cy="320954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093976"/>
            <a:ext cx="4800600" cy="384048"/>
          </a:xfrm>
          <a:prstGeom prst="rect">
            <a:avLst/>
          </a:prstGeom>
          <a:noFill/>
        </p:spPr>
        <p:txBody>
          <a:bodyPr wrap="square" lIns="18288" rIns="18288" tIns="18288" bIns="18288" anchor="ctr">
            <a:spAutoFit/>
          </a:bodyPr>
          <a:lstStyle/>
          <a:p>
            <a:pPr algn="l">
              <a:spcBef>
                <a:spcPts val="0"/>
              </a:spcBef>
              <a:spcAft>
                <a:spcPts val="200"/>
              </a:spcAft>
            </a:pPr>
            <a:r>
              <a:rPr sz="1900" b="1" i="0">
                <a:solidFill>
                  <a:srgbClr val="1B2740"/>
                </a:solidFill>
                <a:latin typeface="Aptos"/>
              </a:rPr>
              <a:t>Character Builder</a:t>
            </a:r>
          </a:p>
        </p:txBody>
      </p:sp>
      <p:sp>
        <p:nvSpPr>
          <p:cNvPr id="11" name="TextBox 10"/>
          <p:cNvSpPr txBox="1"/>
          <p:nvPr/>
        </p:nvSpPr>
        <p:spPr>
          <a:xfrm>
            <a:off x="896112" y="2633472"/>
            <a:ext cx="4773168" cy="2386584"/>
          </a:xfrm>
          <a:prstGeom prst="rect">
            <a:avLst/>
          </a:prstGeom>
          <a:noFill/>
        </p:spPr>
        <p:txBody>
          <a:bodyPr wrap="square" lIns="18288" rIns="18288" tIns="18288" bIns="18288" anchor="t">
            <a:spAutoFit/>
          </a:bodyPr>
          <a:lstStyle/>
          <a:p>
            <a:pPr algn="l">
              <a:spcBef>
                <a:spcPts val="0"/>
              </a:spcBef>
              <a:spcAft>
                <a:spcPts val="200"/>
              </a:spcAft>
            </a:pPr>
            <a:r>
              <a:rPr sz="1500" b="0" i="0">
                <a:solidFill>
                  <a:srgbClr val="5E6B84"/>
                </a:solidFill>
                <a:latin typeface="Aptos"/>
              </a:rPr>
              <a:t>Collects the player’s starting details through a form.</a:t>
            </a:r>
          </a:p>
          <a:p>
            <a:pPr algn="l">
              <a:spcBef>
                <a:spcPts val="0"/>
              </a:spcBef>
              <a:spcAft>
                <a:spcPts val="200"/>
              </a:spcAft>
            </a:pPr>
          </a:p>
          <a:p>
            <a:pPr algn="l">
              <a:spcBef>
                <a:spcPts val="0"/>
              </a:spcBef>
              <a:spcAft>
                <a:spcPts val="200"/>
              </a:spcAft>
            </a:pPr>
            <a:r>
              <a:rPr sz="1500" b="0" i="0">
                <a:solidFill>
                  <a:srgbClr val="5E6B84"/>
                </a:solidFill>
                <a:latin typeface="Aptos"/>
              </a:rPr>
              <a:t>• Name</a:t>
            </a:r>
          </a:p>
          <a:p>
            <a:pPr algn="l">
              <a:spcBef>
                <a:spcPts val="0"/>
              </a:spcBef>
              <a:spcAft>
                <a:spcPts val="200"/>
              </a:spcAft>
            </a:pPr>
            <a:r>
              <a:rPr sz="1500" b="0" i="0">
                <a:solidFill>
                  <a:srgbClr val="5E6B84"/>
                </a:solidFill>
                <a:latin typeface="Aptos"/>
              </a:rPr>
              <a:t>• Race or character type</a:t>
            </a:r>
          </a:p>
          <a:p>
            <a:pPr algn="l">
              <a:spcBef>
                <a:spcPts val="0"/>
              </a:spcBef>
              <a:spcAft>
                <a:spcPts val="200"/>
              </a:spcAft>
            </a:pPr>
            <a:r>
              <a:rPr sz="1500" b="0" i="0">
                <a:solidFill>
                  <a:srgbClr val="5E6B84"/>
                </a:solidFill>
                <a:latin typeface="Aptos"/>
              </a:rPr>
              <a:t>• Class or role</a:t>
            </a:r>
          </a:p>
          <a:p>
            <a:pPr algn="l">
              <a:spcBef>
                <a:spcPts val="0"/>
              </a:spcBef>
              <a:spcAft>
                <a:spcPts val="200"/>
              </a:spcAft>
            </a:pPr>
            <a:r>
              <a:rPr sz="1500" b="0" i="0">
                <a:solidFill>
                  <a:srgbClr val="5E6B84"/>
                </a:solidFill>
                <a:latin typeface="Aptos"/>
              </a:rPr>
              <a:t>• Stats or abilities</a:t>
            </a:r>
          </a:p>
        </p:txBody>
      </p:sp>
      <p:sp>
        <p:nvSpPr>
          <p:cNvPr id="12" name="Rounded Rectangle 11"/>
          <p:cNvSpPr/>
          <p:nvPr/>
        </p:nvSpPr>
        <p:spPr>
          <a:xfrm>
            <a:off x="6355080" y="1920240"/>
            <a:ext cx="5166360" cy="324612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1938528"/>
            <a:ext cx="64008" cy="3209544"/>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6248" y="2093976"/>
            <a:ext cx="4800600" cy="384048"/>
          </a:xfrm>
          <a:prstGeom prst="rect">
            <a:avLst/>
          </a:prstGeom>
          <a:noFill/>
        </p:spPr>
        <p:txBody>
          <a:bodyPr wrap="square" lIns="18288" rIns="18288" tIns="18288" bIns="18288" anchor="ctr">
            <a:spAutoFit/>
          </a:bodyPr>
          <a:lstStyle/>
          <a:p>
            <a:pPr algn="l">
              <a:spcBef>
                <a:spcPts val="0"/>
              </a:spcBef>
              <a:spcAft>
                <a:spcPts val="200"/>
              </a:spcAft>
            </a:pPr>
            <a:r>
              <a:rPr sz="1900" b="1" i="0">
                <a:solidFill>
                  <a:srgbClr val="1B2740"/>
                </a:solidFill>
                <a:latin typeface="Aptos"/>
              </a:rPr>
              <a:t>Game State Memory</a:t>
            </a:r>
          </a:p>
        </p:txBody>
      </p:sp>
      <p:sp>
        <p:nvSpPr>
          <p:cNvPr id="15" name="TextBox 14"/>
          <p:cNvSpPr txBox="1"/>
          <p:nvPr/>
        </p:nvSpPr>
        <p:spPr>
          <a:xfrm>
            <a:off x="6565392" y="2633472"/>
            <a:ext cx="4773168" cy="2386584"/>
          </a:xfrm>
          <a:prstGeom prst="rect">
            <a:avLst/>
          </a:prstGeom>
          <a:noFill/>
        </p:spPr>
        <p:txBody>
          <a:bodyPr wrap="square" lIns="18288" rIns="18288" tIns="18288" bIns="18288" anchor="t">
            <a:spAutoFit/>
          </a:bodyPr>
          <a:lstStyle/>
          <a:p>
            <a:pPr algn="l">
              <a:spcBef>
                <a:spcPts val="0"/>
              </a:spcBef>
              <a:spcAft>
                <a:spcPts val="200"/>
              </a:spcAft>
            </a:pPr>
            <a:r>
              <a:rPr sz="1500" b="0" i="0">
                <a:solidFill>
                  <a:srgbClr val="5E6B84"/>
                </a:solidFill>
                <a:latin typeface="Aptos"/>
              </a:rPr>
              <a:t>Stores changing details during play.</a:t>
            </a:r>
          </a:p>
          <a:p>
            <a:pPr algn="l">
              <a:spcBef>
                <a:spcPts val="0"/>
              </a:spcBef>
              <a:spcAft>
                <a:spcPts val="200"/>
              </a:spcAft>
            </a:pPr>
          </a:p>
          <a:p>
            <a:pPr algn="l">
              <a:spcBef>
                <a:spcPts val="0"/>
              </a:spcBef>
              <a:spcAft>
                <a:spcPts val="200"/>
              </a:spcAft>
            </a:pPr>
            <a:r>
              <a:rPr sz="1500" b="0" i="0">
                <a:solidFill>
                  <a:srgbClr val="5E6B84"/>
                </a:solidFill>
                <a:latin typeface="Aptos"/>
              </a:rPr>
              <a:t>• Current stats</a:t>
            </a:r>
          </a:p>
          <a:p>
            <a:pPr algn="l">
              <a:spcBef>
                <a:spcPts val="0"/>
              </a:spcBef>
              <a:spcAft>
                <a:spcPts val="200"/>
              </a:spcAft>
            </a:pPr>
            <a:r>
              <a:rPr sz="1500" b="0" i="0">
                <a:solidFill>
                  <a:srgbClr val="5E6B84"/>
                </a:solidFill>
                <a:latin typeface="Aptos"/>
              </a:rPr>
              <a:t>• Inventory and items</a:t>
            </a:r>
          </a:p>
          <a:p>
            <a:pPr algn="l">
              <a:spcBef>
                <a:spcPts val="0"/>
              </a:spcBef>
              <a:spcAft>
                <a:spcPts val="200"/>
              </a:spcAft>
            </a:pPr>
            <a:r>
              <a:rPr sz="1500" b="0" i="0">
                <a:solidFill>
                  <a:srgbClr val="5E6B84"/>
                </a:solidFill>
                <a:latin typeface="Aptos"/>
              </a:rPr>
              <a:t>• Completed quests</a:t>
            </a:r>
          </a:p>
          <a:p>
            <a:pPr algn="l">
              <a:spcBef>
                <a:spcPts val="0"/>
              </a:spcBef>
              <a:spcAft>
                <a:spcPts val="200"/>
              </a:spcAft>
            </a:pPr>
            <a:r>
              <a:rPr sz="1500" b="0" i="0">
                <a:solidFill>
                  <a:srgbClr val="5E6B84"/>
                </a:solidFill>
                <a:latin typeface="Aptos"/>
              </a:rPr>
              <a:t>• Recent events or decisions</a:t>
            </a:r>
          </a:p>
        </p:txBody>
      </p:sp>
      <p:sp>
        <p:nvSpPr>
          <p:cNvPr id="16" name="Rounded Rectangle 15"/>
          <p:cNvSpPr/>
          <p:nvPr/>
        </p:nvSpPr>
        <p:spPr>
          <a:xfrm>
            <a:off x="914400" y="4736592"/>
            <a:ext cx="201168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4768596"/>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3856F"/>
                </a:solidFill>
                <a:latin typeface="Aptos"/>
              </a:rPr>
              <a:t>FORM / USER INTERFACE</a:t>
            </a:r>
          </a:p>
        </p:txBody>
      </p:sp>
      <p:sp>
        <p:nvSpPr>
          <p:cNvPr id="18" name="Rounded Rectangle 17"/>
          <p:cNvSpPr/>
          <p:nvPr/>
        </p:nvSpPr>
        <p:spPr>
          <a:xfrm>
            <a:off x="6583680" y="4736592"/>
            <a:ext cx="1828800" cy="292608"/>
          </a:xfrm>
          <a:prstGeom prst="roundRect">
            <a:avLst/>
          </a:prstGeom>
          <a:solidFill>
            <a:srgbClr val="EEE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38544" y="4768596"/>
            <a:ext cx="171907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6145B8"/>
                </a:solidFill>
                <a:latin typeface="Aptos"/>
              </a:rPr>
              <a:t>DATABASE / MEMORY</a:t>
            </a:r>
          </a:p>
        </p:txBody>
      </p:sp>
      <p:sp>
        <p:nvSpPr>
          <p:cNvPr id="20" name="TextBox 19"/>
          <p:cNvSpPr txBox="1"/>
          <p:nvPr/>
        </p:nvSpPr>
        <p:spPr>
          <a:xfrm>
            <a:off x="713232" y="5532120"/>
            <a:ext cx="10789920" cy="347472"/>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Possible storage options in the source idea: Firebase, SQLite, or a memory framework such as LangChain.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1B6A8"/>
                </a:solidFill>
                <a:latin typeface="Aptos"/>
              </a:rPr>
              <a:t>01 • DUNGEON MASTER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Optional feature: a virtual dice roller</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Use randomness when the result should not be guaranteed.</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10</a:t>
            </a:r>
          </a:p>
        </p:txBody>
      </p:sp>
      <p:sp>
        <p:nvSpPr>
          <p:cNvPr id="8" name="Rounded Rectangle 7"/>
          <p:cNvSpPr/>
          <p:nvPr/>
        </p:nvSpPr>
        <p:spPr>
          <a:xfrm>
            <a:off x="841248" y="1938528"/>
            <a:ext cx="2834640" cy="2834640"/>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iamond 8"/>
          <p:cNvSpPr/>
          <p:nvPr/>
        </p:nvSpPr>
        <p:spPr>
          <a:xfrm>
            <a:off x="1600200" y="2496312"/>
            <a:ext cx="1298448" cy="1298448"/>
          </a:xfrm>
          <a:prstGeom prst="diamond">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28216" y="2898648"/>
            <a:ext cx="1051560" cy="384048"/>
          </a:xfrm>
          <a:prstGeom prst="rect">
            <a:avLst/>
          </a:prstGeom>
          <a:noFill/>
        </p:spPr>
        <p:txBody>
          <a:bodyPr wrap="square" lIns="18288" rIns="18288" tIns="18288" bIns="18288" anchor="ctr">
            <a:spAutoFit/>
          </a:bodyPr>
          <a:lstStyle/>
          <a:p>
            <a:pPr algn="ctr">
              <a:spcBef>
                <a:spcPts val="0"/>
              </a:spcBef>
              <a:spcAft>
                <a:spcPts val="200"/>
              </a:spcAft>
            </a:pPr>
            <a:r>
              <a:rPr sz="2400" b="1" i="0">
                <a:solidFill>
                  <a:srgbClr val="FFFFFF"/>
                </a:solidFill>
                <a:latin typeface="Aptos"/>
              </a:rPr>
              <a:t>D20</a:t>
            </a:r>
          </a:p>
        </p:txBody>
      </p:sp>
      <p:sp>
        <p:nvSpPr>
          <p:cNvPr id="11" name="Rounded Rectangle 10"/>
          <p:cNvSpPr/>
          <p:nvPr/>
        </p:nvSpPr>
        <p:spPr>
          <a:xfrm>
            <a:off x="4160520" y="1938528"/>
            <a:ext cx="3291840" cy="12344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60520" y="1956816"/>
            <a:ext cx="64008" cy="119786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61688" y="2112264"/>
            <a:ext cx="2926080" cy="384048"/>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Example: persuade a guard</a:t>
            </a:r>
          </a:p>
        </p:txBody>
      </p:sp>
      <p:sp>
        <p:nvSpPr>
          <p:cNvPr id="14" name="TextBox 13"/>
          <p:cNvSpPr txBox="1"/>
          <p:nvPr/>
        </p:nvSpPr>
        <p:spPr>
          <a:xfrm>
            <a:off x="4370832" y="2651760"/>
            <a:ext cx="2898648" cy="374904"/>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The player tries to talk past a guard. The game rolls a 20-sided die.</a:t>
            </a:r>
          </a:p>
        </p:txBody>
      </p:sp>
      <p:sp>
        <p:nvSpPr>
          <p:cNvPr id="15" name="Rounded Rectangle 14"/>
          <p:cNvSpPr/>
          <p:nvPr/>
        </p:nvSpPr>
        <p:spPr>
          <a:xfrm>
            <a:off x="7818120" y="1938528"/>
            <a:ext cx="3429000" cy="12344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1956816"/>
            <a:ext cx="64008" cy="1197864"/>
          </a:xfrm>
          <a:prstGeom prst="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19288" y="2112264"/>
            <a:ext cx="3063239" cy="384048"/>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Low roll</a:t>
            </a:r>
          </a:p>
        </p:txBody>
      </p:sp>
      <p:sp>
        <p:nvSpPr>
          <p:cNvPr id="18" name="TextBox 17"/>
          <p:cNvSpPr txBox="1"/>
          <p:nvPr/>
        </p:nvSpPr>
        <p:spPr>
          <a:xfrm>
            <a:off x="8028432" y="2651760"/>
            <a:ext cx="3035808" cy="374904"/>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The guard is suspicious and asks another question.</a:t>
            </a:r>
          </a:p>
        </p:txBody>
      </p:sp>
      <p:sp>
        <p:nvSpPr>
          <p:cNvPr id="19" name="Rounded Rectangle 18"/>
          <p:cNvSpPr/>
          <p:nvPr/>
        </p:nvSpPr>
        <p:spPr>
          <a:xfrm>
            <a:off x="4160520" y="3566160"/>
            <a:ext cx="3291840" cy="12344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60520" y="3584448"/>
            <a:ext cx="64008" cy="1197864"/>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61688" y="3739896"/>
            <a:ext cx="2926080" cy="384048"/>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High roll</a:t>
            </a:r>
          </a:p>
        </p:txBody>
      </p:sp>
      <p:sp>
        <p:nvSpPr>
          <p:cNvPr id="22" name="TextBox 21"/>
          <p:cNvSpPr txBox="1"/>
          <p:nvPr/>
        </p:nvSpPr>
        <p:spPr>
          <a:xfrm>
            <a:off x="4370832" y="4279392"/>
            <a:ext cx="2898648" cy="374904"/>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The guard believes the explanation and opens the gate.</a:t>
            </a:r>
          </a:p>
        </p:txBody>
      </p:sp>
      <p:sp>
        <p:nvSpPr>
          <p:cNvPr id="23" name="Rounded Rectangle 22"/>
          <p:cNvSpPr/>
          <p:nvPr/>
        </p:nvSpPr>
        <p:spPr>
          <a:xfrm>
            <a:off x="7818120" y="3566160"/>
            <a:ext cx="3429000" cy="12344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18120" y="3584448"/>
            <a:ext cx="64008" cy="1197864"/>
          </a:xfrm>
          <a:prstGeom prst="rect">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19288" y="3739896"/>
            <a:ext cx="3063239" cy="384048"/>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Why it helps</a:t>
            </a:r>
          </a:p>
        </p:txBody>
      </p:sp>
      <p:sp>
        <p:nvSpPr>
          <p:cNvPr id="26" name="TextBox 25"/>
          <p:cNvSpPr txBox="1"/>
          <p:nvPr/>
        </p:nvSpPr>
        <p:spPr>
          <a:xfrm>
            <a:off x="8028432" y="4279392"/>
            <a:ext cx="3035808" cy="374904"/>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The outcome is not always predictable, adding variety to play.</a:t>
            </a:r>
          </a:p>
        </p:txBody>
      </p:sp>
      <p:sp>
        <p:nvSpPr>
          <p:cNvPr id="27" name="TextBox 26"/>
          <p:cNvSpPr txBox="1"/>
          <p:nvPr/>
        </p:nvSpPr>
        <p:spPr>
          <a:xfrm>
            <a:off x="868680" y="5321808"/>
            <a:ext cx="10424160" cy="365760"/>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A D20 is a 20-sided die. The application can use the number with simple rules to decide an outcome.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1B6A8"/>
                </a:solidFill>
                <a:latin typeface="Aptos"/>
              </a:rPr>
              <a:t>01 • DUNGEON MASTER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Possible technology stack</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These are choices from the project idea, not a requirement to use every tool.</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11</a:t>
            </a:r>
          </a:p>
        </p:txBody>
      </p:sp>
      <p:sp>
        <p:nvSpPr>
          <p:cNvPr id="8" name="Rounded Rectangle 7"/>
          <p:cNvSpPr/>
          <p:nvPr/>
        </p:nvSpPr>
        <p:spPr>
          <a:xfrm>
            <a:off x="777240" y="1993391"/>
            <a:ext cx="1417320" cy="292608"/>
          </a:xfrm>
          <a:prstGeom prst="roundRect">
            <a:avLst/>
          </a:prstGeom>
          <a:solidFill>
            <a:srgbClr val="EEE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3" y="2025395"/>
            <a:ext cx="130759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8A70E8"/>
                </a:solidFill>
                <a:latin typeface="Aptos"/>
              </a:rPr>
              <a:t>AI / TEXT</a:t>
            </a:r>
          </a:p>
        </p:txBody>
      </p:sp>
      <p:sp>
        <p:nvSpPr>
          <p:cNvPr id="10" name="TextBox 9"/>
          <p:cNvSpPr txBox="1"/>
          <p:nvPr/>
        </p:nvSpPr>
        <p:spPr>
          <a:xfrm>
            <a:off x="2468880" y="1929384"/>
            <a:ext cx="3931920" cy="320040"/>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GPT-4 API or another language model</a:t>
            </a:r>
          </a:p>
        </p:txBody>
      </p:sp>
      <p:sp>
        <p:nvSpPr>
          <p:cNvPr id="11" name="TextBox 10"/>
          <p:cNvSpPr txBox="1"/>
          <p:nvPr/>
        </p:nvSpPr>
        <p:spPr>
          <a:xfrm>
            <a:off x="6537960" y="1938527"/>
            <a:ext cx="4663440" cy="310896"/>
          </a:xfrm>
          <a:prstGeom prst="rect">
            <a:avLst/>
          </a:prstGeom>
          <a:noFill/>
        </p:spPr>
        <p:txBody>
          <a:bodyPr wrap="square" lIns="18288" rIns="18288" tIns="18288" bIns="18288" anchor="ctr">
            <a:spAutoFit/>
          </a:bodyPr>
          <a:lstStyle/>
          <a:p>
            <a:pPr algn="l">
              <a:spcBef>
                <a:spcPts val="0"/>
              </a:spcBef>
              <a:spcAft>
                <a:spcPts val="200"/>
              </a:spcAft>
            </a:pPr>
            <a:r>
              <a:rPr sz="1300" b="0" i="0">
                <a:solidFill>
                  <a:srgbClr val="5E6B84"/>
                </a:solidFill>
                <a:latin typeface="Aptos"/>
              </a:rPr>
              <a:t>Writes scenes and responses</a:t>
            </a:r>
          </a:p>
        </p:txBody>
      </p:sp>
      <p:sp>
        <p:nvSpPr>
          <p:cNvPr id="12" name="Rectangle 11"/>
          <p:cNvSpPr/>
          <p:nvPr/>
        </p:nvSpPr>
        <p:spPr>
          <a:xfrm>
            <a:off x="777240" y="2542032"/>
            <a:ext cx="10561320" cy="10972"/>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77240" y="2779775"/>
            <a:ext cx="141732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3" y="2811779"/>
            <a:ext cx="130759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1B6A8"/>
                </a:solidFill>
                <a:latin typeface="Aptos"/>
              </a:rPr>
              <a:t>APP UI</a:t>
            </a:r>
          </a:p>
        </p:txBody>
      </p:sp>
      <p:sp>
        <p:nvSpPr>
          <p:cNvPr id="15" name="TextBox 14"/>
          <p:cNvSpPr txBox="1"/>
          <p:nvPr/>
        </p:nvSpPr>
        <p:spPr>
          <a:xfrm>
            <a:off x="2468880" y="2715768"/>
            <a:ext cx="3931920" cy="320040"/>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Streamlit, Flask, or React</a:t>
            </a:r>
          </a:p>
        </p:txBody>
      </p:sp>
      <p:sp>
        <p:nvSpPr>
          <p:cNvPr id="16" name="TextBox 15"/>
          <p:cNvSpPr txBox="1"/>
          <p:nvPr/>
        </p:nvSpPr>
        <p:spPr>
          <a:xfrm>
            <a:off x="6537960" y="2724911"/>
            <a:ext cx="4663440" cy="310896"/>
          </a:xfrm>
          <a:prstGeom prst="rect">
            <a:avLst/>
          </a:prstGeom>
          <a:noFill/>
        </p:spPr>
        <p:txBody>
          <a:bodyPr wrap="square" lIns="18288" rIns="18288" tIns="18288" bIns="18288" anchor="ctr">
            <a:spAutoFit/>
          </a:bodyPr>
          <a:lstStyle/>
          <a:p>
            <a:pPr algn="l">
              <a:spcBef>
                <a:spcPts val="0"/>
              </a:spcBef>
              <a:spcAft>
                <a:spcPts val="200"/>
              </a:spcAft>
            </a:pPr>
            <a:r>
              <a:rPr sz="1300" b="0" i="0">
                <a:solidFill>
                  <a:srgbClr val="5E6B84"/>
                </a:solidFill>
                <a:latin typeface="Aptos"/>
              </a:rPr>
              <a:t>Collects input and shows choices</a:t>
            </a:r>
          </a:p>
        </p:txBody>
      </p:sp>
      <p:sp>
        <p:nvSpPr>
          <p:cNvPr id="17" name="Rectangle 16"/>
          <p:cNvSpPr/>
          <p:nvPr/>
        </p:nvSpPr>
        <p:spPr>
          <a:xfrm>
            <a:off x="777240" y="3328415"/>
            <a:ext cx="10561320" cy="10972"/>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7240" y="3566159"/>
            <a:ext cx="1417320" cy="29260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3" y="3598163"/>
            <a:ext cx="130759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B45E"/>
                </a:solidFill>
                <a:latin typeface="Aptos"/>
              </a:rPr>
              <a:t>MEMORY</a:t>
            </a:r>
          </a:p>
        </p:txBody>
      </p:sp>
      <p:sp>
        <p:nvSpPr>
          <p:cNvPr id="20" name="TextBox 19"/>
          <p:cNvSpPr txBox="1"/>
          <p:nvPr/>
        </p:nvSpPr>
        <p:spPr>
          <a:xfrm>
            <a:off x="2468880" y="3502151"/>
            <a:ext cx="3931920" cy="320040"/>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Firebase or SQLite</a:t>
            </a:r>
          </a:p>
        </p:txBody>
      </p:sp>
      <p:sp>
        <p:nvSpPr>
          <p:cNvPr id="21" name="TextBox 20"/>
          <p:cNvSpPr txBox="1"/>
          <p:nvPr/>
        </p:nvSpPr>
        <p:spPr>
          <a:xfrm>
            <a:off x="6537960" y="3511295"/>
            <a:ext cx="4663440" cy="310896"/>
          </a:xfrm>
          <a:prstGeom prst="rect">
            <a:avLst/>
          </a:prstGeom>
          <a:noFill/>
        </p:spPr>
        <p:txBody>
          <a:bodyPr wrap="square" lIns="18288" rIns="18288" tIns="18288" bIns="18288" anchor="ctr">
            <a:spAutoFit/>
          </a:bodyPr>
          <a:lstStyle/>
          <a:p>
            <a:pPr algn="l">
              <a:spcBef>
                <a:spcPts val="0"/>
              </a:spcBef>
              <a:spcAft>
                <a:spcPts val="200"/>
              </a:spcAft>
            </a:pPr>
            <a:r>
              <a:rPr sz="1300" b="0" i="0">
                <a:solidFill>
                  <a:srgbClr val="5E6B84"/>
                </a:solidFill>
                <a:latin typeface="Aptos"/>
              </a:rPr>
              <a:t>Saves character and quest data</a:t>
            </a:r>
          </a:p>
        </p:txBody>
      </p:sp>
      <p:sp>
        <p:nvSpPr>
          <p:cNvPr id="22" name="Rectangle 21"/>
          <p:cNvSpPr/>
          <p:nvPr/>
        </p:nvSpPr>
        <p:spPr>
          <a:xfrm>
            <a:off x="777240" y="4114800"/>
            <a:ext cx="10561320" cy="10972"/>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4352544"/>
            <a:ext cx="141732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4384548"/>
            <a:ext cx="130759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5676F5"/>
                </a:solidFill>
                <a:latin typeface="Aptos"/>
              </a:rPr>
              <a:t>CONTEXT</a:t>
            </a:r>
          </a:p>
        </p:txBody>
      </p:sp>
      <p:sp>
        <p:nvSpPr>
          <p:cNvPr id="25" name="TextBox 24"/>
          <p:cNvSpPr txBox="1"/>
          <p:nvPr/>
        </p:nvSpPr>
        <p:spPr>
          <a:xfrm>
            <a:off x="2468880" y="4288536"/>
            <a:ext cx="3931920" cy="320040"/>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LangChain Memory (optional)</a:t>
            </a:r>
          </a:p>
        </p:txBody>
      </p:sp>
      <p:sp>
        <p:nvSpPr>
          <p:cNvPr id="26" name="TextBox 25"/>
          <p:cNvSpPr txBox="1"/>
          <p:nvPr/>
        </p:nvSpPr>
        <p:spPr>
          <a:xfrm>
            <a:off x="6537960" y="4297680"/>
            <a:ext cx="4663440" cy="310896"/>
          </a:xfrm>
          <a:prstGeom prst="rect">
            <a:avLst/>
          </a:prstGeom>
          <a:noFill/>
        </p:spPr>
        <p:txBody>
          <a:bodyPr wrap="square" lIns="18288" rIns="18288" tIns="18288" bIns="18288" anchor="ctr">
            <a:spAutoFit/>
          </a:bodyPr>
          <a:lstStyle/>
          <a:p>
            <a:pPr algn="l">
              <a:spcBef>
                <a:spcPts val="0"/>
              </a:spcBef>
              <a:spcAft>
                <a:spcPts val="200"/>
              </a:spcAft>
            </a:pPr>
            <a:r>
              <a:rPr sz="1300" b="0" i="0">
                <a:solidFill>
                  <a:srgbClr val="5E6B84"/>
                </a:solidFill>
                <a:latin typeface="Aptos"/>
              </a:rPr>
              <a:t>Helps manage conversation context</a:t>
            </a:r>
          </a:p>
        </p:txBody>
      </p:sp>
      <p:sp>
        <p:nvSpPr>
          <p:cNvPr id="27" name="Rectangle 26"/>
          <p:cNvSpPr/>
          <p:nvPr/>
        </p:nvSpPr>
        <p:spPr>
          <a:xfrm>
            <a:off x="777240" y="4901183"/>
            <a:ext cx="10561320" cy="10972"/>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7240" y="5138928"/>
            <a:ext cx="1417320" cy="292608"/>
          </a:xfrm>
          <a:prstGeom prst="round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3" y="5170932"/>
            <a:ext cx="130759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17C9A"/>
                </a:solidFill>
                <a:latin typeface="Aptos"/>
              </a:rPr>
              <a:t>VOICE</a:t>
            </a:r>
          </a:p>
        </p:txBody>
      </p:sp>
      <p:sp>
        <p:nvSpPr>
          <p:cNvPr id="30" name="TextBox 29"/>
          <p:cNvSpPr txBox="1"/>
          <p:nvPr/>
        </p:nvSpPr>
        <p:spPr>
          <a:xfrm>
            <a:off x="2468880" y="5074920"/>
            <a:ext cx="3931920" cy="320040"/>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Text-to-speech (optional)</a:t>
            </a:r>
          </a:p>
        </p:txBody>
      </p:sp>
      <p:sp>
        <p:nvSpPr>
          <p:cNvPr id="31" name="TextBox 30"/>
          <p:cNvSpPr txBox="1"/>
          <p:nvPr/>
        </p:nvSpPr>
        <p:spPr>
          <a:xfrm>
            <a:off x="6537960" y="5084064"/>
            <a:ext cx="4663440" cy="310896"/>
          </a:xfrm>
          <a:prstGeom prst="rect">
            <a:avLst/>
          </a:prstGeom>
          <a:noFill/>
        </p:spPr>
        <p:txBody>
          <a:bodyPr wrap="square" lIns="18288" rIns="18288" tIns="18288" bIns="18288" anchor="ctr">
            <a:spAutoFit/>
          </a:bodyPr>
          <a:lstStyle/>
          <a:p>
            <a:pPr algn="l">
              <a:spcBef>
                <a:spcPts val="0"/>
              </a:spcBef>
              <a:spcAft>
                <a:spcPts val="200"/>
              </a:spcAft>
            </a:pPr>
            <a:r>
              <a:rPr sz="1300" b="0" i="0">
                <a:solidFill>
                  <a:srgbClr val="5E6B84"/>
                </a:solidFill>
                <a:latin typeface="Aptos"/>
              </a:rPr>
              <a:t>Reads scenes aloud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1B6A8"/>
                </a:solidFill>
                <a:latin typeface="Aptos"/>
              </a:rPr>
              <a:t>01 • DUNGEON MASTER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Extensions, challenges, and a sensible first version</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The best first version is playable, even without advanced extras.</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12</a:t>
            </a:r>
          </a:p>
        </p:txBody>
      </p:sp>
      <p:sp>
        <p:nvSpPr>
          <p:cNvPr id="8" name="Rounded Rectangle 7"/>
          <p:cNvSpPr/>
          <p:nvPr/>
        </p:nvSpPr>
        <p:spPr>
          <a:xfrm>
            <a:off x="685800" y="1901952"/>
            <a:ext cx="3429000" cy="19202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20240"/>
            <a:ext cx="64008" cy="188366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075688"/>
            <a:ext cx="306324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First version</a:t>
            </a:r>
          </a:p>
        </p:txBody>
      </p:sp>
      <p:sp>
        <p:nvSpPr>
          <p:cNvPr id="11" name="TextBox 10"/>
          <p:cNvSpPr txBox="1"/>
          <p:nvPr/>
        </p:nvSpPr>
        <p:spPr>
          <a:xfrm>
            <a:off x="896112" y="2615184"/>
            <a:ext cx="3035808" cy="1060704"/>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Typed actions</a:t>
            </a:r>
          </a:p>
          <a:p>
            <a:pPr algn="l">
              <a:spcBef>
                <a:spcPts val="0"/>
              </a:spcBef>
              <a:spcAft>
                <a:spcPts val="200"/>
              </a:spcAft>
            </a:pPr>
            <a:r>
              <a:rPr sz="1400" b="0" i="0">
                <a:solidFill>
                  <a:srgbClr val="5E6B84"/>
                </a:solidFill>
                <a:latin typeface="Aptos"/>
              </a:rPr>
              <a:t>Character form</a:t>
            </a:r>
          </a:p>
          <a:p>
            <a:pPr algn="l">
              <a:spcBef>
                <a:spcPts val="0"/>
              </a:spcBef>
              <a:spcAft>
                <a:spcPts val="200"/>
              </a:spcAft>
            </a:pPr>
            <a:r>
              <a:rPr sz="1400" b="0" i="0">
                <a:solidFill>
                  <a:srgbClr val="5E6B84"/>
                </a:solidFill>
                <a:latin typeface="Aptos"/>
              </a:rPr>
              <a:t>AI scene + 3 choices</a:t>
            </a:r>
          </a:p>
          <a:p>
            <a:pPr algn="l">
              <a:spcBef>
                <a:spcPts val="0"/>
              </a:spcBef>
              <a:spcAft>
                <a:spcPts val="200"/>
              </a:spcAft>
            </a:pPr>
            <a:r>
              <a:rPr sz="1400" b="0" i="0">
                <a:solidFill>
                  <a:srgbClr val="5E6B84"/>
                </a:solidFill>
                <a:latin typeface="Aptos"/>
              </a:rPr>
              <a:t>Save inventory and quests</a:t>
            </a:r>
          </a:p>
        </p:txBody>
      </p:sp>
      <p:sp>
        <p:nvSpPr>
          <p:cNvPr id="12" name="Rounded Rectangle 11"/>
          <p:cNvSpPr/>
          <p:nvPr/>
        </p:nvSpPr>
        <p:spPr>
          <a:xfrm>
            <a:off x="4389120" y="1901952"/>
            <a:ext cx="3429000" cy="19202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920240"/>
            <a:ext cx="64008" cy="1883664"/>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075688"/>
            <a:ext cx="306324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Later extensions</a:t>
            </a:r>
          </a:p>
        </p:txBody>
      </p:sp>
      <p:sp>
        <p:nvSpPr>
          <p:cNvPr id="15" name="TextBox 14"/>
          <p:cNvSpPr txBox="1"/>
          <p:nvPr/>
        </p:nvSpPr>
        <p:spPr>
          <a:xfrm>
            <a:off x="4599432" y="2615184"/>
            <a:ext cx="3035808" cy="106070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Co-op multiplayer with sockets</a:t>
            </a:r>
          </a:p>
          <a:p>
            <a:pPr algn="l">
              <a:spcBef>
                <a:spcPts val="0"/>
              </a:spcBef>
              <a:spcAft>
                <a:spcPts val="200"/>
              </a:spcAft>
            </a:pPr>
            <a:r>
              <a:rPr sz="1300" b="0" i="0">
                <a:solidFill>
                  <a:srgbClr val="5E6B84"/>
                </a:solidFill>
                <a:latin typeface="Aptos"/>
              </a:rPr>
              <a:t>Voice input with Whisper</a:t>
            </a:r>
          </a:p>
          <a:p>
            <a:pPr algn="l">
              <a:spcBef>
                <a:spcPts val="0"/>
              </a:spcBef>
              <a:spcAft>
                <a:spcPts val="200"/>
              </a:spcAft>
            </a:pPr>
            <a:r>
              <a:rPr sz="1300" b="0" i="0">
                <a:solidFill>
                  <a:srgbClr val="5E6B84"/>
                </a:solidFill>
                <a:latin typeface="Aptos"/>
              </a:rPr>
              <a:t>Scene artwork with image generation</a:t>
            </a:r>
          </a:p>
          <a:p>
            <a:pPr algn="l">
              <a:spcBef>
                <a:spcPts val="0"/>
              </a:spcBef>
              <a:spcAft>
                <a:spcPts val="200"/>
              </a:spcAft>
            </a:pPr>
            <a:r>
              <a:rPr sz="1300" b="0" i="0">
                <a:solidFill>
                  <a:srgbClr val="5E6B84"/>
                </a:solidFill>
                <a:latin typeface="Aptos"/>
              </a:rPr>
              <a:t>Text-to-speech narration</a:t>
            </a:r>
          </a:p>
        </p:txBody>
      </p:sp>
      <p:sp>
        <p:nvSpPr>
          <p:cNvPr id="16" name="Rounded Rectangle 15"/>
          <p:cNvSpPr/>
          <p:nvPr/>
        </p:nvSpPr>
        <p:spPr>
          <a:xfrm>
            <a:off x="8092440" y="1901952"/>
            <a:ext cx="3429000" cy="19202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920240"/>
            <a:ext cx="64008" cy="1883664"/>
          </a:xfrm>
          <a:prstGeom prst="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2075688"/>
            <a:ext cx="3063239"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Challenges to plan for</a:t>
            </a:r>
          </a:p>
        </p:txBody>
      </p:sp>
      <p:sp>
        <p:nvSpPr>
          <p:cNvPr id="19" name="TextBox 18"/>
          <p:cNvSpPr txBox="1"/>
          <p:nvPr/>
        </p:nvSpPr>
        <p:spPr>
          <a:xfrm>
            <a:off x="8302752" y="2615184"/>
            <a:ext cx="3035808" cy="106070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Keep story facts consistent</a:t>
            </a:r>
          </a:p>
          <a:p>
            <a:pPr algn="l">
              <a:spcBef>
                <a:spcPts val="0"/>
              </a:spcBef>
              <a:spcAft>
                <a:spcPts val="200"/>
              </a:spcAft>
            </a:pPr>
            <a:r>
              <a:rPr sz="1300" b="0" i="0">
                <a:solidFill>
                  <a:srgbClr val="5E6B84"/>
                </a:solidFill>
                <a:latin typeface="Aptos"/>
              </a:rPr>
              <a:t>Control response length</a:t>
            </a:r>
          </a:p>
          <a:p>
            <a:pPr algn="l">
              <a:spcBef>
                <a:spcPts val="0"/>
              </a:spcBef>
              <a:spcAft>
                <a:spcPts val="200"/>
              </a:spcAft>
            </a:pPr>
            <a:r>
              <a:rPr sz="1300" b="0" i="0">
                <a:solidFill>
                  <a:srgbClr val="5E6B84"/>
                </a:solidFill>
                <a:latin typeface="Aptos"/>
              </a:rPr>
              <a:t>Handle unexpected user input</a:t>
            </a:r>
          </a:p>
          <a:p>
            <a:pPr algn="l">
              <a:spcBef>
                <a:spcPts val="0"/>
              </a:spcBef>
              <a:spcAft>
                <a:spcPts val="200"/>
              </a:spcAft>
            </a:pPr>
            <a:r>
              <a:rPr sz="1300" b="0" i="0">
                <a:solidFill>
                  <a:srgbClr val="5E6B84"/>
                </a:solidFill>
                <a:latin typeface="Aptos"/>
              </a:rPr>
              <a:t>Avoid losing saved state</a:t>
            </a:r>
          </a:p>
        </p:txBody>
      </p:sp>
      <p:sp>
        <p:nvSpPr>
          <p:cNvPr id="20" name="TextBox 19"/>
          <p:cNvSpPr txBox="1"/>
          <p:nvPr/>
        </p:nvSpPr>
        <p:spPr>
          <a:xfrm>
            <a:off x="777240" y="4434840"/>
            <a:ext cx="1234440" cy="274320"/>
          </a:xfrm>
          <a:prstGeom prst="rect">
            <a:avLst/>
          </a:prstGeom>
          <a:noFill/>
        </p:spPr>
        <p:txBody>
          <a:bodyPr wrap="square" lIns="18288" rIns="18288" tIns="18288" bIns="18288" anchor="t">
            <a:spAutoFit/>
          </a:bodyPr>
          <a:lstStyle/>
          <a:p>
            <a:pPr algn="l">
              <a:spcBef>
                <a:spcPts val="0"/>
              </a:spcBef>
              <a:spcAft>
                <a:spcPts val="200"/>
              </a:spcAft>
            </a:pPr>
            <a:r>
              <a:rPr sz="1000" b="1" i="0">
                <a:solidFill>
                  <a:srgbClr val="5E6B84"/>
                </a:solidFill>
                <a:latin typeface="Aptos"/>
              </a:rPr>
              <a:t>DEMO IDEA</a:t>
            </a:r>
          </a:p>
        </p:txBody>
      </p:sp>
      <p:sp>
        <p:nvSpPr>
          <p:cNvPr id="21" name="TextBox 20"/>
          <p:cNvSpPr txBox="1"/>
          <p:nvPr/>
        </p:nvSpPr>
        <p:spPr>
          <a:xfrm>
            <a:off x="777240" y="4828032"/>
            <a:ext cx="10652760" cy="594360"/>
          </a:xfrm>
          <a:prstGeom prst="rect">
            <a:avLst/>
          </a:prstGeom>
          <a:noFill/>
        </p:spPr>
        <p:txBody>
          <a:bodyPr wrap="square" lIns="18288" rIns="18288" tIns="18288" bIns="18288" anchor="t">
            <a:spAutoFit/>
          </a:bodyPr>
          <a:lstStyle/>
          <a:p>
            <a:pPr algn="l">
              <a:spcBef>
                <a:spcPts val="0"/>
              </a:spcBef>
              <a:spcAft>
                <a:spcPts val="200"/>
              </a:spcAft>
            </a:pPr>
            <a:r>
              <a:rPr sz="1900" b="1" i="0">
                <a:solidFill>
                  <a:srgbClr val="1B2740"/>
                </a:solidFill>
                <a:latin typeface="Aptos"/>
              </a:rPr>
              <a:t>Create a character → enter a cave → choose an action → show the next scene → save the inventory change.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C35"/>
        </a:solidFill>
        <a:effectLst/>
      </p:bgPr>
    </p:bg>
    <p:spTree>
      <p:nvGrpSpPr>
        <p:cNvPr id="1" name=""/>
        <p:cNvGrpSpPr/>
        <p:nvPr/>
      </p:nvGrpSpPr>
      <p:grpSpPr/>
      <p:sp>
        <p:nvSpPr>
          <p:cNvPr id="2" name="TextBox 1"/>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9EABC1"/>
                </a:solidFill>
                <a:latin typeface="Aptos"/>
              </a:rPr>
              <a:t>AI MINI PROJECT IDEAS  •  BEGINNER-FRIENDLY GUIDE</a:t>
            </a:r>
          </a:p>
        </p:txBody>
      </p:sp>
      <p:sp>
        <p:nvSpPr>
          <p:cNvPr id="3" name="TextBox 2"/>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9EABC1"/>
                </a:solidFill>
                <a:latin typeface="Aptos"/>
              </a:rPr>
              <a:t>13</a:t>
            </a:r>
          </a:p>
        </p:txBody>
      </p:sp>
      <p:sp>
        <p:nvSpPr>
          <p:cNvPr id="4" name="Rounded Rectangle 3"/>
          <p:cNvSpPr/>
          <p:nvPr/>
        </p:nvSpPr>
        <p:spPr>
          <a:xfrm>
            <a:off x="685800" y="658368"/>
            <a:ext cx="1188720" cy="292608"/>
          </a:xfrm>
          <a:prstGeom prst="roundRect">
            <a:avLst/>
          </a:prstGeom>
          <a:solidFill>
            <a:srgbClr val="463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0664" y="690372"/>
            <a:ext cx="107899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FFD19A"/>
                </a:solidFill>
                <a:latin typeface="Aptos"/>
              </a:rPr>
              <a:t>PROJECT 02</a:t>
            </a:r>
          </a:p>
        </p:txBody>
      </p:sp>
      <p:sp>
        <p:nvSpPr>
          <p:cNvPr id="6" name="TextBox 5"/>
          <p:cNvSpPr txBox="1"/>
          <p:nvPr/>
        </p:nvSpPr>
        <p:spPr>
          <a:xfrm>
            <a:off x="685800" y="1417320"/>
            <a:ext cx="6035040" cy="1463040"/>
          </a:xfrm>
          <a:prstGeom prst="rect">
            <a:avLst/>
          </a:prstGeom>
          <a:noFill/>
        </p:spPr>
        <p:txBody>
          <a:bodyPr wrap="square" lIns="18288" rIns="18288" tIns="18288" bIns="18288" anchor="t">
            <a:spAutoFit/>
          </a:bodyPr>
          <a:lstStyle/>
          <a:p>
            <a:pPr algn="l">
              <a:spcBef>
                <a:spcPts val="0"/>
              </a:spcBef>
              <a:spcAft>
                <a:spcPts val="200"/>
              </a:spcAft>
            </a:pPr>
            <a:r>
              <a:rPr sz="3800" b="1" i="0">
                <a:solidFill>
                  <a:srgbClr val="FFFFFF"/>
                </a:solidFill>
                <a:latin typeface="Aptos"/>
              </a:rPr>
              <a:t>RAP BATTLE</a:t>
            </a:r>
          </a:p>
          <a:p>
            <a:pPr algn="l">
              <a:spcBef>
                <a:spcPts val="0"/>
              </a:spcBef>
              <a:spcAft>
                <a:spcPts val="200"/>
              </a:spcAft>
            </a:pPr>
            <a:r>
              <a:rPr sz="3800" b="1" i="0">
                <a:solidFill>
                  <a:srgbClr val="FFFFFF"/>
                </a:solidFill>
                <a:latin typeface="Aptos"/>
              </a:rPr>
              <a:t>GENERATOR</a:t>
            </a:r>
          </a:p>
        </p:txBody>
      </p:sp>
      <p:sp>
        <p:nvSpPr>
          <p:cNvPr id="7" name="TextBox 6"/>
          <p:cNvSpPr txBox="1"/>
          <p:nvPr/>
        </p:nvSpPr>
        <p:spPr>
          <a:xfrm>
            <a:off x="731520" y="3246120"/>
            <a:ext cx="5532120" cy="685800"/>
          </a:xfrm>
          <a:prstGeom prst="rect">
            <a:avLst/>
          </a:prstGeom>
          <a:noFill/>
        </p:spPr>
        <p:txBody>
          <a:bodyPr wrap="square" lIns="18288" rIns="18288" tIns="18288" bIns="18288" anchor="t">
            <a:spAutoFit/>
          </a:bodyPr>
          <a:lstStyle/>
          <a:p>
            <a:pPr algn="l">
              <a:spcBef>
                <a:spcPts val="0"/>
              </a:spcBef>
              <a:spcAft>
                <a:spcPts val="200"/>
              </a:spcAft>
            </a:pPr>
            <a:r>
              <a:rPr sz="1800" b="0" i="0">
                <a:solidFill>
                  <a:srgbClr val="D7E0F1"/>
                </a:solidFill>
                <a:latin typeface="Aptos"/>
              </a:rPr>
              <a:t>A tool that turns a topic or opponent into a short, rhyming performance.</a:t>
            </a:r>
          </a:p>
        </p:txBody>
      </p:sp>
      <p:sp>
        <p:nvSpPr>
          <p:cNvPr id="8" name="Rounded Rectangle 7"/>
          <p:cNvSpPr/>
          <p:nvPr/>
        </p:nvSpPr>
        <p:spPr>
          <a:xfrm>
            <a:off x="7360920" y="3337560"/>
            <a:ext cx="347472" cy="914400"/>
          </a:xfrm>
          <a:prstGeom prst="round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927848" y="3040380"/>
            <a:ext cx="347472" cy="1508760"/>
          </a:xfrm>
          <a:prstGeom prst="round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494776" y="2743200"/>
            <a:ext cx="347472" cy="2103120"/>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061704" y="3177539"/>
            <a:ext cx="347472" cy="1234440"/>
          </a:xfrm>
          <a:prstGeom prst="roundRect">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628632" y="2880360"/>
            <a:ext cx="347472" cy="1828800"/>
          </a:xfrm>
          <a:prstGeom prst="round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195560" y="3314700"/>
            <a:ext cx="347472" cy="960120"/>
          </a:xfrm>
          <a:prstGeom prst="round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5212080"/>
            <a:ext cx="4206240" cy="320040"/>
          </a:xfrm>
          <a:prstGeom prst="rect">
            <a:avLst/>
          </a:prstGeom>
          <a:noFill/>
        </p:spPr>
        <p:txBody>
          <a:bodyPr wrap="square" lIns="18288" rIns="18288" tIns="18288" bIns="18288" anchor="t">
            <a:spAutoFit/>
          </a:bodyPr>
          <a:lstStyle/>
          <a:p>
            <a:pPr algn="ctr">
              <a:spcBef>
                <a:spcPts val="0"/>
              </a:spcBef>
              <a:spcAft>
                <a:spcPts val="200"/>
              </a:spcAft>
            </a:pPr>
            <a:r>
              <a:rPr sz="1100" b="1" i="0">
                <a:solidFill>
                  <a:srgbClr val="B3C2DB"/>
                </a:solidFill>
                <a:latin typeface="Aptos"/>
              </a:rPr>
              <a:t>PROMPT  →  RHYMES  →  PERFORMANCE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B45E"/>
                </a:solidFill>
                <a:latin typeface="Aptos"/>
              </a:rPr>
              <a:t>02 • RAP BATTLE</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What does the Rap Battle Generator do?</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The user controls the prompt; the app turns those choices into a structured verse.</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14</a:t>
            </a:r>
          </a:p>
        </p:txBody>
      </p:sp>
      <p:sp>
        <p:nvSpPr>
          <p:cNvPr id="8" name="Rounded Rectangle 7"/>
          <p:cNvSpPr/>
          <p:nvPr/>
        </p:nvSpPr>
        <p:spPr>
          <a:xfrm>
            <a:off x="685800" y="1920240"/>
            <a:ext cx="3429000" cy="233172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38528"/>
            <a:ext cx="64008" cy="2295144"/>
          </a:xfrm>
          <a:prstGeom prst="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093976"/>
            <a:ext cx="306324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Choose the style</a:t>
            </a:r>
          </a:p>
        </p:txBody>
      </p:sp>
      <p:sp>
        <p:nvSpPr>
          <p:cNvPr id="11" name="TextBox 10"/>
          <p:cNvSpPr txBox="1"/>
          <p:nvPr/>
        </p:nvSpPr>
        <p:spPr>
          <a:xfrm>
            <a:off x="896112" y="2633472"/>
            <a:ext cx="3035808" cy="1472184"/>
          </a:xfrm>
          <a:prstGeom prst="rect">
            <a:avLst/>
          </a:prstGeom>
          <a:noFill/>
        </p:spPr>
        <p:txBody>
          <a:bodyPr wrap="square" lIns="18288" rIns="18288" tIns="18288" bIns="18288" anchor="t">
            <a:spAutoFit/>
          </a:bodyPr>
          <a:lstStyle/>
          <a:p>
            <a:pPr algn="l">
              <a:spcBef>
                <a:spcPts val="0"/>
              </a:spcBef>
              <a:spcAft>
                <a:spcPts val="200"/>
              </a:spcAft>
            </a:pPr>
            <a:r>
              <a:rPr sz="1500" b="0" i="0">
                <a:solidFill>
                  <a:srgbClr val="5E6B84"/>
                </a:solidFill>
                <a:latin typeface="Aptos"/>
              </a:rPr>
              <a:t>Funny</a:t>
            </a:r>
          </a:p>
          <a:p>
            <a:pPr algn="l">
              <a:spcBef>
                <a:spcPts val="0"/>
              </a:spcBef>
              <a:spcAft>
                <a:spcPts val="200"/>
              </a:spcAft>
            </a:pPr>
            <a:r>
              <a:rPr sz="1500" b="0" i="0">
                <a:solidFill>
                  <a:srgbClr val="5E6B84"/>
                </a:solidFill>
                <a:latin typeface="Aptos"/>
              </a:rPr>
              <a:t>Freestyle</a:t>
            </a:r>
          </a:p>
          <a:p>
            <a:pPr algn="l">
              <a:spcBef>
                <a:spcPts val="0"/>
              </a:spcBef>
              <a:spcAft>
                <a:spcPts val="200"/>
              </a:spcAft>
            </a:pPr>
            <a:r>
              <a:rPr sz="1500" b="0" i="0">
                <a:solidFill>
                  <a:srgbClr val="5E6B84"/>
                </a:solidFill>
                <a:latin typeface="Aptos"/>
              </a:rPr>
              <a:t>Diss / battle style</a:t>
            </a:r>
          </a:p>
          <a:p>
            <a:pPr algn="l">
              <a:spcBef>
                <a:spcPts val="0"/>
              </a:spcBef>
              <a:spcAft>
                <a:spcPts val="200"/>
              </a:spcAft>
            </a:pPr>
            <a:r>
              <a:rPr sz="1500" b="0" i="0">
                <a:solidFill>
                  <a:srgbClr val="5E6B84"/>
                </a:solidFill>
                <a:latin typeface="Aptos"/>
              </a:rPr>
              <a:t>Other chosen tone</a:t>
            </a:r>
          </a:p>
        </p:txBody>
      </p:sp>
      <p:sp>
        <p:nvSpPr>
          <p:cNvPr id="12" name="Rounded Rectangle 11"/>
          <p:cNvSpPr/>
          <p:nvPr/>
        </p:nvSpPr>
        <p:spPr>
          <a:xfrm>
            <a:off x="4389120" y="1920240"/>
            <a:ext cx="3429000" cy="233172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938528"/>
            <a:ext cx="64008" cy="2295144"/>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093976"/>
            <a:ext cx="306324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Give a topic</a:t>
            </a:r>
          </a:p>
        </p:txBody>
      </p:sp>
      <p:sp>
        <p:nvSpPr>
          <p:cNvPr id="15" name="TextBox 14"/>
          <p:cNvSpPr txBox="1"/>
          <p:nvPr/>
        </p:nvSpPr>
        <p:spPr>
          <a:xfrm>
            <a:off x="4599432" y="2633472"/>
            <a:ext cx="3035808" cy="1472184"/>
          </a:xfrm>
          <a:prstGeom prst="rect">
            <a:avLst/>
          </a:prstGeom>
          <a:noFill/>
        </p:spPr>
        <p:txBody>
          <a:bodyPr wrap="square" lIns="18288" rIns="18288" tIns="18288" bIns="18288" anchor="t">
            <a:spAutoFit/>
          </a:bodyPr>
          <a:lstStyle/>
          <a:p>
            <a:pPr algn="l">
              <a:spcBef>
                <a:spcPts val="0"/>
              </a:spcBef>
              <a:spcAft>
                <a:spcPts val="200"/>
              </a:spcAft>
            </a:pPr>
            <a:r>
              <a:rPr sz="1500" b="0" i="0">
                <a:solidFill>
                  <a:srgbClr val="5E6B84"/>
                </a:solidFill>
                <a:latin typeface="Aptos"/>
              </a:rPr>
              <a:t>AI versus humans at chess</a:t>
            </a:r>
          </a:p>
          <a:p>
            <a:pPr algn="l">
              <a:spcBef>
                <a:spcPts val="0"/>
              </a:spcBef>
              <a:spcAft>
                <a:spcPts val="200"/>
              </a:spcAft>
            </a:pPr>
            <a:r>
              <a:rPr sz="1500" b="0" i="0">
                <a:solidFill>
                  <a:srgbClr val="5E6B84"/>
                </a:solidFill>
                <a:latin typeface="Aptos"/>
              </a:rPr>
              <a:t>A friendly school competition</a:t>
            </a:r>
          </a:p>
          <a:p>
            <a:pPr algn="l">
              <a:spcBef>
                <a:spcPts val="0"/>
              </a:spcBef>
              <a:spcAft>
                <a:spcPts val="200"/>
              </a:spcAft>
            </a:pPr>
            <a:r>
              <a:rPr sz="1500" b="0" i="0">
                <a:solidFill>
                  <a:srgbClr val="5E6B84"/>
                </a:solidFill>
                <a:latin typeface="Aptos"/>
              </a:rPr>
              <a:t>A fictional rival</a:t>
            </a:r>
          </a:p>
        </p:txBody>
      </p:sp>
      <p:sp>
        <p:nvSpPr>
          <p:cNvPr id="16" name="Rounded Rectangle 15"/>
          <p:cNvSpPr/>
          <p:nvPr/>
        </p:nvSpPr>
        <p:spPr>
          <a:xfrm>
            <a:off x="8092440" y="1920240"/>
            <a:ext cx="3429000" cy="233172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938528"/>
            <a:ext cx="64008" cy="229514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2093976"/>
            <a:ext cx="3063239"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Receive the verse</a:t>
            </a:r>
          </a:p>
        </p:txBody>
      </p:sp>
      <p:sp>
        <p:nvSpPr>
          <p:cNvPr id="19" name="TextBox 18"/>
          <p:cNvSpPr txBox="1"/>
          <p:nvPr/>
        </p:nvSpPr>
        <p:spPr>
          <a:xfrm>
            <a:off x="8302752" y="2633472"/>
            <a:ext cx="3035808" cy="1472184"/>
          </a:xfrm>
          <a:prstGeom prst="rect">
            <a:avLst/>
          </a:prstGeom>
          <a:noFill/>
        </p:spPr>
        <p:txBody>
          <a:bodyPr wrap="square" lIns="18288" rIns="18288" tIns="18288" bIns="18288" anchor="t">
            <a:spAutoFit/>
          </a:bodyPr>
          <a:lstStyle/>
          <a:p>
            <a:pPr algn="l">
              <a:spcBef>
                <a:spcPts val="0"/>
              </a:spcBef>
              <a:spcAft>
                <a:spcPts val="200"/>
              </a:spcAft>
            </a:pPr>
            <a:r>
              <a:rPr sz="1500" b="0" i="0">
                <a:solidFill>
                  <a:srgbClr val="5E6B84"/>
                </a:solidFill>
                <a:latin typeface="Aptos"/>
              </a:rPr>
              <a:t>A short verse with a set number of lines, intended to rhyme and fit the chosen tone.</a:t>
            </a:r>
          </a:p>
        </p:txBody>
      </p:sp>
      <p:sp>
        <p:nvSpPr>
          <p:cNvPr id="20" name="Rounded Rectangle 19"/>
          <p:cNvSpPr/>
          <p:nvPr/>
        </p:nvSpPr>
        <p:spPr>
          <a:xfrm>
            <a:off x="731520" y="4681728"/>
            <a:ext cx="10561320" cy="1078992"/>
          </a:xfrm>
          <a:prstGeom prst="roundRect">
            <a:avLst/>
          </a:prstGeom>
          <a:solidFill>
            <a:srgbClr val="1C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96112" y="4828032"/>
            <a:ext cx="1426464" cy="292608"/>
          </a:xfrm>
          <a:prstGeom prst="round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0976" y="4860036"/>
            <a:ext cx="1316736" cy="201168"/>
          </a:xfrm>
          <a:prstGeom prst="rect">
            <a:avLst/>
          </a:prstGeom>
          <a:noFill/>
        </p:spPr>
        <p:txBody>
          <a:bodyPr wrap="square" lIns="0" rIns="0" tIns="0" bIns="0" anchor="ctr">
            <a:spAutoFit/>
          </a:bodyPr>
          <a:lstStyle/>
          <a:p>
            <a:pPr algn="ctr">
              <a:spcBef>
                <a:spcPts val="0"/>
              </a:spcBef>
              <a:spcAft>
                <a:spcPts val="200"/>
              </a:spcAft>
            </a:pPr>
            <a:r>
              <a:rPr sz="800" b="1" i="0">
                <a:solidFill>
                  <a:srgbClr val="FFFFFF"/>
                </a:solidFill>
                <a:latin typeface="Aptos"/>
              </a:rPr>
              <a:t>EXAMPLE PROMPT</a:t>
            </a:r>
          </a:p>
        </p:txBody>
      </p:sp>
      <p:sp>
        <p:nvSpPr>
          <p:cNvPr id="23" name="TextBox 22"/>
          <p:cNvSpPr txBox="1"/>
          <p:nvPr/>
        </p:nvSpPr>
        <p:spPr>
          <a:xfrm>
            <a:off x="932688" y="5248656"/>
            <a:ext cx="10158984" cy="365759"/>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F4F6FC"/>
                </a:solidFill>
                <a:latin typeface="Consolas"/>
              </a:rPr>
              <a:t>Write 8 bars about AI beating humans at chess in a funny battle-rap style.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B45E"/>
                </a:solidFill>
                <a:latin typeface="Aptos"/>
              </a:rPr>
              <a:t>02 • RAP BATTLE</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Build the prompt from user choices</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Structured inputs give the generator clearer instructions and make results easier to repeat.</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15</a:t>
            </a:r>
          </a:p>
        </p:txBody>
      </p:sp>
      <p:sp>
        <p:nvSpPr>
          <p:cNvPr id="8" name="Rounded Rectangle 7"/>
          <p:cNvSpPr/>
          <p:nvPr/>
        </p:nvSpPr>
        <p:spPr>
          <a:xfrm>
            <a:off x="777240" y="1993392"/>
            <a:ext cx="2240280" cy="11155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139696"/>
            <a:ext cx="201168" cy="201168"/>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0432" y="2112264"/>
            <a:ext cx="172821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STYLE</a:t>
            </a:r>
          </a:p>
        </p:txBody>
      </p:sp>
      <p:sp>
        <p:nvSpPr>
          <p:cNvPr id="11" name="TextBox 10"/>
          <p:cNvSpPr txBox="1"/>
          <p:nvPr/>
        </p:nvSpPr>
        <p:spPr>
          <a:xfrm>
            <a:off x="923544" y="2496312"/>
            <a:ext cx="1947672" cy="548640"/>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Funny</a:t>
            </a:r>
          </a:p>
        </p:txBody>
      </p:sp>
      <p:cxnSp>
        <p:nvCxnSpPr>
          <p:cNvPr id="12" name="Connector 11"/>
          <p:cNvCxnSpPr/>
          <p:nvPr/>
        </p:nvCxnSpPr>
        <p:spPr>
          <a:xfrm>
            <a:off x="3035808" y="2560320"/>
            <a:ext cx="484632"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611880" y="1993392"/>
            <a:ext cx="2240280" cy="11155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739896" y="2139696"/>
            <a:ext cx="201168" cy="201168"/>
          </a:xfrm>
          <a:prstGeom prst="ellipse">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05072" y="2112264"/>
            <a:ext cx="172821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TOPIC</a:t>
            </a:r>
          </a:p>
        </p:txBody>
      </p:sp>
      <p:sp>
        <p:nvSpPr>
          <p:cNvPr id="16" name="TextBox 15"/>
          <p:cNvSpPr txBox="1"/>
          <p:nvPr/>
        </p:nvSpPr>
        <p:spPr>
          <a:xfrm>
            <a:off x="3758184" y="2496312"/>
            <a:ext cx="1947672" cy="548640"/>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AI and chess</a:t>
            </a:r>
          </a:p>
        </p:txBody>
      </p:sp>
      <p:cxnSp>
        <p:nvCxnSpPr>
          <p:cNvPr id="17" name="Connector 16"/>
          <p:cNvCxnSpPr/>
          <p:nvPr/>
        </p:nvCxnSpPr>
        <p:spPr>
          <a:xfrm>
            <a:off x="5870448" y="2560320"/>
            <a:ext cx="484632"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446520" y="1993392"/>
            <a:ext cx="2240280" cy="11155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74536" y="2139696"/>
            <a:ext cx="201168" cy="201168"/>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2112264"/>
            <a:ext cx="172821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LENGTH</a:t>
            </a:r>
          </a:p>
        </p:txBody>
      </p:sp>
      <p:sp>
        <p:nvSpPr>
          <p:cNvPr id="21" name="TextBox 20"/>
          <p:cNvSpPr txBox="1"/>
          <p:nvPr/>
        </p:nvSpPr>
        <p:spPr>
          <a:xfrm>
            <a:off x="6592824" y="2496312"/>
            <a:ext cx="1947672" cy="548640"/>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8 bars</a:t>
            </a:r>
          </a:p>
        </p:txBody>
      </p:sp>
      <p:cxnSp>
        <p:nvCxnSpPr>
          <p:cNvPr id="22" name="Connector 21"/>
          <p:cNvCxnSpPr/>
          <p:nvPr/>
        </p:nvCxnSpPr>
        <p:spPr>
          <a:xfrm>
            <a:off x="8705088" y="2560320"/>
            <a:ext cx="484632"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281160" y="1993392"/>
            <a:ext cx="2240280" cy="11155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09176" y="2139696"/>
            <a:ext cx="201168" cy="201168"/>
          </a:xfrm>
          <a:prstGeom prst="ellipse">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74352" y="2112264"/>
            <a:ext cx="172821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TONE</a:t>
            </a:r>
          </a:p>
        </p:txBody>
      </p:sp>
      <p:sp>
        <p:nvSpPr>
          <p:cNvPr id="26" name="TextBox 25"/>
          <p:cNvSpPr txBox="1"/>
          <p:nvPr/>
        </p:nvSpPr>
        <p:spPr>
          <a:xfrm>
            <a:off x="9427464" y="2496312"/>
            <a:ext cx="1947672" cy="548640"/>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Playful</a:t>
            </a:r>
          </a:p>
        </p:txBody>
      </p:sp>
      <p:cxnSp>
        <p:nvCxnSpPr>
          <p:cNvPr id="27" name="Connector 26"/>
          <p:cNvCxnSpPr/>
          <p:nvPr/>
        </p:nvCxnSpPr>
        <p:spPr>
          <a:xfrm>
            <a:off x="5532120" y="3273552"/>
            <a:ext cx="0" cy="475487"/>
          </a:xfrm>
          <a:prstGeom prst="line">
            <a:avLst/>
          </a:prstGeom>
          <a:ln w="25400">
            <a:solidFill>
              <a:srgbClr val="FFB45E"/>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874519" y="3822191"/>
            <a:ext cx="8183879" cy="1143000"/>
          </a:xfrm>
          <a:prstGeom prst="roundRect">
            <a:avLst/>
          </a:prstGeom>
          <a:solidFill>
            <a:srgbClr val="1C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148840" y="4005072"/>
            <a:ext cx="7680960" cy="256032"/>
          </a:xfrm>
          <a:prstGeom prst="rect">
            <a:avLst/>
          </a:prstGeom>
          <a:noFill/>
        </p:spPr>
        <p:txBody>
          <a:bodyPr wrap="square" lIns="18288" rIns="18288" tIns="18288" bIns="18288" anchor="t">
            <a:spAutoFit/>
          </a:bodyPr>
          <a:lstStyle/>
          <a:p>
            <a:pPr algn="l">
              <a:spcBef>
                <a:spcPts val="0"/>
              </a:spcBef>
              <a:spcAft>
                <a:spcPts val="200"/>
              </a:spcAft>
            </a:pPr>
            <a:r>
              <a:rPr sz="1000" b="1" i="0">
                <a:solidFill>
                  <a:srgbClr val="FFD19A"/>
                </a:solidFill>
                <a:latin typeface="Aptos"/>
              </a:rPr>
              <a:t>ONE COMBINED INSTRUCTION</a:t>
            </a:r>
          </a:p>
        </p:txBody>
      </p:sp>
      <p:sp>
        <p:nvSpPr>
          <p:cNvPr id="30" name="TextBox 29"/>
          <p:cNvSpPr txBox="1"/>
          <p:nvPr/>
        </p:nvSpPr>
        <p:spPr>
          <a:xfrm>
            <a:off x="2148840" y="4343400"/>
            <a:ext cx="7680960" cy="411480"/>
          </a:xfrm>
          <a:prstGeom prst="rect">
            <a:avLst/>
          </a:prstGeom>
          <a:noFill/>
        </p:spPr>
        <p:txBody>
          <a:bodyPr wrap="square" lIns="18288" rIns="18288" tIns="18288" bIns="18288" anchor="t">
            <a:spAutoFit/>
          </a:bodyPr>
          <a:lstStyle/>
          <a:p>
            <a:pPr algn="l">
              <a:spcBef>
                <a:spcPts val="0"/>
              </a:spcBef>
              <a:spcAft>
                <a:spcPts val="200"/>
              </a:spcAft>
            </a:pPr>
            <a:r>
              <a:rPr sz="1700" b="1" i="0">
                <a:solidFill>
                  <a:srgbClr val="FFFFFF"/>
                </a:solidFill>
                <a:latin typeface="Aptos"/>
              </a:rPr>
              <a:t>“Write 8 playful bars about AI and chess in a funny battle-rap style.”</a:t>
            </a:r>
          </a:p>
        </p:txBody>
      </p:sp>
      <p:sp>
        <p:nvSpPr>
          <p:cNvPr id="31" name="TextBox 30"/>
          <p:cNvSpPr txBox="1"/>
          <p:nvPr/>
        </p:nvSpPr>
        <p:spPr>
          <a:xfrm>
            <a:off x="777240" y="5440680"/>
            <a:ext cx="10652760" cy="475488"/>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Tip: let users revise the inputs and generate again, instead of asking them to write a perfect prompt from scratch.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B45E"/>
                </a:solidFill>
                <a:latin typeface="Aptos"/>
              </a:rPr>
              <a:t>02 • RAP BATTLE</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Rhyme enhancer and battle formats</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Generation can be followed by a second step that checks or improves the verse.</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16</a:t>
            </a:r>
          </a:p>
        </p:txBody>
      </p:sp>
      <p:sp>
        <p:nvSpPr>
          <p:cNvPr id="8" name="Rounded Rectangle 7"/>
          <p:cNvSpPr/>
          <p:nvPr/>
        </p:nvSpPr>
        <p:spPr>
          <a:xfrm>
            <a:off x="685800" y="1938528"/>
            <a:ext cx="3383280" cy="24231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56816"/>
            <a:ext cx="64008" cy="2386584"/>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96112" y="2139696"/>
            <a:ext cx="384048" cy="384048"/>
          </a:xfrm>
          <a:prstGeom prst="ellipse">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71700"/>
            <a:ext cx="384048" cy="228600"/>
          </a:xfrm>
          <a:prstGeom prst="rect">
            <a:avLst/>
          </a:prstGeom>
          <a:noFill/>
        </p:spPr>
        <p:txBody>
          <a:bodyPr wrap="square" lIns="0" rIns="0" tIns="0" bIns="0" anchor="ctr">
            <a:spAutoFit/>
          </a:bodyPr>
          <a:lstStyle/>
          <a:p>
            <a:pPr algn="ctr">
              <a:spcBef>
                <a:spcPts val="0"/>
              </a:spcBef>
              <a:spcAft>
                <a:spcPts val="200"/>
              </a:spcAft>
            </a:pPr>
            <a:r>
              <a:rPr sz="1200" b="1" i="0">
                <a:solidFill>
                  <a:srgbClr val="FFFFFF"/>
                </a:solidFill>
                <a:latin typeface="Aptos"/>
              </a:rPr>
              <a:t>1</a:t>
            </a:r>
          </a:p>
        </p:txBody>
      </p:sp>
      <p:sp>
        <p:nvSpPr>
          <p:cNvPr id="12" name="TextBox 11"/>
          <p:cNvSpPr txBox="1"/>
          <p:nvPr/>
        </p:nvSpPr>
        <p:spPr>
          <a:xfrm>
            <a:off x="1399032" y="2112264"/>
            <a:ext cx="2505456"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1. Generate</a:t>
            </a:r>
          </a:p>
        </p:txBody>
      </p:sp>
      <p:sp>
        <p:nvSpPr>
          <p:cNvPr id="13" name="TextBox 12"/>
          <p:cNvSpPr txBox="1"/>
          <p:nvPr/>
        </p:nvSpPr>
        <p:spPr>
          <a:xfrm>
            <a:off x="896112" y="2651760"/>
            <a:ext cx="2990088" cy="1563624"/>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Ask the language model for a verse using the topic, tone, and length.</a:t>
            </a:r>
          </a:p>
        </p:txBody>
      </p:sp>
      <p:sp>
        <p:nvSpPr>
          <p:cNvPr id="14" name="Rounded Rectangle 13"/>
          <p:cNvSpPr/>
          <p:nvPr/>
        </p:nvSpPr>
        <p:spPr>
          <a:xfrm>
            <a:off x="4389120" y="1938528"/>
            <a:ext cx="3383280" cy="24231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956816"/>
            <a:ext cx="64008" cy="2386584"/>
          </a:xfrm>
          <a:prstGeom prst="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599432" y="2139696"/>
            <a:ext cx="384048" cy="384048"/>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9432" y="2171700"/>
            <a:ext cx="384048" cy="228600"/>
          </a:xfrm>
          <a:prstGeom prst="rect">
            <a:avLst/>
          </a:prstGeom>
          <a:noFill/>
        </p:spPr>
        <p:txBody>
          <a:bodyPr wrap="square" lIns="0" rIns="0" tIns="0" bIns="0" anchor="ctr">
            <a:spAutoFit/>
          </a:bodyPr>
          <a:lstStyle/>
          <a:p>
            <a:pPr algn="ctr">
              <a:spcBef>
                <a:spcPts val="0"/>
              </a:spcBef>
              <a:spcAft>
                <a:spcPts val="200"/>
              </a:spcAft>
            </a:pPr>
            <a:r>
              <a:rPr sz="1200" b="1" i="0">
                <a:solidFill>
                  <a:srgbClr val="FFFFFF"/>
                </a:solidFill>
                <a:latin typeface="Aptos"/>
              </a:rPr>
              <a:t>2</a:t>
            </a:r>
          </a:p>
        </p:txBody>
      </p:sp>
      <p:sp>
        <p:nvSpPr>
          <p:cNvPr id="18" name="TextBox 17"/>
          <p:cNvSpPr txBox="1"/>
          <p:nvPr/>
        </p:nvSpPr>
        <p:spPr>
          <a:xfrm>
            <a:off x="5102352" y="2112264"/>
            <a:ext cx="2505456"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2. Improve rhymes</a:t>
            </a:r>
          </a:p>
        </p:txBody>
      </p:sp>
      <p:sp>
        <p:nvSpPr>
          <p:cNvPr id="19" name="TextBox 18"/>
          <p:cNvSpPr txBox="1"/>
          <p:nvPr/>
        </p:nvSpPr>
        <p:spPr>
          <a:xfrm>
            <a:off x="4599432" y="2651760"/>
            <a:ext cx="2990088" cy="1563624"/>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Use a rhyme resource or pronunciation-based logic to suggest stronger end rhymes.</a:t>
            </a:r>
          </a:p>
        </p:txBody>
      </p:sp>
      <p:sp>
        <p:nvSpPr>
          <p:cNvPr id="20" name="Rounded Rectangle 19"/>
          <p:cNvSpPr/>
          <p:nvPr/>
        </p:nvSpPr>
        <p:spPr>
          <a:xfrm>
            <a:off x="8092440" y="1938528"/>
            <a:ext cx="3383280" cy="24231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92440" y="1956816"/>
            <a:ext cx="64008" cy="238658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302752" y="2139696"/>
            <a:ext cx="384048" cy="384048"/>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02752" y="2171700"/>
            <a:ext cx="384048" cy="228600"/>
          </a:xfrm>
          <a:prstGeom prst="rect">
            <a:avLst/>
          </a:prstGeom>
          <a:noFill/>
        </p:spPr>
        <p:txBody>
          <a:bodyPr wrap="square" lIns="0" rIns="0" tIns="0" bIns="0" anchor="ctr">
            <a:spAutoFit/>
          </a:bodyPr>
          <a:lstStyle/>
          <a:p>
            <a:pPr algn="ctr">
              <a:spcBef>
                <a:spcPts val="0"/>
              </a:spcBef>
              <a:spcAft>
                <a:spcPts val="200"/>
              </a:spcAft>
            </a:pPr>
            <a:r>
              <a:rPr sz="1200" b="1" i="0">
                <a:solidFill>
                  <a:srgbClr val="FFFFFF"/>
                </a:solidFill>
                <a:latin typeface="Aptos"/>
              </a:rPr>
              <a:t>3</a:t>
            </a:r>
          </a:p>
        </p:txBody>
      </p:sp>
      <p:sp>
        <p:nvSpPr>
          <p:cNvPr id="24" name="TextBox 23"/>
          <p:cNvSpPr txBox="1"/>
          <p:nvPr/>
        </p:nvSpPr>
        <p:spPr>
          <a:xfrm>
            <a:off x="8805672" y="2112264"/>
            <a:ext cx="2505456"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3. Choose the format</a:t>
            </a:r>
          </a:p>
        </p:txBody>
      </p:sp>
      <p:sp>
        <p:nvSpPr>
          <p:cNvPr id="25" name="TextBox 24"/>
          <p:cNvSpPr txBox="1"/>
          <p:nvPr/>
        </p:nvSpPr>
        <p:spPr>
          <a:xfrm>
            <a:off x="8302752" y="2651760"/>
            <a:ext cx="2990088" cy="156362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AI vs AI: two generated personas.</a:t>
            </a:r>
          </a:p>
          <a:p>
            <a:pPr algn="l">
              <a:spcBef>
                <a:spcPts val="0"/>
              </a:spcBef>
              <a:spcAft>
                <a:spcPts val="200"/>
              </a:spcAft>
            </a:pPr>
            <a:r>
              <a:rPr sz="1300" b="0" i="0">
                <a:solidFill>
                  <a:srgbClr val="5E6B84"/>
                </a:solidFill>
                <a:latin typeface="Aptos"/>
              </a:rPr>
              <a:t>User vs AI: the user enters a verse and gets a reply.</a:t>
            </a:r>
          </a:p>
        </p:txBody>
      </p:sp>
      <p:sp>
        <p:nvSpPr>
          <p:cNvPr id="26" name="Rounded Rectangle 25"/>
          <p:cNvSpPr/>
          <p:nvPr/>
        </p:nvSpPr>
        <p:spPr>
          <a:xfrm>
            <a:off x="777240" y="4892040"/>
            <a:ext cx="3840480" cy="29260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3" y="4924044"/>
            <a:ext cx="37307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9B5A00"/>
                </a:solidFill>
                <a:latin typeface="Aptos"/>
              </a:rPr>
              <a:t>SOURCE IDEA: RHYMEBRAIN API OR PRONOUNCING PYTHON</a:t>
            </a:r>
          </a:p>
        </p:txBody>
      </p:sp>
      <p:sp>
        <p:nvSpPr>
          <p:cNvPr id="28" name="TextBox 27"/>
          <p:cNvSpPr txBox="1"/>
          <p:nvPr/>
        </p:nvSpPr>
        <p:spPr>
          <a:xfrm>
            <a:off x="777240" y="5413248"/>
            <a:ext cx="10652760" cy="384048"/>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Important: a rhyme checker can help with sound patterns, but meaning and flow still need human review.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B45E"/>
                </a:solidFill>
                <a:latin typeface="Aptos"/>
              </a:rPr>
              <a:t>02 • RAP BATTLE</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Voice performance and possible tools</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Audio turns text into a more engaging experience, but it can be a later feature.</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17</a:t>
            </a:r>
          </a:p>
        </p:txBody>
      </p:sp>
      <p:sp>
        <p:nvSpPr>
          <p:cNvPr id="8" name="Rounded Rectangle 7"/>
          <p:cNvSpPr/>
          <p:nvPr/>
        </p:nvSpPr>
        <p:spPr>
          <a:xfrm>
            <a:off x="685800" y="1874519"/>
            <a:ext cx="3429000" cy="205740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892807"/>
            <a:ext cx="64008" cy="2020824"/>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048255"/>
            <a:ext cx="3063240" cy="38404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Text generation</a:t>
            </a:r>
          </a:p>
        </p:txBody>
      </p:sp>
      <p:sp>
        <p:nvSpPr>
          <p:cNvPr id="11" name="TextBox 10"/>
          <p:cNvSpPr txBox="1"/>
          <p:nvPr/>
        </p:nvSpPr>
        <p:spPr>
          <a:xfrm>
            <a:off x="896112" y="2587752"/>
            <a:ext cx="3035808" cy="119786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GPT-4, Mistral, or LLaMA are model examples listed in the project idea.</a:t>
            </a:r>
          </a:p>
        </p:txBody>
      </p:sp>
      <p:sp>
        <p:nvSpPr>
          <p:cNvPr id="12" name="Rounded Rectangle 11"/>
          <p:cNvSpPr/>
          <p:nvPr/>
        </p:nvSpPr>
        <p:spPr>
          <a:xfrm>
            <a:off x="4389120" y="1874519"/>
            <a:ext cx="3429000" cy="205740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892807"/>
            <a:ext cx="64008" cy="2020824"/>
          </a:xfrm>
          <a:prstGeom prst="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048255"/>
            <a:ext cx="3063240" cy="38404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Rhyme support</a:t>
            </a:r>
          </a:p>
        </p:txBody>
      </p:sp>
      <p:sp>
        <p:nvSpPr>
          <p:cNvPr id="15" name="TextBox 14"/>
          <p:cNvSpPr txBox="1"/>
          <p:nvPr/>
        </p:nvSpPr>
        <p:spPr>
          <a:xfrm>
            <a:off x="4599432" y="2587752"/>
            <a:ext cx="3035808" cy="119786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RhymeBrain API or pronunciation tools can help find and compare rhyming words.</a:t>
            </a:r>
          </a:p>
        </p:txBody>
      </p:sp>
      <p:sp>
        <p:nvSpPr>
          <p:cNvPr id="16" name="Rounded Rectangle 15"/>
          <p:cNvSpPr/>
          <p:nvPr/>
        </p:nvSpPr>
        <p:spPr>
          <a:xfrm>
            <a:off x="8092440" y="1874519"/>
            <a:ext cx="3429000" cy="205740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892807"/>
            <a:ext cx="64008" cy="202082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2048255"/>
            <a:ext cx="3063239" cy="38404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Voice + interface</a:t>
            </a:r>
          </a:p>
        </p:txBody>
      </p:sp>
      <p:sp>
        <p:nvSpPr>
          <p:cNvPr id="19" name="TextBox 18"/>
          <p:cNvSpPr txBox="1"/>
          <p:nvPr/>
        </p:nvSpPr>
        <p:spPr>
          <a:xfrm>
            <a:off x="8302752" y="2587752"/>
            <a:ext cx="3035808" cy="119786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TTS services such as Play.ht or ElevenLabs; UI with Streamlit or Flask.</a:t>
            </a:r>
          </a:p>
        </p:txBody>
      </p:sp>
      <p:sp>
        <p:nvSpPr>
          <p:cNvPr id="20" name="Rounded Rectangle 19"/>
          <p:cNvSpPr/>
          <p:nvPr/>
        </p:nvSpPr>
        <p:spPr>
          <a:xfrm>
            <a:off x="914400" y="4434840"/>
            <a:ext cx="10332720" cy="1051560"/>
          </a:xfrm>
          <a:prstGeom prst="roundRect">
            <a:avLst/>
          </a:prstGeom>
          <a:solidFill>
            <a:srgbClr val="1C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4645152"/>
            <a:ext cx="2011680" cy="228600"/>
          </a:xfrm>
          <a:prstGeom prst="rect">
            <a:avLst/>
          </a:prstGeom>
          <a:noFill/>
        </p:spPr>
        <p:txBody>
          <a:bodyPr wrap="square" lIns="18288" rIns="18288" tIns="18288" bIns="18288" anchor="t">
            <a:spAutoFit/>
          </a:bodyPr>
          <a:lstStyle/>
          <a:p>
            <a:pPr algn="l">
              <a:spcBef>
                <a:spcPts val="0"/>
              </a:spcBef>
              <a:spcAft>
                <a:spcPts val="200"/>
              </a:spcAft>
            </a:pPr>
            <a:r>
              <a:rPr sz="1000" b="1" i="0">
                <a:solidFill>
                  <a:srgbClr val="FFD19A"/>
                </a:solidFill>
                <a:latin typeface="Aptos"/>
              </a:rPr>
              <a:t>OPTIONAL AUDIO CHAIN</a:t>
            </a:r>
          </a:p>
        </p:txBody>
      </p:sp>
      <p:sp>
        <p:nvSpPr>
          <p:cNvPr id="22" name="Rounded Rectangle 21"/>
          <p:cNvSpPr/>
          <p:nvPr/>
        </p:nvSpPr>
        <p:spPr>
          <a:xfrm>
            <a:off x="3154680" y="4590288"/>
            <a:ext cx="1600200" cy="292608"/>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9544" y="4622292"/>
            <a:ext cx="149047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FFFF"/>
                </a:solidFill>
                <a:latin typeface="Aptos"/>
              </a:rPr>
              <a:t>Generated text</a:t>
            </a:r>
          </a:p>
        </p:txBody>
      </p:sp>
      <p:cxnSp>
        <p:nvCxnSpPr>
          <p:cNvPr id="24" name="Connector 23"/>
          <p:cNvCxnSpPr/>
          <p:nvPr/>
        </p:nvCxnSpPr>
        <p:spPr>
          <a:xfrm>
            <a:off x="4782312" y="4736592"/>
            <a:ext cx="246888" cy="0"/>
          </a:xfrm>
          <a:prstGeom prst="line">
            <a:avLst/>
          </a:prstGeom>
          <a:ln w="19050">
            <a:solidFill>
              <a:srgbClr val="91A0BD"/>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093208" y="4590288"/>
            <a:ext cx="1600200" cy="292608"/>
          </a:xfrm>
          <a:prstGeom prst="round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48072" y="4622292"/>
            <a:ext cx="149047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FFFF"/>
                </a:solidFill>
                <a:latin typeface="Aptos"/>
              </a:rPr>
              <a:t>Text-to-speech</a:t>
            </a:r>
          </a:p>
        </p:txBody>
      </p:sp>
      <p:cxnSp>
        <p:nvCxnSpPr>
          <p:cNvPr id="27" name="Connector 26"/>
          <p:cNvCxnSpPr/>
          <p:nvPr/>
        </p:nvCxnSpPr>
        <p:spPr>
          <a:xfrm>
            <a:off x="6720840" y="4736592"/>
            <a:ext cx="246888" cy="0"/>
          </a:xfrm>
          <a:prstGeom prst="line">
            <a:avLst/>
          </a:prstGeom>
          <a:ln w="19050">
            <a:solidFill>
              <a:srgbClr val="91A0BD"/>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031736" y="4590288"/>
            <a:ext cx="1600200" cy="292608"/>
          </a:xfrm>
          <a:prstGeom prst="round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86600" y="4622292"/>
            <a:ext cx="149047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FFFF"/>
                </a:solidFill>
                <a:latin typeface="Aptos"/>
              </a:rPr>
              <a:t>Audio playback</a:t>
            </a:r>
          </a:p>
        </p:txBody>
      </p:sp>
      <p:cxnSp>
        <p:nvCxnSpPr>
          <p:cNvPr id="30" name="Connector 29"/>
          <p:cNvCxnSpPr/>
          <p:nvPr/>
        </p:nvCxnSpPr>
        <p:spPr>
          <a:xfrm>
            <a:off x="8659368" y="4736592"/>
            <a:ext cx="246888" cy="0"/>
          </a:xfrm>
          <a:prstGeom prst="line">
            <a:avLst/>
          </a:prstGeom>
          <a:ln w="19050">
            <a:solidFill>
              <a:srgbClr val="91A0BD"/>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970264" y="4590288"/>
            <a:ext cx="1600200" cy="292608"/>
          </a:xfrm>
          <a:prstGeom prst="roundRect">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25128" y="4622292"/>
            <a:ext cx="149047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FFFF"/>
                </a:solidFill>
                <a:latin typeface="Aptos"/>
              </a:rPr>
              <a:t>Optional beat</a:t>
            </a:r>
          </a:p>
        </p:txBody>
      </p:sp>
      <p:sp>
        <p:nvSpPr>
          <p:cNvPr id="33" name="TextBox 32"/>
          <p:cNvSpPr txBox="1"/>
          <p:nvPr/>
        </p:nvSpPr>
        <p:spPr>
          <a:xfrm>
            <a:off x="822960" y="5806440"/>
            <a:ext cx="10241280" cy="29260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A beat player could use a royalty-free loop, PyGame, or WebAudio.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B45E"/>
                </a:solidFill>
                <a:latin typeface="Aptos"/>
              </a:rPr>
              <a:t>02 • RAP BATTLE</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Extensions, challenges, and a first version</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Focus on a fun, repeatable text experience before adding extra interaction.</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18</a:t>
            </a:r>
          </a:p>
        </p:txBody>
      </p:sp>
      <p:sp>
        <p:nvSpPr>
          <p:cNvPr id="8" name="Rounded Rectangle 7"/>
          <p:cNvSpPr/>
          <p:nvPr/>
        </p:nvSpPr>
        <p:spPr>
          <a:xfrm>
            <a:off x="685800" y="1920240"/>
            <a:ext cx="3383280" cy="210312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38528"/>
            <a:ext cx="64008" cy="2066543"/>
          </a:xfrm>
          <a:prstGeom prst="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093976"/>
            <a:ext cx="301752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First version</a:t>
            </a:r>
          </a:p>
        </p:txBody>
      </p:sp>
      <p:sp>
        <p:nvSpPr>
          <p:cNvPr id="11" name="TextBox 10"/>
          <p:cNvSpPr txBox="1"/>
          <p:nvPr/>
        </p:nvSpPr>
        <p:spPr>
          <a:xfrm>
            <a:off x="896112" y="2633472"/>
            <a:ext cx="2990088" cy="1243584"/>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Input form</a:t>
            </a:r>
          </a:p>
          <a:p>
            <a:pPr algn="l">
              <a:spcBef>
                <a:spcPts val="0"/>
              </a:spcBef>
              <a:spcAft>
                <a:spcPts val="200"/>
              </a:spcAft>
            </a:pPr>
            <a:r>
              <a:rPr sz="1400" b="0" i="0">
                <a:solidFill>
                  <a:srgbClr val="5E6B84"/>
                </a:solidFill>
                <a:latin typeface="Aptos"/>
              </a:rPr>
              <a:t>Prompt template</a:t>
            </a:r>
          </a:p>
          <a:p>
            <a:pPr algn="l">
              <a:spcBef>
                <a:spcPts val="0"/>
              </a:spcBef>
              <a:spcAft>
                <a:spcPts val="200"/>
              </a:spcAft>
            </a:pPr>
            <a:r>
              <a:rPr sz="1400" b="0" i="0">
                <a:solidFill>
                  <a:srgbClr val="5E6B84"/>
                </a:solidFill>
                <a:latin typeface="Aptos"/>
              </a:rPr>
              <a:t>Generate 8 bars</a:t>
            </a:r>
          </a:p>
          <a:p>
            <a:pPr algn="l">
              <a:spcBef>
                <a:spcPts val="0"/>
              </a:spcBef>
              <a:spcAft>
                <a:spcPts val="200"/>
              </a:spcAft>
            </a:pPr>
            <a:r>
              <a:rPr sz="1400" b="0" i="0">
                <a:solidFill>
                  <a:srgbClr val="5E6B84"/>
                </a:solidFill>
                <a:latin typeface="Aptos"/>
              </a:rPr>
              <a:t>Show copy / regenerate actions</a:t>
            </a:r>
          </a:p>
        </p:txBody>
      </p:sp>
      <p:sp>
        <p:nvSpPr>
          <p:cNvPr id="12" name="Rounded Rectangle 11"/>
          <p:cNvSpPr/>
          <p:nvPr/>
        </p:nvSpPr>
        <p:spPr>
          <a:xfrm>
            <a:off x="4389120" y="1920240"/>
            <a:ext cx="3383280" cy="210312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938528"/>
            <a:ext cx="64008" cy="2066543"/>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093976"/>
            <a:ext cx="301752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Later extensions</a:t>
            </a:r>
          </a:p>
        </p:txBody>
      </p:sp>
      <p:sp>
        <p:nvSpPr>
          <p:cNvPr id="15" name="TextBox 14"/>
          <p:cNvSpPr txBox="1"/>
          <p:nvPr/>
        </p:nvSpPr>
        <p:spPr>
          <a:xfrm>
            <a:off x="4599432" y="2633472"/>
            <a:ext cx="2990088" cy="1243584"/>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Battle scoring</a:t>
            </a:r>
          </a:p>
          <a:p>
            <a:pPr algn="l">
              <a:spcBef>
                <a:spcPts val="0"/>
              </a:spcBef>
              <a:spcAft>
                <a:spcPts val="200"/>
              </a:spcAft>
            </a:pPr>
            <a:r>
              <a:rPr sz="1400" b="0" i="0">
                <a:solidFill>
                  <a:srgbClr val="5E6B84"/>
                </a:solidFill>
                <a:latin typeface="Aptos"/>
              </a:rPr>
              <a:t>User-uploaded beat</a:t>
            </a:r>
          </a:p>
          <a:p>
            <a:pPr algn="l">
              <a:spcBef>
                <a:spcPts val="0"/>
              </a:spcBef>
              <a:spcAft>
                <a:spcPts val="200"/>
              </a:spcAft>
            </a:pPr>
            <a:r>
              <a:rPr sz="1400" b="0" i="0">
                <a:solidFill>
                  <a:srgbClr val="5E6B84"/>
                </a:solidFill>
                <a:latin typeface="Aptos"/>
              </a:rPr>
              <a:t>Leaderboard</a:t>
            </a:r>
          </a:p>
          <a:p>
            <a:pPr algn="l">
              <a:spcBef>
                <a:spcPts val="0"/>
              </a:spcBef>
              <a:spcAft>
                <a:spcPts val="200"/>
              </a:spcAft>
            </a:pPr>
            <a:r>
              <a:rPr sz="1400" b="0" i="0">
                <a:solidFill>
                  <a:srgbClr val="5E6B84"/>
                </a:solidFill>
                <a:latin typeface="Aptos"/>
              </a:rPr>
              <a:t>Discord bot</a:t>
            </a:r>
          </a:p>
        </p:txBody>
      </p:sp>
      <p:sp>
        <p:nvSpPr>
          <p:cNvPr id="16" name="Rounded Rectangle 15"/>
          <p:cNvSpPr/>
          <p:nvPr/>
        </p:nvSpPr>
        <p:spPr>
          <a:xfrm>
            <a:off x="8092440" y="1920240"/>
            <a:ext cx="3383280" cy="210312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938528"/>
            <a:ext cx="64008" cy="2066543"/>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2093976"/>
            <a:ext cx="3017519"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Quality checks</a:t>
            </a:r>
          </a:p>
        </p:txBody>
      </p:sp>
      <p:sp>
        <p:nvSpPr>
          <p:cNvPr id="19" name="TextBox 18"/>
          <p:cNvSpPr txBox="1"/>
          <p:nvPr/>
        </p:nvSpPr>
        <p:spPr>
          <a:xfrm>
            <a:off x="8302752" y="2633472"/>
            <a:ext cx="2990088" cy="124358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Requested length</a:t>
            </a:r>
          </a:p>
          <a:p>
            <a:pPr algn="l">
              <a:spcBef>
                <a:spcPts val="0"/>
              </a:spcBef>
              <a:spcAft>
                <a:spcPts val="200"/>
              </a:spcAft>
            </a:pPr>
            <a:r>
              <a:rPr sz="1300" b="0" i="0">
                <a:solidFill>
                  <a:srgbClr val="5E6B84"/>
                </a:solidFill>
                <a:latin typeface="Aptos"/>
              </a:rPr>
              <a:t>Topic relevance</a:t>
            </a:r>
          </a:p>
          <a:p>
            <a:pPr algn="l">
              <a:spcBef>
                <a:spcPts val="0"/>
              </a:spcBef>
              <a:spcAft>
                <a:spcPts val="200"/>
              </a:spcAft>
            </a:pPr>
            <a:r>
              <a:rPr sz="1300" b="0" i="0">
                <a:solidFill>
                  <a:srgbClr val="5E6B84"/>
                </a:solidFill>
                <a:latin typeface="Aptos"/>
              </a:rPr>
              <a:t>Rhyming quality</a:t>
            </a:r>
          </a:p>
          <a:p>
            <a:pPr algn="l">
              <a:spcBef>
                <a:spcPts val="0"/>
              </a:spcBef>
              <a:spcAft>
                <a:spcPts val="200"/>
              </a:spcAft>
            </a:pPr>
            <a:r>
              <a:rPr sz="1300" b="0" i="0">
                <a:solidFill>
                  <a:srgbClr val="5E6B84"/>
                </a:solidFill>
                <a:latin typeface="Aptos"/>
              </a:rPr>
              <a:t>Respectful, classroom-safe content</a:t>
            </a:r>
          </a:p>
        </p:txBody>
      </p:sp>
      <p:sp>
        <p:nvSpPr>
          <p:cNvPr id="20" name="TextBox 19"/>
          <p:cNvSpPr txBox="1"/>
          <p:nvPr/>
        </p:nvSpPr>
        <p:spPr>
          <a:xfrm>
            <a:off x="777240" y="4709160"/>
            <a:ext cx="10561320" cy="658368"/>
          </a:xfrm>
          <a:prstGeom prst="rect">
            <a:avLst/>
          </a:prstGeom>
          <a:noFill/>
        </p:spPr>
        <p:txBody>
          <a:bodyPr wrap="square" lIns="18288" rIns="18288" tIns="18288" bIns="18288" anchor="t">
            <a:spAutoFit/>
          </a:bodyPr>
          <a:lstStyle/>
          <a:p>
            <a:pPr algn="l">
              <a:spcBef>
                <a:spcPts val="0"/>
              </a:spcBef>
              <a:spcAft>
                <a:spcPts val="200"/>
              </a:spcAft>
            </a:pPr>
            <a:r>
              <a:rPr sz="1600" b="1" i="0">
                <a:solidFill>
                  <a:srgbClr val="1B2740"/>
                </a:solidFill>
                <a:latin typeface="Aptos"/>
              </a:rPr>
              <a:t>A possible scoring system: rate rhyme quality, creativity, topic relevance, and flow separately instead of treating one score as perfect.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11C35"/>
        </a:solidFill>
        <a:effectLst/>
      </p:bgPr>
    </p:bg>
    <p:spTree>
      <p:nvGrpSpPr>
        <p:cNvPr id="1" name=""/>
        <p:cNvGrpSpPr/>
        <p:nvPr/>
      </p:nvGrpSpPr>
      <p:grpSpPr/>
      <p:sp>
        <p:nvSpPr>
          <p:cNvPr id="2" name="TextBox 1"/>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9EABC1"/>
                </a:solidFill>
                <a:latin typeface="Aptos"/>
              </a:rPr>
              <a:t>AI MINI PROJECT IDEAS  •  BEGINNER-FRIENDLY GUIDE</a:t>
            </a:r>
          </a:p>
        </p:txBody>
      </p:sp>
      <p:sp>
        <p:nvSpPr>
          <p:cNvPr id="3" name="TextBox 2"/>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9EABC1"/>
                </a:solidFill>
                <a:latin typeface="Aptos"/>
              </a:rPr>
              <a:t>19</a:t>
            </a:r>
          </a:p>
        </p:txBody>
      </p:sp>
      <p:sp>
        <p:nvSpPr>
          <p:cNvPr id="4" name="Rounded Rectangle 3"/>
          <p:cNvSpPr/>
          <p:nvPr/>
        </p:nvSpPr>
        <p:spPr>
          <a:xfrm>
            <a:off x="685800" y="658368"/>
            <a:ext cx="1188720" cy="292608"/>
          </a:xfrm>
          <a:prstGeom prst="roundRect">
            <a:avLst/>
          </a:prstGeom>
          <a:solidFill>
            <a:srgbClr val="4A2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0664" y="690372"/>
            <a:ext cx="107899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FFB9CC"/>
                </a:solidFill>
                <a:latin typeface="Aptos"/>
              </a:rPr>
              <a:t>PROJECT 03</a:t>
            </a:r>
          </a:p>
        </p:txBody>
      </p:sp>
      <p:sp>
        <p:nvSpPr>
          <p:cNvPr id="6" name="TextBox 5"/>
          <p:cNvSpPr txBox="1"/>
          <p:nvPr/>
        </p:nvSpPr>
        <p:spPr>
          <a:xfrm>
            <a:off x="685800" y="1417320"/>
            <a:ext cx="5486400" cy="1463040"/>
          </a:xfrm>
          <a:prstGeom prst="rect">
            <a:avLst/>
          </a:prstGeom>
          <a:noFill/>
        </p:spPr>
        <p:txBody>
          <a:bodyPr wrap="square" lIns="18288" rIns="18288" tIns="18288" bIns="18288" anchor="t">
            <a:spAutoFit/>
          </a:bodyPr>
          <a:lstStyle/>
          <a:p>
            <a:pPr algn="l">
              <a:spcBef>
                <a:spcPts val="0"/>
              </a:spcBef>
              <a:spcAft>
                <a:spcPts val="200"/>
              </a:spcAft>
            </a:pPr>
            <a:r>
              <a:rPr sz="3800" b="1" i="0">
                <a:solidFill>
                  <a:srgbClr val="FFFFFF"/>
                </a:solidFill>
                <a:latin typeface="Aptos"/>
              </a:rPr>
              <a:t>AI MEME</a:t>
            </a:r>
          </a:p>
          <a:p>
            <a:pPr algn="l">
              <a:spcBef>
                <a:spcPts val="0"/>
              </a:spcBef>
              <a:spcAft>
                <a:spcPts val="200"/>
              </a:spcAft>
            </a:pPr>
            <a:r>
              <a:rPr sz="3800" b="1" i="0">
                <a:solidFill>
                  <a:srgbClr val="FFFFFF"/>
                </a:solidFill>
                <a:latin typeface="Aptos"/>
              </a:rPr>
              <a:t>MAKER</a:t>
            </a:r>
          </a:p>
        </p:txBody>
      </p:sp>
      <p:sp>
        <p:nvSpPr>
          <p:cNvPr id="7" name="TextBox 6"/>
          <p:cNvSpPr txBox="1"/>
          <p:nvPr/>
        </p:nvSpPr>
        <p:spPr>
          <a:xfrm>
            <a:off x="731520" y="3246120"/>
            <a:ext cx="5577840" cy="685800"/>
          </a:xfrm>
          <a:prstGeom prst="rect">
            <a:avLst/>
          </a:prstGeom>
          <a:noFill/>
        </p:spPr>
        <p:txBody>
          <a:bodyPr wrap="square" lIns="18288" rIns="18288" tIns="18288" bIns="18288" anchor="t">
            <a:spAutoFit/>
          </a:bodyPr>
          <a:lstStyle/>
          <a:p>
            <a:pPr algn="l">
              <a:spcBef>
                <a:spcPts val="0"/>
              </a:spcBef>
              <a:spcAft>
                <a:spcPts val="200"/>
              </a:spcAft>
            </a:pPr>
            <a:r>
              <a:rPr sz="1800" b="0" i="0">
                <a:solidFill>
                  <a:srgbClr val="D7E0F1"/>
                </a:solidFill>
                <a:latin typeface="Aptos"/>
              </a:rPr>
              <a:t>A web or mobile tool that combines a picture with a context-aware caption.</a:t>
            </a:r>
          </a:p>
        </p:txBody>
      </p:sp>
      <p:sp>
        <p:nvSpPr>
          <p:cNvPr id="8" name="Rounded Rectangle 7"/>
          <p:cNvSpPr/>
          <p:nvPr/>
        </p:nvSpPr>
        <p:spPr>
          <a:xfrm>
            <a:off x="7589520" y="1417320"/>
            <a:ext cx="283464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18120" y="1691640"/>
            <a:ext cx="2377440" cy="1463040"/>
          </a:xfrm>
          <a:prstGeom prst="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0" y="1874519"/>
            <a:ext cx="777240" cy="777240"/>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577072" y="2084831"/>
            <a:ext cx="109728" cy="109728"/>
          </a:xfrm>
          <a:prstGeom prst="ellipse">
            <a:avLst/>
          </a:prstGeom>
          <a:solidFill>
            <a:srgbClr val="11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924544" y="2084831"/>
            <a:ext cx="109728" cy="109728"/>
          </a:xfrm>
          <a:prstGeom prst="ellipse">
            <a:avLst/>
          </a:prstGeom>
          <a:solidFill>
            <a:srgbClr val="11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18120" y="3401568"/>
            <a:ext cx="2377440" cy="685800"/>
          </a:xfrm>
          <a:prstGeom prst="rect">
            <a:avLst/>
          </a:prstGeom>
          <a:noFill/>
        </p:spPr>
        <p:txBody>
          <a:bodyPr wrap="square" lIns="18288" rIns="18288" tIns="18288" bIns="18288" anchor="ctr">
            <a:spAutoFit/>
          </a:bodyPr>
          <a:lstStyle/>
          <a:p>
            <a:pPr algn="ctr">
              <a:spcBef>
                <a:spcPts val="0"/>
              </a:spcBef>
              <a:spcAft>
                <a:spcPts val="200"/>
              </a:spcAft>
            </a:pPr>
            <a:r>
              <a:rPr sz="1600" b="1" i="0">
                <a:solidFill>
                  <a:srgbClr val="111C35"/>
                </a:solidFill>
                <a:latin typeface="Aptos"/>
              </a:rPr>
              <a:t>WHEN THE CODE</a:t>
            </a:r>
          </a:p>
          <a:p>
            <a:pPr algn="ctr">
              <a:spcBef>
                <a:spcPts val="0"/>
              </a:spcBef>
              <a:spcAft>
                <a:spcPts val="200"/>
              </a:spcAft>
            </a:pPr>
            <a:r>
              <a:rPr sz="1600" b="1" i="0">
                <a:solidFill>
                  <a:srgbClr val="111C35"/>
                </a:solidFill>
                <a:latin typeface="Aptos"/>
              </a:rPr>
              <a:t>FINALLY WORKS</a:t>
            </a:r>
          </a:p>
        </p:txBody>
      </p:sp>
      <p:sp>
        <p:nvSpPr>
          <p:cNvPr id="14" name="TextBox 13"/>
          <p:cNvSpPr txBox="1"/>
          <p:nvPr/>
        </p:nvSpPr>
        <p:spPr>
          <a:xfrm>
            <a:off x="6766560" y="5166360"/>
            <a:ext cx="4480560" cy="320040"/>
          </a:xfrm>
          <a:prstGeom prst="rect">
            <a:avLst/>
          </a:prstGeom>
          <a:noFill/>
        </p:spPr>
        <p:txBody>
          <a:bodyPr wrap="square" lIns="18288" rIns="18288" tIns="18288" bIns="18288" anchor="t">
            <a:spAutoFit/>
          </a:bodyPr>
          <a:lstStyle/>
          <a:p>
            <a:pPr algn="ctr">
              <a:spcBef>
                <a:spcPts val="0"/>
              </a:spcBef>
              <a:spcAft>
                <a:spcPts val="200"/>
              </a:spcAft>
            </a:pPr>
            <a:r>
              <a:rPr sz="1100" b="1" i="0">
                <a:solidFill>
                  <a:srgbClr val="B3C2DB"/>
                </a:solidFill>
                <a:latin typeface="Aptos"/>
              </a:rPr>
              <a:t>TEMPLATE  +  CAPTION  +  RENDER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17C9A"/>
                </a:solidFill>
                <a:latin typeface="Aptos"/>
              </a:rPr>
              <a:t>03 • AI MEME MAKER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How the Meme Maker works</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The goal is to go from an idea or image to a shareable meme in a few steps.</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20</a:t>
            </a:r>
          </a:p>
        </p:txBody>
      </p:sp>
      <p:sp>
        <p:nvSpPr>
          <p:cNvPr id="8" name="Rounded Rectangle 7"/>
          <p:cNvSpPr/>
          <p:nvPr/>
        </p:nvSpPr>
        <p:spPr>
          <a:xfrm>
            <a:off x="731520" y="2121408"/>
            <a:ext cx="2148840" cy="132588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 y="2267712"/>
            <a:ext cx="201168" cy="201168"/>
          </a:xfrm>
          <a:prstGeom prst="ellipse">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 y="2240279"/>
            <a:ext cx="163677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1. INPUT</a:t>
            </a:r>
          </a:p>
        </p:txBody>
      </p:sp>
      <p:sp>
        <p:nvSpPr>
          <p:cNvPr id="11" name="TextBox 10"/>
          <p:cNvSpPr txBox="1"/>
          <p:nvPr/>
        </p:nvSpPr>
        <p:spPr>
          <a:xfrm>
            <a:off x="877824" y="2624328"/>
            <a:ext cx="1856232" cy="758952"/>
          </a:xfrm>
          <a:prstGeom prst="rect">
            <a:avLst/>
          </a:prstGeom>
          <a:noFill/>
        </p:spPr>
        <p:txBody>
          <a:bodyPr wrap="square" lIns="18288" rIns="18288" tIns="18288" bIns="18288" anchor="t">
            <a:spAutoFit/>
          </a:bodyPr>
          <a:lstStyle/>
          <a:p>
            <a:pPr algn="l">
              <a:spcBef>
                <a:spcPts val="0"/>
              </a:spcBef>
              <a:spcAft>
                <a:spcPts val="200"/>
              </a:spcAft>
            </a:pPr>
            <a:r>
              <a:rPr sz="1100" b="0" i="0">
                <a:solidFill>
                  <a:srgbClr val="5E6B84"/>
                </a:solidFill>
                <a:latin typeface="Aptos"/>
              </a:rPr>
              <a:t>Topic or uploaded image</a:t>
            </a:r>
          </a:p>
        </p:txBody>
      </p:sp>
      <p:sp>
        <p:nvSpPr>
          <p:cNvPr id="12" name="Rounded Rectangle 11"/>
          <p:cNvSpPr/>
          <p:nvPr/>
        </p:nvSpPr>
        <p:spPr>
          <a:xfrm>
            <a:off x="3246120" y="2121408"/>
            <a:ext cx="2148840" cy="132588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374136" y="2267712"/>
            <a:ext cx="201168" cy="201168"/>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9312" y="2240279"/>
            <a:ext cx="163677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2. TEMPLATE</a:t>
            </a:r>
          </a:p>
        </p:txBody>
      </p:sp>
      <p:sp>
        <p:nvSpPr>
          <p:cNvPr id="15" name="TextBox 14"/>
          <p:cNvSpPr txBox="1"/>
          <p:nvPr/>
        </p:nvSpPr>
        <p:spPr>
          <a:xfrm>
            <a:off x="3392424" y="2624328"/>
            <a:ext cx="1856232" cy="758952"/>
          </a:xfrm>
          <a:prstGeom prst="rect">
            <a:avLst/>
          </a:prstGeom>
          <a:noFill/>
        </p:spPr>
        <p:txBody>
          <a:bodyPr wrap="square" lIns="18288" rIns="18288" tIns="18288" bIns="18288" anchor="t">
            <a:spAutoFit/>
          </a:bodyPr>
          <a:lstStyle/>
          <a:p>
            <a:pPr algn="l">
              <a:spcBef>
                <a:spcPts val="0"/>
              </a:spcBef>
              <a:spcAft>
                <a:spcPts val="200"/>
              </a:spcAft>
            </a:pPr>
            <a:r>
              <a:rPr sz="1100" b="0" i="0">
                <a:solidFill>
                  <a:srgbClr val="5E6B84"/>
                </a:solidFill>
                <a:latin typeface="Aptos"/>
              </a:rPr>
              <a:t>Choose a suitable layout</a:t>
            </a:r>
          </a:p>
        </p:txBody>
      </p:sp>
      <p:sp>
        <p:nvSpPr>
          <p:cNvPr id="16" name="Rounded Rectangle 15"/>
          <p:cNvSpPr/>
          <p:nvPr/>
        </p:nvSpPr>
        <p:spPr>
          <a:xfrm>
            <a:off x="5760720" y="2121408"/>
            <a:ext cx="2148840" cy="132588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88736" y="2267712"/>
            <a:ext cx="201168" cy="201168"/>
          </a:xfrm>
          <a:prstGeom prst="ellipse">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2240279"/>
            <a:ext cx="163677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3. CAPTION</a:t>
            </a:r>
          </a:p>
        </p:txBody>
      </p:sp>
      <p:sp>
        <p:nvSpPr>
          <p:cNvPr id="19" name="TextBox 18"/>
          <p:cNvSpPr txBox="1"/>
          <p:nvPr/>
        </p:nvSpPr>
        <p:spPr>
          <a:xfrm>
            <a:off x="5907024" y="2624328"/>
            <a:ext cx="1856232" cy="758952"/>
          </a:xfrm>
          <a:prstGeom prst="rect">
            <a:avLst/>
          </a:prstGeom>
          <a:noFill/>
        </p:spPr>
        <p:txBody>
          <a:bodyPr wrap="square" lIns="18288" rIns="18288" tIns="18288" bIns="18288" anchor="t">
            <a:spAutoFit/>
          </a:bodyPr>
          <a:lstStyle/>
          <a:p>
            <a:pPr algn="l">
              <a:spcBef>
                <a:spcPts val="0"/>
              </a:spcBef>
              <a:spcAft>
                <a:spcPts val="200"/>
              </a:spcAft>
            </a:pPr>
            <a:r>
              <a:rPr sz="1100" b="0" i="0">
                <a:solidFill>
                  <a:srgbClr val="5E6B84"/>
                </a:solidFill>
                <a:latin typeface="Aptos"/>
              </a:rPr>
              <a:t>Generate top / bottom text</a:t>
            </a:r>
          </a:p>
        </p:txBody>
      </p:sp>
      <p:sp>
        <p:nvSpPr>
          <p:cNvPr id="20" name="Rounded Rectangle 19"/>
          <p:cNvSpPr/>
          <p:nvPr/>
        </p:nvSpPr>
        <p:spPr>
          <a:xfrm>
            <a:off x="8275320" y="2121408"/>
            <a:ext cx="2651760" cy="132588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403336" y="2267712"/>
            <a:ext cx="201168" cy="201168"/>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68512" y="2240279"/>
            <a:ext cx="213969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4. RENDER</a:t>
            </a:r>
          </a:p>
        </p:txBody>
      </p:sp>
      <p:sp>
        <p:nvSpPr>
          <p:cNvPr id="23" name="TextBox 22"/>
          <p:cNvSpPr txBox="1"/>
          <p:nvPr/>
        </p:nvSpPr>
        <p:spPr>
          <a:xfrm>
            <a:off x="8421624" y="2624328"/>
            <a:ext cx="2359152" cy="758952"/>
          </a:xfrm>
          <a:prstGeom prst="rect">
            <a:avLst/>
          </a:prstGeom>
          <a:noFill/>
        </p:spPr>
        <p:txBody>
          <a:bodyPr wrap="square" lIns="18288" rIns="18288" tIns="18288" bIns="18288" anchor="t">
            <a:spAutoFit/>
          </a:bodyPr>
          <a:lstStyle/>
          <a:p>
            <a:pPr algn="l">
              <a:spcBef>
                <a:spcPts val="0"/>
              </a:spcBef>
              <a:spcAft>
                <a:spcPts val="200"/>
              </a:spcAft>
            </a:pPr>
            <a:r>
              <a:rPr sz="1100" b="0" i="0">
                <a:solidFill>
                  <a:srgbClr val="5E6B84"/>
                </a:solidFill>
                <a:latin typeface="Aptos"/>
              </a:rPr>
              <a:t>Overlay text on image</a:t>
            </a:r>
          </a:p>
        </p:txBody>
      </p:sp>
      <p:cxnSp>
        <p:nvCxnSpPr>
          <p:cNvPr id="24" name="Connector 23"/>
          <p:cNvCxnSpPr/>
          <p:nvPr/>
        </p:nvCxnSpPr>
        <p:spPr>
          <a:xfrm>
            <a:off x="2907792" y="2770632"/>
            <a:ext cx="265176"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422392" y="2770632"/>
            <a:ext cx="265176"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936992" y="2770632"/>
            <a:ext cx="265176"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005840" y="4251960"/>
            <a:ext cx="4572000" cy="11155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05840" y="4270248"/>
            <a:ext cx="64008" cy="1078992"/>
          </a:xfrm>
          <a:prstGeom prst="rect">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07008" y="4425696"/>
            <a:ext cx="4206240" cy="384048"/>
          </a:xfrm>
          <a:prstGeom prst="rect">
            <a:avLst/>
          </a:prstGeom>
          <a:noFill/>
        </p:spPr>
        <p:txBody>
          <a:bodyPr wrap="square" lIns="18288" rIns="18288" tIns="18288" bIns="18288" anchor="ctr">
            <a:spAutoFit/>
          </a:bodyPr>
          <a:lstStyle/>
          <a:p>
            <a:pPr algn="l">
              <a:spcBef>
                <a:spcPts val="0"/>
              </a:spcBef>
              <a:spcAft>
                <a:spcPts val="200"/>
              </a:spcAft>
            </a:pPr>
            <a:r>
              <a:rPr sz="1500" b="1" i="0">
                <a:solidFill>
                  <a:srgbClr val="1B2740"/>
                </a:solidFill>
                <a:latin typeface="Aptos"/>
              </a:rPr>
              <a:t>User controls</a:t>
            </a:r>
          </a:p>
        </p:txBody>
      </p:sp>
      <p:sp>
        <p:nvSpPr>
          <p:cNvPr id="30" name="TextBox 29"/>
          <p:cNvSpPr txBox="1"/>
          <p:nvPr/>
        </p:nvSpPr>
        <p:spPr>
          <a:xfrm>
            <a:off x="1216152" y="4965192"/>
            <a:ext cx="4178808" cy="256032"/>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Change the caption, font, size, placement, or template before saving.</a:t>
            </a:r>
          </a:p>
        </p:txBody>
      </p:sp>
      <p:sp>
        <p:nvSpPr>
          <p:cNvPr id="31" name="Rounded Rectangle 30"/>
          <p:cNvSpPr/>
          <p:nvPr/>
        </p:nvSpPr>
        <p:spPr>
          <a:xfrm>
            <a:off x="6446520" y="4251960"/>
            <a:ext cx="4572000" cy="11155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46520" y="4270248"/>
            <a:ext cx="64008" cy="1078992"/>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47688" y="4425696"/>
            <a:ext cx="4206240" cy="384048"/>
          </a:xfrm>
          <a:prstGeom prst="rect">
            <a:avLst/>
          </a:prstGeom>
          <a:noFill/>
        </p:spPr>
        <p:txBody>
          <a:bodyPr wrap="square" lIns="18288" rIns="18288" tIns="18288" bIns="18288" anchor="ctr">
            <a:spAutoFit/>
          </a:bodyPr>
          <a:lstStyle/>
          <a:p>
            <a:pPr algn="l">
              <a:spcBef>
                <a:spcPts val="0"/>
              </a:spcBef>
              <a:spcAft>
                <a:spcPts val="200"/>
              </a:spcAft>
            </a:pPr>
            <a:r>
              <a:rPr sz="1500" b="1" i="0">
                <a:solidFill>
                  <a:srgbClr val="1B2740"/>
                </a:solidFill>
                <a:latin typeface="Aptos"/>
              </a:rPr>
              <a:t>Finished result</a:t>
            </a:r>
          </a:p>
        </p:txBody>
      </p:sp>
      <p:sp>
        <p:nvSpPr>
          <p:cNvPr id="34" name="TextBox 33"/>
          <p:cNvSpPr txBox="1"/>
          <p:nvPr/>
        </p:nvSpPr>
        <p:spPr>
          <a:xfrm>
            <a:off x="6656832" y="4965192"/>
            <a:ext cx="4178808" cy="256032"/>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A single image with readable text that can be downloaded or shared.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17C9A"/>
                </a:solidFill>
                <a:latin typeface="Aptos"/>
              </a:rPr>
              <a:t>03 • AI MEME MAKER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Core modules: templates, captions, and image understanding</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Image understanding is optional; a first version can work with a topic and preset templates.</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21</a:t>
            </a:r>
          </a:p>
        </p:txBody>
      </p:sp>
      <p:sp>
        <p:nvSpPr>
          <p:cNvPr id="8" name="Rounded Rectangle 7"/>
          <p:cNvSpPr/>
          <p:nvPr/>
        </p:nvSpPr>
        <p:spPr>
          <a:xfrm>
            <a:off x="685800" y="1901952"/>
            <a:ext cx="3429000" cy="315468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20240"/>
            <a:ext cx="64008" cy="3118104"/>
          </a:xfrm>
          <a:prstGeom prst="rect">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075688"/>
            <a:ext cx="306324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Template Selector</a:t>
            </a:r>
          </a:p>
        </p:txBody>
      </p:sp>
      <p:sp>
        <p:nvSpPr>
          <p:cNvPr id="11" name="TextBox 10"/>
          <p:cNvSpPr txBox="1"/>
          <p:nvPr/>
        </p:nvSpPr>
        <p:spPr>
          <a:xfrm>
            <a:off x="896112" y="2615184"/>
            <a:ext cx="3035808" cy="229514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Finds or stores meme layouts.</a:t>
            </a:r>
          </a:p>
          <a:p>
            <a:pPr algn="l">
              <a:spcBef>
                <a:spcPts val="0"/>
              </a:spcBef>
              <a:spcAft>
                <a:spcPts val="200"/>
              </a:spcAft>
            </a:pPr>
          </a:p>
          <a:p>
            <a:pPr algn="l">
              <a:spcBef>
                <a:spcPts val="0"/>
              </a:spcBef>
              <a:spcAft>
                <a:spcPts val="200"/>
              </a:spcAft>
            </a:pPr>
            <a:r>
              <a:rPr sz="1300" b="0" i="0">
                <a:solidFill>
                  <a:srgbClr val="5E6B84"/>
                </a:solidFill>
                <a:latin typeface="Aptos"/>
              </a:rPr>
              <a:t>Source idea: Imgflip or a local template folder. Templates can be grouped by mood, such as sarcastic, wholesome, or ironic.</a:t>
            </a:r>
          </a:p>
        </p:txBody>
      </p:sp>
      <p:sp>
        <p:nvSpPr>
          <p:cNvPr id="12" name="Rounded Rectangle 11"/>
          <p:cNvSpPr/>
          <p:nvPr/>
        </p:nvSpPr>
        <p:spPr>
          <a:xfrm>
            <a:off x="4389120" y="1901952"/>
            <a:ext cx="3429000" cy="315468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920240"/>
            <a:ext cx="64008" cy="3118104"/>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075688"/>
            <a:ext cx="306324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Caption Generator</a:t>
            </a:r>
          </a:p>
        </p:txBody>
      </p:sp>
      <p:sp>
        <p:nvSpPr>
          <p:cNvPr id="15" name="TextBox 14"/>
          <p:cNvSpPr txBox="1"/>
          <p:nvPr/>
        </p:nvSpPr>
        <p:spPr>
          <a:xfrm>
            <a:off x="4599432" y="2615184"/>
            <a:ext cx="3035808" cy="229514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Creates short text using the topic, selected image, and optional mood.</a:t>
            </a:r>
          </a:p>
          <a:p>
            <a:pPr algn="l">
              <a:spcBef>
                <a:spcPts val="0"/>
              </a:spcBef>
              <a:spcAft>
                <a:spcPts val="200"/>
              </a:spcAft>
            </a:pPr>
          </a:p>
          <a:p>
            <a:pPr algn="l">
              <a:spcBef>
                <a:spcPts val="0"/>
              </a:spcBef>
              <a:spcAft>
                <a:spcPts val="200"/>
              </a:spcAft>
            </a:pPr>
            <a:r>
              <a:rPr sz="1300" b="0" i="0">
                <a:solidFill>
                  <a:srgbClr val="5E6B84"/>
                </a:solidFill>
                <a:latin typeface="Aptos"/>
              </a:rPr>
              <a:t>The app can ask for top text and bottom text separately.</a:t>
            </a:r>
          </a:p>
        </p:txBody>
      </p:sp>
      <p:sp>
        <p:nvSpPr>
          <p:cNvPr id="16" name="Rounded Rectangle 15"/>
          <p:cNvSpPr/>
          <p:nvPr/>
        </p:nvSpPr>
        <p:spPr>
          <a:xfrm>
            <a:off x="8092440" y="1901952"/>
            <a:ext cx="3429000" cy="315468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920240"/>
            <a:ext cx="64008" cy="311810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2075688"/>
            <a:ext cx="3063239"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Image Captioning (optional)</a:t>
            </a:r>
          </a:p>
        </p:txBody>
      </p:sp>
      <p:sp>
        <p:nvSpPr>
          <p:cNvPr id="19" name="TextBox 18"/>
          <p:cNvSpPr txBox="1"/>
          <p:nvPr/>
        </p:nvSpPr>
        <p:spPr>
          <a:xfrm>
            <a:off x="8302752" y="2615184"/>
            <a:ext cx="3035808" cy="229514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BLIP or CLIP can help analyze an uploaded image so the caption relates to what is shown.</a:t>
            </a:r>
          </a:p>
        </p:txBody>
      </p:sp>
      <p:sp>
        <p:nvSpPr>
          <p:cNvPr id="20" name="Rounded Rectangle 19"/>
          <p:cNvSpPr/>
          <p:nvPr/>
        </p:nvSpPr>
        <p:spPr>
          <a:xfrm>
            <a:off x="777240" y="5376672"/>
            <a:ext cx="2286000" cy="292608"/>
          </a:xfrm>
          <a:prstGeom prst="round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3" y="5408676"/>
            <a:ext cx="217627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B43D61"/>
                </a:solidFill>
                <a:latin typeface="Aptos"/>
              </a:rPr>
              <a:t>START WITHOUT IMAGE AI</a:t>
            </a:r>
          </a:p>
        </p:txBody>
      </p:sp>
      <p:sp>
        <p:nvSpPr>
          <p:cNvPr id="22" name="TextBox 21"/>
          <p:cNvSpPr txBox="1"/>
          <p:nvPr/>
        </p:nvSpPr>
        <p:spPr>
          <a:xfrm>
            <a:off x="3246120" y="5349240"/>
            <a:ext cx="7589520" cy="411480"/>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Use a topic + template + generated caption first. Add image understanding only if it improves the result.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17C9A"/>
                </a:solidFill>
                <a:latin typeface="Aptos"/>
              </a:rPr>
              <a:t>03 • AI MEME MAKER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The meme renderer makes the final image</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The renderer is the part that puts text onto the image with the correct layout.</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22</a:t>
            </a:r>
          </a:p>
        </p:txBody>
      </p:sp>
      <p:sp>
        <p:nvSpPr>
          <p:cNvPr id="8" name="TextBox 7"/>
          <p:cNvSpPr txBox="1"/>
          <p:nvPr/>
        </p:nvSpPr>
        <p:spPr>
          <a:xfrm>
            <a:off x="914400" y="1938528"/>
            <a:ext cx="1828800" cy="274320"/>
          </a:xfrm>
          <a:prstGeom prst="rect">
            <a:avLst/>
          </a:prstGeom>
          <a:noFill/>
        </p:spPr>
        <p:txBody>
          <a:bodyPr wrap="square" lIns="18288" rIns="18288" tIns="18288" bIns="18288" anchor="t">
            <a:spAutoFit/>
          </a:bodyPr>
          <a:lstStyle/>
          <a:p>
            <a:pPr algn="ctr">
              <a:spcBef>
                <a:spcPts val="0"/>
              </a:spcBef>
              <a:spcAft>
                <a:spcPts val="200"/>
              </a:spcAft>
            </a:pPr>
            <a:r>
              <a:rPr sz="1000" b="1" i="0">
                <a:solidFill>
                  <a:srgbClr val="5E6B84"/>
                </a:solidFill>
                <a:latin typeface="Aptos"/>
              </a:rPr>
              <a:t>BEFORE</a:t>
            </a:r>
          </a:p>
        </p:txBody>
      </p:sp>
      <p:sp>
        <p:nvSpPr>
          <p:cNvPr id="9" name="Rounded Rectangle 8"/>
          <p:cNvSpPr/>
          <p:nvPr/>
        </p:nvSpPr>
        <p:spPr>
          <a:xfrm>
            <a:off x="868680" y="2331720"/>
            <a:ext cx="2011680" cy="157276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481328" y="2615184"/>
            <a:ext cx="749808" cy="749808"/>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938528"/>
            <a:ext cx="1828800" cy="274320"/>
          </a:xfrm>
          <a:prstGeom prst="rect">
            <a:avLst/>
          </a:prstGeom>
          <a:noFill/>
        </p:spPr>
        <p:txBody>
          <a:bodyPr wrap="square" lIns="18288" rIns="18288" tIns="18288" bIns="18288" anchor="t">
            <a:spAutoFit/>
          </a:bodyPr>
          <a:lstStyle/>
          <a:p>
            <a:pPr algn="ctr">
              <a:spcBef>
                <a:spcPts val="0"/>
              </a:spcBef>
              <a:spcAft>
                <a:spcPts val="200"/>
              </a:spcAft>
            </a:pPr>
            <a:r>
              <a:rPr sz="1000" b="1" i="0">
                <a:solidFill>
                  <a:srgbClr val="5E6B84"/>
                </a:solidFill>
                <a:latin typeface="Aptos"/>
              </a:rPr>
              <a:t>AFTER</a:t>
            </a:r>
          </a:p>
        </p:txBody>
      </p:sp>
      <p:sp>
        <p:nvSpPr>
          <p:cNvPr id="12" name="Rounded Rectangle 11"/>
          <p:cNvSpPr/>
          <p:nvPr/>
        </p:nvSpPr>
        <p:spPr>
          <a:xfrm>
            <a:off x="3611880" y="2331720"/>
            <a:ext cx="2011680" cy="157276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30752" y="2441448"/>
            <a:ext cx="1773936" cy="566928"/>
          </a:xfrm>
          <a:prstGeom prst="rect">
            <a:avLst/>
          </a:prstGeom>
          <a:noFill/>
        </p:spPr>
        <p:txBody>
          <a:bodyPr wrap="square" lIns="18288" rIns="18288" tIns="18288" bIns="18288" anchor="t">
            <a:spAutoFit/>
          </a:bodyPr>
          <a:lstStyle/>
          <a:p>
            <a:pPr algn="ctr">
              <a:spcBef>
                <a:spcPts val="0"/>
              </a:spcBef>
              <a:spcAft>
                <a:spcPts val="200"/>
              </a:spcAft>
            </a:pPr>
            <a:r>
              <a:rPr sz="1200" b="1" i="0">
                <a:solidFill>
                  <a:srgbClr val="111C35"/>
                </a:solidFill>
                <a:latin typeface="Aptos"/>
              </a:rPr>
              <a:t>WHEN YOU FIX</a:t>
            </a:r>
          </a:p>
          <a:p>
            <a:pPr algn="ctr">
              <a:spcBef>
                <a:spcPts val="0"/>
              </a:spcBef>
              <a:spcAft>
                <a:spcPts val="200"/>
              </a:spcAft>
            </a:pPr>
            <a:r>
              <a:rPr sz="1200" b="1" i="0">
                <a:solidFill>
                  <a:srgbClr val="111C35"/>
                </a:solidFill>
                <a:latin typeface="Aptos"/>
              </a:rPr>
              <a:t>ONE BUG…</a:t>
            </a:r>
          </a:p>
        </p:txBody>
      </p:sp>
      <p:sp>
        <p:nvSpPr>
          <p:cNvPr id="14" name="Oval 13"/>
          <p:cNvSpPr/>
          <p:nvPr/>
        </p:nvSpPr>
        <p:spPr>
          <a:xfrm>
            <a:off x="4233672" y="3035808"/>
            <a:ext cx="749808" cy="749808"/>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hevron 14"/>
          <p:cNvSpPr/>
          <p:nvPr/>
        </p:nvSpPr>
        <p:spPr>
          <a:xfrm>
            <a:off x="3063240" y="2761488"/>
            <a:ext cx="365760" cy="502920"/>
          </a:xfrm>
          <a:prstGeom prst="chevron">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26480" y="2011680"/>
            <a:ext cx="5074920" cy="24231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2029968"/>
            <a:ext cx="64008" cy="238658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7648" y="2185416"/>
            <a:ext cx="470916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Renderer responsibilities</a:t>
            </a:r>
          </a:p>
        </p:txBody>
      </p:sp>
      <p:sp>
        <p:nvSpPr>
          <p:cNvPr id="19" name="TextBox 18"/>
          <p:cNvSpPr txBox="1"/>
          <p:nvPr/>
        </p:nvSpPr>
        <p:spPr>
          <a:xfrm>
            <a:off x="6336792" y="2724912"/>
            <a:ext cx="4681728" cy="1563624"/>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 Overlay captions clearly</a:t>
            </a:r>
          </a:p>
          <a:p>
            <a:pPr algn="l">
              <a:spcBef>
                <a:spcPts val="0"/>
              </a:spcBef>
              <a:spcAft>
                <a:spcPts val="200"/>
              </a:spcAft>
            </a:pPr>
            <a:r>
              <a:rPr sz="1400" b="0" i="0">
                <a:solidFill>
                  <a:srgbClr val="5E6B84"/>
                </a:solidFill>
                <a:latin typeface="Aptos"/>
              </a:rPr>
              <a:t>• Choose font and size</a:t>
            </a:r>
          </a:p>
          <a:p>
            <a:pPr algn="l">
              <a:spcBef>
                <a:spcPts val="0"/>
              </a:spcBef>
              <a:spcAft>
                <a:spcPts val="200"/>
              </a:spcAft>
            </a:pPr>
            <a:r>
              <a:rPr sz="1400" b="0" i="0">
                <a:solidFill>
                  <a:srgbClr val="5E6B84"/>
                </a:solidFill>
                <a:latin typeface="Aptos"/>
              </a:rPr>
              <a:t>• Position top and bottom text</a:t>
            </a:r>
          </a:p>
          <a:p>
            <a:pPr algn="l">
              <a:spcBef>
                <a:spcPts val="0"/>
              </a:spcBef>
              <a:spcAft>
                <a:spcPts val="200"/>
              </a:spcAft>
            </a:pPr>
            <a:r>
              <a:rPr sz="1400" b="0" i="0">
                <a:solidFill>
                  <a:srgbClr val="5E6B84"/>
                </a:solidFill>
                <a:latin typeface="Aptos"/>
              </a:rPr>
              <a:t>• Keep text inside image edges</a:t>
            </a:r>
          </a:p>
          <a:p>
            <a:pPr algn="l">
              <a:spcBef>
                <a:spcPts val="0"/>
              </a:spcBef>
              <a:spcAft>
                <a:spcPts val="200"/>
              </a:spcAft>
            </a:pPr>
            <a:r>
              <a:rPr sz="1400" b="0" i="0">
                <a:solidFill>
                  <a:srgbClr val="5E6B84"/>
                </a:solidFill>
                <a:latin typeface="Aptos"/>
              </a:rPr>
              <a:t>• Export a final image file</a:t>
            </a:r>
          </a:p>
        </p:txBody>
      </p:sp>
      <p:sp>
        <p:nvSpPr>
          <p:cNvPr id="20" name="TextBox 19"/>
          <p:cNvSpPr txBox="1"/>
          <p:nvPr/>
        </p:nvSpPr>
        <p:spPr>
          <a:xfrm>
            <a:off x="6355080" y="4800600"/>
            <a:ext cx="4663440" cy="365760"/>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Source idea: use Pillow (PIL) or OpenCV for image rendering.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17C9A"/>
                </a:solidFill>
                <a:latin typeface="Aptos"/>
              </a:rPr>
              <a:t>03 • AI MEME MAKER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Possible technology stack</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Each tool handles one job. You can replace options as your project grows.</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23</a:t>
            </a:r>
          </a:p>
        </p:txBody>
      </p:sp>
      <p:sp>
        <p:nvSpPr>
          <p:cNvPr id="8" name="Rounded Rectangle 7"/>
          <p:cNvSpPr/>
          <p:nvPr/>
        </p:nvSpPr>
        <p:spPr>
          <a:xfrm>
            <a:off x="777240" y="1993391"/>
            <a:ext cx="1481328" cy="292608"/>
          </a:xfrm>
          <a:prstGeom prst="roundRect">
            <a:avLst/>
          </a:prstGeom>
          <a:solidFill>
            <a:srgbClr val="EEE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3" y="2025395"/>
            <a:ext cx="1371600"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8A70E8"/>
                </a:solidFill>
                <a:latin typeface="Aptos"/>
              </a:rPr>
              <a:t>AI CAPTION</a:t>
            </a:r>
          </a:p>
        </p:txBody>
      </p:sp>
      <p:sp>
        <p:nvSpPr>
          <p:cNvPr id="10" name="TextBox 9"/>
          <p:cNvSpPr txBox="1"/>
          <p:nvPr/>
        </p:nvSpPr>
        <p:spPr>
          <a:xfrm>
            <a:off x="2542032" y="1929384"/>
            <a:ext cx="3794760" cy="320040"/>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GPT-4 or another language model</a:t>
            </a:r>
          </a:p>
        </p:txBody>
      </p:sp>
      <p:sp>
        <p:nvSpPr>
          <p:cNvPr id="11" name="TextBox 10"/>
          <p:cNvSpPr txBox="1"/>
          <p:nvPr/>
        </p:nvSpPr>
        <p:spPr>
          <a:xfrm>
            <a:off x="6537960" y="1938527"/>
            <a:ext cx="4572000" cy="310896"/>
          </a:xfrm>
          <a:prstGeom prst="rect">
            <a:avLst/>
          </a:prstGeom>
          <a:noFill/>
        </p:spPr>
        <p:txBody>
          <a:bodyPr wrap="square" lIns="18288" rIns="18288" tIns="18288" bIns="18288" anchor="ctr">
            <a:spAutoFit/>
          </a:bodyPr>
          <a:lstStyle/>
          <a:p>
            <a:pPr algn="l">
              <a:spcBef>
                <a:spcPts val="0"/>
              </a:spcBef>
              <a:spcAft>
                <a:spcPts val="200"/>
              </a:spcAft>
            </a:pPr>
            <a:r>
              <a:rPr sz="1300" b="0" i="0">
                <a:solidFill>
                  <a:srgbClr val="5E6B84"/>
                </a:solidFill>
                <a:latin typeface="Aptos"/>
              </a:rPr>
              <a:t>Suggests top / bottom text</a:t>
            </a:r>
          </a:p>
        </p:txBody>
      </p:sp>
      <p:sp>
        <p:nvSpPr>
          <p:cNvPr id="12" name="Rectangle 11"/>
          <p:cNvSpPr/>
          <p:nvPr/>
        </p:nvSpPr>
        <p:spPr>
          <a:xfrm>
            <a:off x="777240" y="2542032"/>
            <a:ext cx="10561320" cy="10972"/>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77240" y="2779775"/>
            <a:ext cx="1481328"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3" y="2811779"/>
            <a:ext cx="1371600"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1B6A8"/>
                </a:solidFill>
                <a:latin typeface="Aptos"/>
              </a:rPr>
              <a:t>IMAGE CONTEXT</a:t>
            </a:r>
          </a:p>
        </p:txBody>
      </p:sp>
      <p:sp>
        <p:nvSpPr>
          <p:cNvPr id="15" name="TextBox 14"/>
          <p:cNvSpPr txBox="1"/>
          <p:nvPr/>
        </p:nvSpPr>
        <p:spPr>
          <a:xfrm>
            <a:off x="2542032" y="2715768"/>
            <a:ext cx="3794760" cy="320040"/>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BLIP or CLIP (optional)</a:t>
            </a:r>
          </a:p>
        </p:txBody>
      </p:sp>
      <p:sp>
        <p:nvSpPr>
          <p:cNvPr id="16" name="TextBox 15"/>
          <p:cNvSpPr txBox="1"/>
          <p:nvPr/>
        </p:nvSpPr>
        <p:spPr>
          <a:xfrm>
            <a:off x="6537960" y="2724911"/>
            <a:ext cx="4572000" cy="310896"/>
          </a:xfrm>
          <a:prstGeom prst="rect">
            <a:avLst/>
          </a:prstGeom>
          <a:noFill/>
        </p:spPr>
        <p:txBody>
          <a:bodyPr wrap="square" lIns="18288" rIns="18288" tIns="18288" bIns="18288" anchor="ctr">
            <a:spAutoFit/>
          </a:bodyPr>
          <a:lstStyle/>
          <a:p>
            <a:pPr algn="l">
              <a:spcBef>
                <a:spcPts val="0"/>
              </a:spcBef>
              <a:spcAft>
                <a:spcPts val="200"/>
              </a:spcAft>
            </a:pPr>
            <a:r>
              <a:rPr sz="1300" b="0" i="0">
                <a:solidFill>
                  <a:srgbClr val="5E6B84"/>
                </a:solidFill>
                <a:latin typeface="Aptos"/>
              </a:rPr>
              <a:t>Helps interpret uploaded images</a:t>
            </a:r>
          </a:p>
        </p:txBody>
      </p:sp>
      <p:sp>
        <p:nvSpPr>
          <p:cNvPr id="17" name="Rectangle 16"/>
          <p:cNvSpPr/>
          <p:nvPr/>
        </p:nvSpPr>
        <p:spPr>
          <a:xfrm>
            <a:off x="777240" y="3328415"/>
            <a:ext cx="10561320" cy="10972"/>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7240" y="3566159"/>
            <a:ext cx="1481328" cy="29260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3" y="3598163"/>
            <a:ext cx="1371600"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B45E"/>
                </a:solidFill>
                <a:latin typeface="Aptos"/>
              </a:rPr>
              <a:t>TEMPLATES</a:t>
            </a:r>
          </a:p>
        </p:txBody>
      </p:sp>
      <p:sp>
        <p:nvSpPr>
          <p:cNvPr id="20" name="TextBox 19"/>
          <p:cNvSpPr txBox="1"/>
          <p:nvPr/>
        </p:nvSpPr>
        <p:spPr>
          <a:xfrm>
            <a:off x="2542032" y="3502151"/>
            <a:ext cx="3794760" cy="320040"/>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Imgflip API or local folder</a:t>
            </a:r>
          </a:p>
        </p:txBody>
      </p:sp>
      <p:sp>
        <p:nvSpPr>
          <p:cNvPr id="21" name="TextBox 20"/>
          <p:cNvSpPr txBox="1"/>
          <p:nvPr/>
        </p:nvSpPr>
        <p:spPr>
          <a:xfrm>
            <a:off x="6537960" y="3511295"/>
            <a:ext cx="4572000" cy="310896"/>
          </a:xfrm>
          <a:prstGeom prst="rect">
            <a:avLst/>
          </a:prstGeom>
          <a:noFill/>
        </p:spPr>
        <p:txBody>
          <a:bodyPr wrap="square" lIns="18288" rIns="18288" tIns="18288" bIns="18288" anchor="ctr">
            <a:spAutoFit/>
          </a:bodyPr>
          <a:lstStyle/>
          <a:p>
            <a:pPr algn="l">
              <a:spcBef>
                <a:spcPts val="0"/>
              </a:spcBef>
              <a:spcAft>
                <a:spcPts val="200"/>
              </a:spcAft>
            </a:pPr>
            <a:r>
              <a:rPr sz="1300" b="0" i="0">
                <a:solidFill>
                  <a:srgbClr val="5E6B84"/>
                </a:solidFill>
                <a:latin typeface="Aptos"/>
              </a:rPr>
              <a:t>Supplies meme layouts</a:t>
            </a:r>
          </a:p>
        </p:txBody>
      </p:sp>
      <p:sp>
        <p:nvSpPr>
          <p:cNvPr id="22" name="Rectangle 21"/>
          <p:cNvSpPr/>
          <p:nvPr/>
        </p:nvSpPr>
        <p:spPr>
          <a:xfrm>
            <a:off x="777240" y="4114800"/>
            <a:ext cx="10561320" cy="10972"/>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4352544"/>
            <a:ext cx="1481328" cy="292608"/>
          </a:xfrm>
          <a:prstGeom prst="round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4384548"/>
            <a:ext cx="1371600"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17C9A"/>
                </a:solidFill>
                <a:latin typeface="Aptos"/>
              </a:rPr>
              <a:t>RENDERING</a:t>
            </a:r>
          </a:p>
        </p:txBody>
      </p:sp>
      <p:sp>
        <p:nvSpPr>
          <p:cNvPr id="25" name="TextBox 24"/>
          <p:cNvSpPr txBox="1"/>
          <p:nvPr/>
        </p:nvSpPr>
        <p:spPr>
          <a:xfrm>
            <a:off x="2542032" y="4288536"/>
            <a:ext cx="3794760" cy="320040"/>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Pillow (PIL) or OpenCV</a:t>
            </a:r>
          </a:p>
        </p:txBody>
      </p:sp>
      <p:sp>
        <p:nvSpPr>
          <p:cNvPr id="26" name="TextBox 25"/>
          <p:cNvSpPr txBox="1"/>
          <p:nvPr/>
        </p:nvSpPr>
        <p:spPr>
          <a:xfrm>
            <a:off x="6537960" y="4297680"/>
            <a:ext cx="4572000" cy="310896"/>
          </a:xfrm>
          <a:prstGeom prst="rect">
            <a:avLst/>
          </a:prstGeom>
          <a:noFill/>
        </p:spPr>
        <p:txBody>
          <a:bodyPr wrap="square" lIns="18288" rIns="18288" tIns="18288" bIns="18288" anchor="ctr">
            <a:spAutoFit/>
          </a:bodyPr>
          <a:lstStyle/>
          <a:p>
            <a:pPr algn="l">
              <a:spcBef>
                <a:spcPts val="0"/>
              </a:spcBef>
              <a:spcAft>
                <a:spcPts val="200"/>
              </a:spcAft>
            </a:pPr>
            <a:r>
              <a:rPr sz="1300" b="0" i="0">
                <a:solidFill>
                  <a:srgbClr val="5E6B84"/>
                </a:solidFill>
                <a:latin typeface="Aptos"/>
              </a:rPr>
              <a:t>Draws text and exports the image</a:t>
            </a:r>
          </a:p>
        </p:txBody>
      </p:sp>
      <p:sp>
        <p:nvSpPr>
          <p:cNvPr id="27" name="Rectangle 26"/>
          <p:cNvSpPr/>
          <p:nvPr/>
        </p:nvSpPr>
        <p:spPr>
          <a:xfrm>
            <a:off x="777240" y="4901183"/>
            <a:ext cx="10561320" cy="10972"/>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7240" y="5138928"/>
            <a:ext cx="1481328"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3" y="5170932"/>
            <a:ext cx="1371600"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5676F5"/>
                </a:solidFill>
                <a:latin typeface="Aptos"/>
              </a:rPr>
              <a:t>INTERFACE</a:t>
            </a:r>
          </a:p>
        </p:txBody>
      </p:sp>
      <p:sp>
        <p:nvSpPr>
          <p:cNvPr id="30" name="TextBox 29"/>
          <p:cNvSpPr txBox="1"/>
          <p:nvPr/>
        </p:nvSpPr>
        <p:spPr>
          <a:xfrm>
            <a:off x="2542032" y="5074920"/>
            <a:ext cx="3794760" cy="320040"/>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Streamlit or React web app</a:t>
            </a:r>
          </a:p>
        </p:txBody>
      </p:sp>
      <p:sp>
        <p:nvSpPr>
          <p:cNvPr id="31" name="TextBox 30"/>
          <p:cNvSpPr txBox="1"/>
          <p:nvPr/>
        </p:nvSpPr>
        <p:spPr>
          <a:xfrm>
            <a:off x="6537960" y="5084064"/>
            <a:ext cx="4572000" cy="310896"/>
          </a:xfrm>
          <a:prstGeom prst="rect">
            <a:avLst/>
          </a:prstGeom>
          <a:noFill/>
        </p:spPr>
        <p:txBody>
          <a:bodyPr wrap="square" lIns="18288" rIns="18288" tIns="18288" bIns="18288" anchor="ctr">
            <a:spAutoFit/>
          </a:bodyPr>
          <a:lstStyle/>
          <a:p>
            <a:pPr algn="l">
              <a:spcBef>
                <a:spcPts val="0"/>
              </a:spcBef>
              <a:spcAft>
                <a:spcPts val="200"/>
              </a:spcAft>
            </a:pPr>
            <a:r>
              <a:rPr sz="1300" b="0" i="0">
                <a:solidFill>
                  <a:srgbClr val="5E6B84"/>
                </a:solidFill>
                <a:latin typeface="Aptos"/>
              </a:rPr>
              <a:t>Lets users edit and preview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17C9A"/>
                </a:solidFill>
                <a:latin typeface="Aptos"/>
              </a:rPr>
              <a:t>03 • AI MEME MAKER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Extensions, challenges, and a first version</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Make sure users can review and edit the result before sharing it.</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24</a:t>
            </a:r>
          </a:p>
        </p:txBody>
      </p:sp>
      <p:sp>
        <p:nvSpPr>
          <p:cNvPr id="8" name="Rounded Rectangle 7"/>
          <p:cNvSpPr/>
          <p:nvPr/>
        </p:nvSpPr>
        <p:spPr>
          <a:xfrm>
            <a:off x="685800" y="1920240"/>
            <a:ext cx="3383280" cy="21488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38528"/>
            <a:ext cx="64008" cy="2112264"/>
          </a:xfrm>
          <a:prstGeom prst="rect">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093976"/>
            <a:ext cx="301752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First version</a:t>
            </a:r>
          </a:p>
        </p:txBody>
      </p:sp>
      <p:sp>
        <p:nvSpPr>
          <p:cNvPr id="11" name="TextBox 10"/>
          <p:cNvSpPr txBox="1"/>
          <p:nvPr/>
        </p:nvSpPr>
        <p:spPr>
          <a:xfrm>
            <a:off x="896112" y="2633472"/>
            <a:ext cx="2990088" cy="1289304"/>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Pick a template</a:t>
            </a:r>
          </a:p>
          <a:p>
            <a:pPr algn="l">
              <a:spcBef>
                <a:spcPts val="0"/>
              </a:spcBef>
              <a:spcAft>
                <a:spcPts val="200"/>
              </a:spcAft>
            </a:pPr>
            <a:r>
              <a:rPr sz="1400" b="0" i="0">
                <a:solidFill>
                  <a:srgbClr val="5E6B84"/>
                </a:solidFill>
                <a:latin typeface="Aptos"/>
              </a:rPr>
              <a:t>Type a topic</a:t>
            </a:r>
          </a:p>
          <a:p>
            <a:pPr algn="l">
              <a:spcBef>
                <a:spcPts val="0"/>
              </a:spcBef>
              <a:spcAft>
                <a:spcPts val="200"/>
              </a:spcAft>
            </a:pPr>
            <a:r>
              <a:rPr sz="1400" b="0" i="0">
                <a:solidFill>
                  <a:srgbClr val="5E6B84"/>
                </a:solidFill>
                <a:latin typeface="Aptos"/>
              </a:rPr>
              <a:t>Generate a caption</a:t>
            </a:r>
          </a:p>
          <a:p>
            <a:pPr algn="l">
              <a:spcBef>
                <a:spcPts val="0"/>
              </a:spcBef>
              <a:spcAft>
                <a:spcPts val="200"/>
              </a:spcAft>
            </a:pPr>
            <a:r>
              <a:rPr sz="1400" b="0" i="0">
                <a:solidFill>
                  <a:srgbClr val="5E6B84"/>
                </a:solidFill>
                <a:latin typeface="Aptos"/>
              </a:rPr>
              <a:t>Preview and export</a:t>
            </a:r>
          </a:p>
        </p:txBody>
      </p:sp>
      <p:sp>
        <p:nvSpPr>
          <p:cNvPr id="12" name="Rounded Rectangle 11"/>
          <p:cNvSpPr/>
          <p:nvPr/>
        </p:nvSpPr>
        <p:spPr>
          <a:xfrm>
            <a:off x="4389120" y="1920240"/>
            <a:ext cx="3383280" cy="21488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938528"/>
            <a:ext cx="64008" cy="2112264"/>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093976"/>
            <a:ext cx="301752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Later extensions</a:t>
            </a:r>
          </a:p>
        </p:txBody>
      </p:sp>
      <p:sp>
        <p:nvSpPr>
          <p:cNvPr id="15" name="TextBox 14"/>
          <p:cNvSpPr txBox="1"/>
          <p:nvPr/>
        </p:nvSpPr>
        <p:spPr>
          <a:xfrm>
            <a:off x="4599432" y="2633472"/>
            <a:ext cx="2990088" cy="1289304"/>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Trending topic feed</a:t>
            </a:r>
          </a:p>
          <a:p>
            <a:pPr algn="l">
              <a:spcBef>
                <a:spcPts val="0"/>
              </a:spcBef>
              <a:spcAft>
                <a:spcPts val="200"/>
              </a:spcAft>
            </a:pPr>
            <a:r>
              <a:rPr sz="1400" b="0" i="0">
                <a:solidFill>
                  <a:srgbClr val="5E6B84"/>
                </a:solidFill>
                <a:latin typeface="Aptos"/>
              </a:rPr>
              <a:t>Telegram / Discord bot</a:t>
            </a:r>
          </a:p>
          <a:p>
            <a:pPr algn="l">
              <a:spcBef>
                <a:spcPts val="0"/>
              </a:spcBef>
              <a:spcAft>
                <a:spcPts val="200"/>
              </a:spcAft>
            </a:pPr>
            <a:r>
              <a:rPr sz="1400" b="0" i="0">
                <a:solidFill>
                  <a:srgbClr val="5E6B84"/>
                </a:solidFill>
                <a:latin typeface="Aptos"/>
              </a:rPr>
              <a:t>Meme rating system</a:t>
            </a:r>
          </a:p>
          <a:p>
            <a:pPr algn="l">
              <a:spcBef>
                <a:spcPts val="0"/>
              </a:spcBef>
              <a:spcAft>
                <a:spcPts val="200"/>
              </a:spcAft>
            </a:pPr>
            <a:r>
              <a:rPr sz="1400" b="0" i="0">
                <a:solidFill>
                  <a:srgbClr val="5E6B84"/>
                </a:solidFill>
                <a:latin typeface="Aptos"/>
              </a:rPr>
              <a:t>Share leaderboard</a:t>
            </a:r>
          </a:p>
        </p:txBody>
      </p:sp>
      <p:sp>
        <p:nvSpPr>
          <p:cNvPr id="16" name="Rounded Rectangle 15"/>
          <p:cNvSpPr/>
          <p:nvPr/>
        </p:nvSpPr>
        <p:spPr>
          <a:xfrm>
            <a:off x="8092440" y="1920240"/>
            <a:ext cx="3383280" cy="21488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938528"/>
            <a:ext cx="64008" cy="211226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2093976"/>
            <a:ext cx="3017519"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Important checks</a:t>
            </a:r>
          </a:p>
        </p:txBody>
      </p:sp>
      <p:sp>
        <p:nvSpPr>
          <p:cNvPr id="19" name="TextBox 18"/>
          <p:cNvSpPr txBox="1"/>
          <p:nvPr/>
        </p:nvSpPr>
        <p:spPr>
          <a:xfrm>
            <a:off x="8302752" y="2633472"/>
            <a:ext cx="2990088" cy="128930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Caption matches image</a:t>
            </a:r>
          </a:p>
          <a:p>
            <a:pPr algn="l">
              <a:spcBef>
                <a:spcPts val="0"/>
              </a:spcBef>
              <a:spcAft>
                <a:spcPts val="200"/>
              </a:spcAft>
            </a:pPr>
            <a:r>
              <a:rPr sz="1300" b="0" i="0">
                <a:solidFill>
                  <a:srgbClr val="5E6B84"/>
                </a:solidFill>
                <a:latin typeface="Aptos"/>
              </a:rPr>
              <a:t>Text is readable</a:t>
            </a:r>
          </a:p>
          <a:p>
            <a:pPr algn="l">
              <a:spcBef>
                <a:spcPts val="0"/>
              </a:spcBef>
              <a:spcAft>
                <a:spcPts val="200"/>
              </a:spcAft>
            </a:pPr>
            <a:r>
              <a:rPr sz="1300" b="0" i="0">
                <a:solidFill>
                  <a:srgbClr val="5E6B84"/>
                </a:solidFill>
                <a:latin typeface="Aptos"/>
              </a:rPr>
              <a:t>User can edit output</a:t>
            </a:r>
          </a:p>
          <a:p>
            <a:pPr algn="l">
              <a:spcBef>
                <a:spcPts val="0"/>
              </a:spcBef>
              <a:spcAft>
                <a:spcPts val="200"/>
              </a:spcAft>
            </a:pPr>
            <a:r>
              <a:rPr sz="1300" b="0" i="0">
                <a:solidFill>
                  <a:srgbClr val="5E6B84"/>
                </a:solidFill>
                <a:latin typeface="Aptos"/>
              </a:rPr>
              <a:t>Respect image rights and privacy</a:t>
            </a:r>
          </a:p>
        </p:txBody>
      </p:sp>
      <p:sp>
        <p:nvSpPr>
          <p:cNvPr id="20" name="TextBox 19"/>
          <p:cNvSpPr txBox="1"/>
          <p:nvPr/>
        </p:nvSpPr>
        <p:spPr>
          <a:xfrm>
            <a:off x="777240" y="4782312"/>
            <a:ext cx="10607040" cy="566928"/>
          </a:xfrm>
          <a:prstGeom prst="rect">
            <a:avLst/>
          </a:prstGeom>
          <a:noFill/>
        </p:spPr>
        <p:txBody>
          <a:bodyPr wrap="square" lIns="18288" rIns="18288" tIns="18288" bIns="18288" anchor="t">
            <a:spAutoFit/>
          </a:bodyPr>
          <a:lstStyle/>
          <a:p>
            <a:pPr algn="l">
              <a:spcBef>
                <a:spcPts val="0"/>
              </a:spcBef>
              <a:spcAft>
                <a:spcPts val="200"/>
              </a:spcAft>
            </a:pPr>
            <a:r>
              <a:rPr sz="1700" b="1" i="0">
                <a:solidFill>
                  <a:srgbClr val="1B2740"/>
                </a:solidFill>
                <a:latin typeface="Aptos"/>
              </a:rPr>
              <a:t>A strong demo: choose a topic → select a template → generate two caption lines → edit them → export the result.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1563624"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453895"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5676F5"/>
                </a:solidFill>
                <a:latin typeface="Aptos"/>
              </a:rPr>
              <a:t>COMPARE</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Which project is right for you?</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There is no universal winner. Choose based on what you want to practise and what you can finish.</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25</a:t>
            </a:r>
          </a:p>
        </p:txBody>
      </p:sp>
      <p:sp>
        <p:nvSpPr>
          <p:cNvPr id="8" name="Rectangle 7"/>
          <p:cNvSpPr/>
          <p:nvPr/>
        </p:nvSpPr>
        <p:spPr>
          <a:xfrm>
            <a:off x="685800" y="1920240"/>
            <a:ext cx="2057400" cy="457200"/>
          </a:xfrm>
          <a:prstGeom prst="rect">
            <a:avLst/>
          </a:prstGeom>
          <a:solidFill>
            <a:srgbClr val="11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993392"/>
            <a:ext cx="1911095" cy="256032"/>
          </a:xfrm>
          <a:prstGeom prst="rect">
            <a:avLst/>
          </a:prstGeom>
          <a:noFill/>
        </p:spPr>
        <p:txBody>
          <a:bodyPr wrap="square" lIns="18288" rIns="18288" tIns="18288" bIns="18288" anchor="ctr">
            <a:spAutoFit/>
          </a:bodyPr>
          <a:lstStyle/>
          <a:p>
            <a:pPr algn="ctr">
              <a:spcBef>
                <a:spcPts val="0"/>
              </a:spcBef>
              <a:spcAft>
                <a:spcPts val="200"/>
              </a:spcAft>
            </a:pPr>
            <a:r>
              <a:rPr sz="1000" b="1" i="0">
                <a:solidFill>
                  <a:srgbClr val="FFFFFF"/>
                </a:solidFill>
                <a:latin typeface="Aptos"/>
              </a:rPr>
              <a:t>QUESTION</a:t>
            </a:r>
          </a:p>
        </p:txBody>
      </p:sp>
      <p:sp>
        <p:nvSpPr>
          <p:cNvPr id="10" name="Rectangle 9"/>
          <p:cNvSpPr/>
          <p:nvPr/>
        </p:nvSpPr>
        <p:spPr>
          <a:xfrm>
            <a:off x="2743200" y="1920240"/>
            <a:ext cx="2788920" cy="457200"/>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16352" y="1993392"/>
            <a:ext cx="2642615" cy="256032"/>
          </a:xfrm>
          <a:prstGeom prst="rect">
            <a:avLst/>
          </a:prstGeom>
          <a:noFill/>
        </p:spPr>
        <p:txBody>
          <a:bodyPr wrap="square" lIns="18288" rIns="18288" tIns="18288" bIns="18288" anchor="ctr">
            <a:spAutoFit/>
          </a:bodyPr>
          <a:lstStyle/>
          <a:p>
            <a:pPr algn="ctr">
              <a:spcBef>
                <a:spcPts val="0"/>
              </a:spcBef>
              <a:spcAft>
                <a:spcPts val="200"/>
              </a:spcAft>
            </a:pPr>
            <a:r>
              <a:rPr sz="1000" b="1" i="0">
                <a:solidFill>
                  <a:srgbClr val="FFFFFF"/>
                </a:solidFill>
                <a:latin typeface="Aptos"/>
              </a:rPr>
              <a:t>AI DUNGEON MASTER</a:t>
            </a:r>
          </a:p>
        </p:txBody>
      </p:sp>
      <p:sp>
        <p:nvSpPr>
          <p:cNvPr id="12" name="Rectangle 11"/>
          <p:cNvSpPr/>
          <p:nvPr/>
        </p:nvSpPr>
        <p:spPr>
          <a:xfrm>
            <a:off x="5532120" y="1920240"/>
            <a:ext cx="2788920" cy="457200"/>
          </a:xfrm>
          <a:prstGeom prst="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05272" y="1993392"/>
            <a:ext cx="2642615" cy="256032"/>
          </a:xfrm>
          <a:prstGeom prst="rect">
            <a:avLst/>
          </a:prstGeom>
          <a:noFill/>
        </p:spPr>
        <p:txBody>
          <a:bodyPr wrap="square" lIns="18288" rIns="18288" tIns="18288" bIns="18288" anchor="ctr">
            <a:spAutoFit/>
          </a:bodyPr>
          <a:lstStyle/>
          <a:p>
            <a:pPr algn="ctr">
              <a:spcBef>
                <a:spcPts val="0"/>
              </a:spcBef>
              <a:spcAft>
                <a:spcPts val="200"/>
              </a:spcAft>
            </a:pPr>
            <a:r>
              <a:rPr sz="1000" b="1" i="0">
                <a:solidFill>
                  <a:srgbClr val="FFFFFF"/>
                </a:solidFill>
                <a:latin typeface="Aptos"/>
              </a:rPr>
              <a:t>RAP BATTLE</a:t>
            </a:r>
          </a:p>
        </p:txBody>
      </p:sp>
      <p:sp>
        <p:nvSpPr>
          <p:cNvPr id="14" name="Rectangle 13"/>
          <p:cNvSpPr/>
          <p:nvPr/>
        </p:nvSpPr>
        <p:spPr>
          <a:xfrm>
            <a:off x="8321040" y="1920240"/>
            <a:ext cx="2788920" cy="457200"/>
          </a:xfrm>
          <a:prstGeom prst="rect">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4192" y="1993392"/>
            <a:ext cx="2642615" cy="256032"/>
          </a:xfrm>
          <a:prstGeom prst="rect">
            <a:avLst/>
          </a:prstGeom>
          <a:noFill/>
        </p:spPr>
        <p:txBody>
          <a:bodyPr wrap="square" lIns="18288" rIns="18288" tIns="18288" bIns="18288" anchor="ctr">
            <a:spAutoFit/>
          </a:bodyPr>
          <a:lstStyle/>
          <a:p>
            <a:pPr algn="ctr">
              <a:spcBef>
                <a:spcPts val="0"/>
              </a:spcBef>
              <a:spcAft>
                <a:spcPts val="200"/>
              </a:spcAft>
            </a:pPr>
            <a:r>
              <a:rPr sz="1000" b="1" i="0">
                <a:solidFill>
                  <a:srgbClr val="FFFFFF"/>
                </a:solidFill>
                <a:latin typeface="Aptos"/>
              </a:rPr>
              <a:t>AI MEME MAKER</a:t>
            </a:r>
          </a:p>
        </p:txBody>
      </p:sp>
      <p:sp>
        <p:nvSpPr>
          <p:cNvPr id="16" name="Rectangle 15"/>
          <p:cNvSpPr/>
          <p:nvPr/>
        </p:nvSpPr>
        <p:spPr>
          <a:xfrm>
            <a:off x="685800" y="2377440"/>
            <a:ext cx="2057400" cy="704088"/>
          </a:xfrm>
          <a:prstGeom prst="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68880"/>
            <a:ext cx="1874519" cy="539496"/>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Main output</a:t>
            </a:r>
          </a:p>
        </p:txBody>
      </p:sp>
      <p:sp>
        <p:nvSpPr>
          <p:cNvPr id="18" name="Rectangle 17"/>
          <p:cNvSpPr/>
          <p:nvPr/>
        </p:nvSpPr>
        <p:spPr>
          <a:xfrm>
            <a:off x="2743200" y="2377440"/>
            <a:ext cx="2788920" cy="704088"/>
          </a:xfrm>
          <a:prstGeom prst="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34640" y="2468880"/>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Interactive story</a:t>
            </a:r>
          </a:p>
        </p:txBody>
      </p:sp>
      <p:sp>
        <p:nvSpPr>
          <p:cNvPr id="20" name="Rectangle 19"/>
          <p:cNvSpPr/>
          <p:nvPr/>
        </p:nvSpPr>
        <p:spPr>
          <a:xfrm>
            <a:off x="5532120" y="2377440"/>
            <a:ext cx="2788920" cy="704088"/>
          </a:xfrm>
          <a:prstGeom prst="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23559" y="2468880"/>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Rhyming verse</a:t>
            </a:r>
          </a:p>
        </p:txBody>
      </p:sp>
      <p:sp>
        <p:nvSpPr>
          <p:cNvPr id="22" name="Rectangle 21"/>
          <p:cNvSpPr/>
          <p:nvPr/>
        </p:nvSpPr>
        <p:spPr>
          <a:xfrm>
            <a:off x="8321040" y="2377440"/>
            <a:ext cx="2788920" cy="704088"/>
          </a:xfrm>
          <a:prstGeom prst="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0" y="2468880"/>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Captioned image</a:t>
            </a:r>
          </a:p>
        </p:txBody>
      </p:sp>
      <p:sp>
        <p:nvSpPr>
          <p:cNvPr id="24" name="Rectangle 23"/>
          <p:cNvSpPr/>
          <p:nvPr/>
        </p:nvSpPr>
        <p:spPr>
          <a:xfrm>
            <a:off x="685800" y="3081528"/>
            <a:ext cx="2057400" cy="704088"/>
          </a:xfrm>
          <a:prstGeom prst="rect">
            <a:avLst/>
          </a:prstGeom>
          <a:solidFill>
            <a:srgbClr val="EDF1F7"/>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3172968"/>
            <a:ext cx="1874519" cy="539496"/>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Most important part</a:t>
            </a:r>
          </a:p>
        </p:txBody>
      </p:sp>
      <p:sp>
        <p:nvSpPr>
          <p:cNvPr id="26" name="Rectangle 25"/>
          <p:cNvSpPr/>
          <p:nvPr/>
        </p:nvSpPr>
        <p:spPr>
          <a:xfrm>
            <a:off x="2743200" y="3081528"/>
            <a:ext cx="2788920" cy="704088"/>
          </a:xfrm>
          <a:prstGeom prst="rect">
            <a:avLst/>
          </a:prstGeom>
          <a:solidFill>
            <a:srgbClr val="EDF1F7"/>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34640" y="3172968"/>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Memory + context</a:t>
            </a:r>
          </a:p>
        </p:txBody>
      </p:sp>
      <p:sp>
        <p:nvSpPr>
          <p:cNvPr id="28" name="Rectangle 27"/>
          <p:cNvSpPr/>
          <p:nvPr/>
        </p:nvSpPr>
        <p:spPr>
          <a:xfrm>
            <a:off x="5532120" y="3081528"/>
            <a:ext cx="2788920" cy="704088"/>
          </a:xfrm>
          <a:prstGeom prst="rect">
            <a:avLst/>
          </a:prstGeom>
          <a:solidFill>
            <a:srgbClr val="EDF1F7"/>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23559" y="3172968"/>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Prompt + rhymes</a:t>
            </a:r>
          </a:p>
        </p:txBody>
      </p:sp>
      <p:sp>
        <p:nvSpPr>
          <p:cNvPr id="30" name="Rectangle 29"/>
          <p:cNvSpPr/>
          <p:nvPr/>
        </p:nvSpPr>
        <p:spPr>
          <a:xfrm>
            <a:off x="8321040" y="3081528"/>
            <a:ext cx="2788920" cy="704088"/>
          </a:xfrm>
          <a:prstGeom prst="rect">
            <a:avLst/>
          </a:prstGeom>
          <a:solidFill>
            <a:srgbClr val="EDF1F7"/>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0" y="3172968"/>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Image rendering</a:t>
            </a:r>
          </a:p>
        </p:txBody>
      </p:sp>
      <p:sp>
        <p:nvSpPr>
          <p:cNvPr id="32" name="Rectangle 31"/>
          <p:cNvSpPr/>
          <p:nvPr/>
        </p:nvSpPr>
        <p:spPr>
          <a:xfrm>
            <a:off x="685800" y="3785616"/>
            <a:ext cx="2057400" cy="704088"/>
          </a:xfrm>
          <a:prstGeom prst="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3877056"/>
            <a:ext cx="1874519" cy="539496"/>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Fast MVP</a:t>
            </a:r>
          </a:p>
        </p:txBody>
      </p:sp>
      <p:sp>
        <p:nvSpPr>
          <p:cNvPr id="34" name="Rectangle 33"/>
          <p:cNvSpPr/>
          <p:nvPr/>
        </p:nvSpPr>
        <p:spPr>
          <a:xfrm>
            <a:off x="2743200" y="3785616"/>
            <a:ext cx="2788920" cy="704088"/>
          </a:xfrm>
          <a:prstGeom prst="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34640" y="3877056"/>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Text choices + state</a:t>
            </a:r>
          </a:p>
        </p:txBody>
      </p:sp>
      <p:sp>
        <p:nvSpPr>
          <p:cNvPr id="36" name="Rectangle 35"/>
          <p:cNvSpPr/>
          <p:nvPr/>
        </p:nvSpPr>
        <p:spPr>
          <a:xfrm>
            <a:off x="5532120" y="3785616"/>
            <a:ext cx="2788920" cy="704088"/>
          </a:xfrm>
          <a:prstGeom prst="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23559" y="3877056"/>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Generate a short verse</a:t>
            </a:r>
          </a:p>
        </p:txBody>
      </p:sp>
      <p:sp>
        <p:nvSpPr>
          <p:cNvPr id="38" name="Rectangle 37"/>
          <p:cNvSpPr/>
          <p:nvPr/>
        </p:nvSpPr>
        <p:spPr>
          <a:xfrm>
            <a:off x="8321040" y="3785616"/>
            <a:ext cx="2788920" cy="704088"/>
          </a:xfrm>
          <a:prstGeom prst="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12480" y="3877056"/>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Template + caption</a:t>
            </a:r>
          </a:p>
        </p:txBody>
      </p:sp>
      <p:sp>
        <p:nvSpPr>
          <p:cNvPr id="40" name="Rectangle 39"/>
          <p:cNvSpPr/>
          <p:nvPr/>
        </p:nvSpPr>
        <p:spPr>
          <a:xfrm>
            <a:off x="685800" y="4489704"/>
            <a:ext cx="2057400" cy="704088"/>
          </a:xfrm>
          <a:prstGeom prst="rect">
            <a:avLst/>
          </a:prstGeom>
          <a:solidFill>
            <a:srgbClr val="EDF1F7"/>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 y="4581144"/>
            <a:ext cx="1874519" cy="539496"/>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Optional extras</a:t>
            </a:r>
          </a:p>
        </p:txBody>
      </p:sp>
      <p:sp>
        <p:nvSpPr>
          <p:cNvPr id="42" name="Rectangle 41"/>
          <p:cNvSpPr/>
          <p:nvPr/>
        </p:nvSpPr>
        <p:spPr>
          <a:xfrm>
            <a:off x="2743200" y="4489704"/>
            <a:ext cx="2788920" cy="704088"/>
          </a:xfrm>
          <a:prstGeom prst="rect">
            <a:avLst/>
          </a:prstGeom>
          <a:solidFill>
            <a:srgbClr val="EDF1F7"/>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834640" y="4581144"/>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Voice, multiplayer, art</a:t>
            </a:r>
          </a:p>
        </p:txBody>
      </p:sp>
      <p:sp>
        <p:nvSpPr>
          <p:cNvPr id="44" name="Rectangle 43"/>
          <p:cNvSpPr/>
          <p:nvPr/>
        </p:nvSpPr>
        <p:spPr>
          <a:xfrm>
            <a:off x="5532120" y="4489704"/>
            <a:ext cx="2788920" cy="704088"/>
          </a:xfrm>
          <a:prstGeom prst="rect">
            <a:avLst/>
          </a:prstGeom>
          <a:solidFill>
            <a:srgbClr val="EDF1F7"/>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23559" y="4581144"/>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TTS, beat, scoring</a:t>
            </a:r>
          </a:p>
        </p:txBody>
      </p:sp>
      <p:sp>
        <p:nvSpPr>
          <p:cNvPr id="46" name="Rectangle 45"/>
          <p:cNvSpPr/>
          <p:nvPr/>
        </p:nvSpPr>
        <p:spPr>
          <a:xfrm>
            <a:off x="8321040" y="4489704"/>
            <a:ext cx="2788920" cy="704088"/>
          </a:xfrm>
          <a:prstGeom prst="rect">
            <a:avLst/>
          </a:prstGeom>
          <a:solidFill>
            <a:srgbClr val="EDF1F7"/>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12480" y="4581144"/>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Image AI, trends, bots</a:t>
            </a:r>
          </a:p>
        </p:txBody>
      </p:sp>
      <p:sp>
        <p:nvSpPr>
          <p:cNvPr id="48" name="TextBox 47"/>
          <p:cNvSpPr txBox="1"/>
          <p:nvPr/>
        </p:nvSpPr>
        <p:spPr>
          <a:xfrm>
            <a:off x="777240" y="5559552"/>
            <a:ext cx="10652760" cy="365760"/>
          </a:xfrm>
          <a:prstGeom prst="rect">
            <a:avLst/>
          </a:prstGeom>
          <a:noFill/>
        </p:spPr>
        <p:txBody>
          <a:bodyPr wrap="square" lIns="18288" rIns="18288" tIns="18288" bIns="18288" anchor="t">
            <a:spAutoFit/>
          </a:bodyPr>
          <a:lstStyle/>
          <a:p>
            <a:pPr algn="ctr">
              <a:spcBef>
                <a:spcPts val="0"/>
              </a:spcBef>
              <a:spcAft>
                <a:spcPts val="200"/>
              </a:spcAft>
            </a:pPr>
            <a:r>
              <a:rPr sz="1500" b="1" i="0">
                <a:solidFill>
                  <a:srgbClr val="1B2740"/>
                </a:solidFill>
                <a:latin typeface="Aptos"/>
              </a:rPr>
              <a:t>Choose the idea that matches your interests, then keep the first version small.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5676F5"/>
                </a:solidFill>
                <a:latin typeface="Aptos"/>
              </a:rPr>
              <a:t>BUILD PLAN</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A practical development roadmap</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Build one layer at a time. Test at each stage before moving forward.</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26</a:t>
            </a:r>
          </a:p>
        </p:txBody>
      </p:sp>
      <p:sp>
        <p:nvSpPr>
          <p:cNvPr id="8" name="Oval 7"/>
          <p:cNvSpPr/>
          <p:nvPr/>
        </p:nvSpPr>
        <p:spPr>
          <a:xfrm>
            <a:off x="822960" y="1938528"/>
            <a:ext cx="475488" cy="475488"/>
          </a:xfrm>
          <a:prstGeom prst="ellipse">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48256"/>
            <a:ext cx="475488" cy="201168"/>
          </a:xfrm>
          <a:prstGeom prst="rect">
            <a:avLst/>
          </a:prstGeom>
          <a:noFill/>
        </p:spPr>
        <p:txBody>
          <a:bodyPr wrap="square" lIns="0" rIns="0" tIns="0" bIns="0" anchor="ctr">
            <a:spAutoFit/>
          </a:bodyPr>
          <a:lstStyle/>
          <a:p>
            <a:pPr algn="ctr">
              <a:spcBef>
                <a:spcPts val="0"/>
              </a:spcBef>
              <a:spcAft>
                <a:spcPts val="200"/>
              </a:spcAft>
            </a:pPr>
            <a:r>
              <a:rPr sz="1100" b="1" i="0">
                <a:solidFill>
                  <a:srgbClr val="FFFFFF"/>
                </a:solidFill>
                <a:latin typeface="Aptos"/>
              </a:rPr>
              <a:t>01</a:t>
            </a:r>
          </a:p>
        </p:txBody>
      </p:sp>
      <p:sp>
        <p:nvSpPr>
          <p:cNvPr id="10" name="TextBox 9"/>
          <p:cNvSpPr txBox="1"/>
          <p:nvPr/>
        </p:nvSpPr>
        <p:spPr>
          <a:xfrm>
            <a:off x="1554480" y="1901952"/>
            <a:ext cx="1920240" cy="29260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Define</a:t>
            </a:r>
          </a:p>
        </p:txBody>
      </p:sp>
      <p:sp>
        <p:nvSpPr>
          <p:cNvPr id="11" name="TextBox 10"/>
          <p:cNvSpPr txBox="1"/>
          <p:nvPr/>
        </p:nvSpPr>
        <p:spPr>
          <a:xfrm>
            <a:off x="3703320" y="1911095"/>
            <a:ext cx="7269480" cy="384048"/>
          </a:xfrm>
          <a:prstGeom prst="rect">
            <a:avLst/>
          </a:prstGeom>
          <a:noFill/>
        </p:spPr>
        <p:txBody>
          <a:bodyPr wrap="square" lIns="18288" rIns="18288" tIns="18288" bIns="18288" anchor="ctr">
            <a:spAutoFit/>
          </a:bodyPr>
          <a:lstStyle/>
          <a:p>
            <a:pPr algn="l">
              <a:spcBef>
                <a:spcPts val="0"/>
              </a:spcBef>
              <a:spcAft>
                <a:spcPts val="200"/>
              </a:spcAft>
            </a:pPr>
            <a:r>
              <a:rPr sz="1400" b="0" i="0">
                <a:solidFill>
                  <a:srgbClr val="5E6B84"/>
                </a:solidFill>
                <a:latin typeface="Aptos"/>
              </a:rPr>
              <a:t>Write down the target user and the one main job.</a:t>
            </a:r>
          </a:p>
        </p:txBody>
      </p:sp>
      <p:sp>
        <p:nvSpPr>
          <p:cNvPr id="12" name="Rectangle 11"/>
          <p:cNvSpPr/>
          <p:nvPr/>
        </p:nvSpPr>
        <p:spPr>
          <a:xfrm>
            <a:off x="1051560" y="2423160"/>
            <a:ext cx="22860" cy="219456"/>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2688336"/>
            <a:ext cx="475488" cy="475488"/>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798064"/>
            <a:ext cx="475488" cy="201168"/>
          </a:xfrm>
          <a:prstGeom prst="rect">
            <a:avLst/>
          </a:prstGeom>
          <a:noFill/>
        </p:spPr>
        <p:txBody>
          <a:bodyPr wrap="square" lIns="0" rIns="0" tIns="0" bIns="0" anchor="ctr">
            <a:spAutoFit/>
          </a:bodyPr>
          <a:lstStyle/>
          <a:p>
            <a:pPr algn="ctr">
              <a:spcBef>
                <a:spcPts val="0"/>
              </a:spcBef>
              <a:spcAft>
                <a:spcPts val="200"/>
              </a:spcAft>
            </a:pPr>
            <a:r>
              <a:rPr sz="1100" b="1" i="0">
                <a:solidFill>
                  <a:srgbClr val="FFFFFF"/>
                </a:solidFill>
                <a:latin typeface="Aptos"/>
              </a:rPr>
              <a:t>02</a:t>
            </a:r>
          </a:p>
        </p:txBody>
      </p:sp>
      <p:sp>
        <p:nvSpPr>
          <p:cNvPr id="15" name="TextBox 14"/>
          <p:cNvSpPr txBox="1"/>
          <p:nvPr/>
        </p:nvSpPr>
        <p:spPr>
          <a:xfrm>
            <a:off x="1554480" y="2651760"/>
            <a:ext cx="1920240" cy="29260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Prototype UI</a:t>
            </a:r>
          </a:p>
        </p:txBody>
      </p:sp>
      <p:sp>
        <p:nvSpPr>
          <p:cNvPr id="16" name="TextBox 15"/>
          <p:cNvSpPr txBox="1"/>
          <p:nvPr/>
        </p:nvSpPr>
        <p:spPr>
          <a:xfrm>
            <a:off x="3703320" y="2660903"/>
            <a:ext cx="7269480" cy="384048"/>
          </a:xfrm>
          <a:prstGeom prst="rect">
            <a:avLst/>
          </a:prstGeom>
          <a:noFill/>
        </p:spPr>
        <p:txBody>
          <a:bodyPr wrap="square" lIns="18288" rIns="18288" tIns="18288" bIns="18288" anchor="ctr">
            <a:spAutoFit/>
          </a:bodyPr>
          <a:lstStyle/>
          <a:p>
            <a:pPr algn="l">
              <a:spcBef>
                <a:spcPts val="0"/>
              </a:spcBef>
              <a:spcAft>
                <a:spcPts val="200"/>
              </a:spcAft>
            </a:pPr>
            <a:r>
              <a:rPr sz="1400" b="0" i="0">
                <a:solidFill>
                  <a:srgbClr val="5E6B84"/>
                </a:solidFill>
                <a:latin typeface="Aptos"/>
              </a:rPr>
              <a:t>Create the form, buttons, and result area.</a:t>
            </a:r>
          </a:p>
        </p:txBody>
      </p:sp>
      <p:sp>
        <p:nvSpPr>
          <p:cNvPr id="17" name="Rectangle 16"/>
          <p:cNvSpPr/>
          <p:nvPr/>
        </p:nvSpPr>
        <p:spPr>
          <a:xfrm>
            <a:off x="1051560" y="3172968"/>
            <a:ext cx="22860" cy="219456"/>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438144"/>
            <a:ext cx="475488" cy="475488"/>
          </a:xfrm>
          <a:prstGeom prst="ellipse">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547872"/>
            <a:ext cx="475488" cy="201168"/>
          </a:xfrm>
          <a:prstGeom prst="rect">
            <a:avLst/>
          </a:prstGeom>
          <a:noFill/>
        </p:spPr>
        <p:txBody>
          <a:bodyPr wrap="square" lIns="0" rIns="0" tIns="0" bIns="0" anchor="ctr">
            <a:spAutoFit/>
          </a:bodyPr>
          <a:lstStyle/>
          <a:p>
            <a:pPr algn="ctr">
              <a:spcBef>
                <a:spcPts val="0"/>
              </a:spcBef>
              <a:spcAft>
                <a:spcPts val="200"/>
              </a:spcAft>
            </a:pPr>
            <a:r>
              <a:rPr sz="1100" b="1" i="0">
                <a:solidFill>
                  <a:srgbClr val="FFFFFF"/>
                </a:solidFill>
                <a:latin typeface="Aptos"/>
              </a:rPr>
              <a:t>03</a:t>
            </a:r>
          </a:p>
        </p:txBody>
      </p:sp>
      <p:sp>
        <p:nvSpPr>
          <p:cNvPr id="20" name="TextBox 19"/>
          <p:cNvSpPr txBox="1"/>
          <p:nvPr/>
        </p:nvSpPr>
        <p:spPr>
          <a:xfrm>
            <a:off x="1554480" y="3401568"/>
            <a:ext cx="1920240" cy="29260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Connect AI</a:t>
            </a:r>
          </a:p>
        </p:txBody>
      </p:sp>
      <p:sp>
        <p:nvSpPr>
          <p:cNvPr id="21" name="TextBox 20"/>
          <p:cNvSpPr txBox="1"/>
          <p:nvPr/>
        </p:nvSpPr>
        <p:spPr>
          <a:xfrm>
            <a:off x="3703320" y="3410711"/>
            <a:ext cx="7269480" cy="384048"/>
          </a:xfrm>
          <a:prstGeom prst="rect">
            <a:avLst/>
          </a:prstGeom>
          <a:noFill/>
        </p:spPr>
        <p:txBody>
          <a:bodyPr wrap="square" lIns="18288" rIns="18288" tIns="18288" bIns="18288" anchor="ctr">
            <a:spAutoFit/>
          </a:bodyPr>
          <a:lstStyle/>
          <a:p>
            <a:pPr algn="l">
              <a:spcBef>
                <a:spcPts val="0"/>
              </a:spcBef>
              <a:spcAft>
                <a:spcPts val="200"/>
              </a:spcAft>
            </a:pPr>
            <a:r>
              <a:rPr sz="1400" b="0" i="0">
                <a:solidFill>
                  <a:srgbClr val="5E6B84"/>
                </a:solidFill>
                <a:latin typeface="Aptos"/>
              </a:rPr>
              <a:t>Send a clear prompt and display the response.</a:t>
            </a:r>
          </a:p>
        </p:txBody>
      </p:sp>
      <p:sp>
        <p:nvSpPr>
          <p:cNvPr id="22" name="Rectangle 21"/>
          <p:cNvSpPr/>
          <p:nvPr/>
        </p:nvSpPr>
        <p:spPr>
          <a:xfrm>
            <a:off x="1051560" y="3922776"/>
            <a:ext cx="22860" cy="219456"/>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22960" y="4187952"/>
            <a:ext cx="475488" cy="475488"/>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297680"/>
            <a:ext cx="475488" cy="201168"/>
          </a:xfrm>
          <a:prstGeom prst="rect">
            <a:avLst/>
          </a:prstGeom>
          <a:noFill/>
        </p:spPr>
        <p:txBody>
          <a:bodyPr wrap="square" lIns="0" rIns="0" tIns="0" bIns="0" anchor="ctr">
            <a:spAutoFit/>
          </a:bodyPr>
          <a:lstStyle/>
          <a:p>
            <a:pPr algn="ctr">
              <a:spcBef>
                <a:spcPts val="0"/>
              </a:spcBef>
              <a:spcAft>
                <a:spcPts val="200"/>
              </a:spcAft>
            </a:pPr>
            <a:r>
              <a:rPr sz="1100" b="1" i="0">
                <a:solidFill>
                  <a:srgbClr val="FFFFFF"/>
                </a:solidFill>
                <a:latin typeface="Aptos"/>
              </a:rPr>
              <a:t>04</a:t>
            </a:r>
          </a:p>
        </p:txBody>
      </p:sp>
      <p:sp>
        <p:nvSpPr>
          <p:cNvPr id="25" name="TextBox 24"/>
          <p:cNvSpPr txBox="1"/>
          <p:nvPr/>
        </p:nvSpPr>
        <p:spPr>
          <a:xfrm>
            <a:off x="1554480" y="4151376"/>
            <a:ext cx="1920240" cy="29260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Add project logic</a:t>
            </a:r>
          </a:p>
        </p:txBody>
      </p:sp>
      <p:sp>
        <p:nvSpPr>
          <p:cNvPr id="26" name="TextBox 25"/>
          <p:cNvSpPr txBox="1"/>
          <p:nvPr/>
        </p:nvSpPr>
        <p:spPr>
          <a:xfrm>
            <a:off x="3703320" y="4160520"/>
            <a:ext cx="7269480" cy="384048"/>
          </a:xfrm>
          <a:prstGeom prst="rect">
            <a:avLst/>
          </a:prstGeom>
          <a:noFill/>
        </p:spPr>
        <p:txBody>
          <a:bodyPr wrap="square" lIns="18288" rIns="18288" tIns="18288" bIns="18288" anchor="ctr">
            <a:spAutoFit/>
          </a:bodyPr>
          <a:lstStyle/>
          <a:p>
            <a:pPr algn="l">
              <a:spcBef>
                <a:spcPts val="0"/>
              </a:spcBef>
              <a:spcAft>
                <a:spcPts val="200"/>
              </a:spcAft>
            </a:pPr>
            <a:r>
              <a:rPr sz="1400" b="0" i="0">
                <a:solidFill>
                  <a:srgbClr val="5E6B84"/>
                </a:solidFill>
                <a:latin typeface="Aptos"/>
              </a:rPr>
              <a:t>Save game state, check rhymes, or render the image.</a:t>
            </a:r>
          </a:p>
        </p:txBody>
      </p:sp>
      <p:sp>
        <p:nvSpPr>
          <p:cNvPr id="27" name="Rectangle 26"/>
          <p:cNvSpPr/>
          <p:nvPr/>
        </p:nvSpPr>
        <p:spPr>
          <a:xfrm>
            <a:off x="1051560" y="4672584"/>
            <a:ext cx="22860" cy="219456"/>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4937759"/>
            <a:ext cx="475488" cy="475488"/>
          </a:xfrm>
          <a:prstGeom prst="ellipse">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047488"/>
            <a:ext cx="475488" cy="201168"/>
          </a:xfrm>
          <a:prstGeom prst="rect">
            <a:avLst/>
          </a:prstGeom>
          <a:noFill/>
        </p:spPr>
        <p:txBody>
          <a:bodyPr wrap="square" lIns="0" rIns="0" tIns="0" bIns="0" anchor="ctr">
            <a:spAutoFit/>
          </a:bodyPr>
          <a:lstStyle/>
          <a:p>
            <a:pPr algn="ctr">
              <a:spcBef>
                <a:spcPts val="0"/>
              </a:spcBef>
              <a:spcAft>
                <a:spcPts val="200"/>
              </a:spcAft>
            </a:pPr>
            <a:r>
              <a:rPr sz="1100" b="1" i="0">
                <a:solidFill>
                  <a:srgbClr val="FFFFFF"/>
                </a:solidFill>
                <a:latin typeface="Aptos"/>
              </a:rPr>
              <a:t>05</a:t>
            </a:r>
          </a:p>
        </p:txBody>
      </p:sp>
      <p:sp>
        <p:nvSpPr>
          <p:cNvPr id="30" name="TextBox 29"/>
          <p:cNvSpPr txBox="1"/>
          <p:nvPr/>
        </p:nvSpPr>
        <p:spPr>
          <a:xfrm>
            <a:off x="1554480" y="4901183"/>
            <a:ext cx="1920240" cy="29260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Test + demo</a:t>
            </a:r>
          </a:p>
        </p:txBody>
      </p:sp>
      <p:sp>
        <p:nvSpPr>
          <p:cNvPr id="31" name="TextBox 30"/>
          <p:cNvSpPr txBox="1"/>
          <p:nvPr/>
        </p:nvSpPr>
        <p:spPr>
          <a:xfrm>
            <a:off x="3703320" y="4910327"/>
            <a:ext cx="7269480" cy="384048"/>
          </a:xfrm>
          <a:prstGeom prst="rect">
            <a:avLst/>
          </a:prstGeom>
          <a:noFill/>
        </p:spPr>
        <p:txBody>
          <a:bodyPr wrap="square" lIns="18288" rIns="18288" tIns="18288" bIns="18288" anchor="ctr">
            <a:spAutoFit/>
          </a:bodyPr>
          <a:lstStyle/>
          <a:p>
            <a:pPr algn="l">
              <a:spcBef>
                <a:spcPts val="0"/>
              </a:spcBef>
              <a:spcAft>
                <a:spcPts val="200"/>
              </a:spcAft>
            </a:pPr>
            <a:r>
              <a:rPr sz="1400" b="0" i="0">
                <a:solidFill>
                  <a:srgbClr val="5E6B84"/>
                </a:solidFill>
                <a:latin typeface="Aptos"/>
              </a:rPr>
              <a:t>Try normal and unexpected inputs; fix confusing output.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1728216"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618488"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5676F5"/>
                </a:solidFill>
                <a:latin typeface="Aptos"/>
              </a:rPr>
              <a:t>GLOSSARY</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Beginner glossary: common technical terms</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You do not need to memorize every name. Focus on what each part does.</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27</a:t>
            </a:r>
          </a:p>
        </p:txBody>
      </p:sp>
      <p:sp>
        <p:nvSpPr>
          <p:cNvPr id="8" name="Rounded Rectangle 7"/>
          <p:cNvSpPr/>
          <p:nvPr/>
        </p:nvSpPr>
        <p:spPr>
          <a:xfrm>
            <a:off x="731520" y="1828800"/>
            <a:ext cx="5212080" cy="74980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2039112"/>
            <a:ext cx="123444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3544" y="2071116"/>
            <a:ext cx="112471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5676F5"/>
                </a:solidFill>
                <a:latin typeface="Aptos"/>
              </a:rPr>
              <a:t>API</a:t>
            </a:r>
          </a:p>
        </p:txBody>
      </p:sp>
      <p:sp>
        <p:nvSpPr>
          <p:cNvPr id="11" name="TextBox 10"/>
          <p:cNvSpPr txBox="1"/>
          <p:nvPr/>
        </p:nvSpPr>
        <p:spPr>
          <a:xfrm>
            <a:off x="2286000" y="1965960"/>
            <a:ext cx="3429000" cy="502920"/>
          </a:xfrm>
          <a:prstGeom prst="rect">
            <a:avLst/>
          </a:prstGeom>
          <a:noFill/>
        </p:spPr>
        <p:txBody>
          <a:bodyPr wrap="square" lIns="18288" rIns="18288" tIns="18288" bIns="18288" anchor="ctr">
            <a:spAutoFit/>
          </a:bodyPr>
          <a:lstStyle/>
          <a:p>
            <a:pPr algn="l">
              <a:spcBef>
                <a:spcPts val="0"/>
              </a:spcBef>
              <a:spcAft>
                <a:spcPts val="200"/>
              </a:spcAft>
            </a:pPr>
            <a:r>
              <a:rPr sz="1200" b="0" i="0">
                <a:solidFill>
                  <a:srgbClr val="5E6B84"/>
                </a:solidFill>
                <a:latin typeface="Aptos"/>
              </a:rPr>
              <a:t>A way for one program to request a service from another.</a:t>
            </a:r>
          </a:p>
        </p:txBody>
      </p:sp>
      <p:sp>
        <p:nvSpPr>
          <p:cNvPr id="12" name="Rounded Rectangle 11"/>
          <p:cNvSpPr/>
          <p:nvPr/>
        </p:nvSpPr>
        <p:spPr>
          <a:xfrm>
            <a:off x="6309359" y="1828800"/>
            <a:ext cx="5212080" cy="74980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46520" y="2039112"/>
            <a:ext cx="123444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1383" y="2071116"/>
            <a:ext cx="112471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5676F5"/>
                </a:solidFill>
                <a:latin typeface="Aptos"/>
              </a:rPr>
              <a:t>LLM</a:t>
            </a:r>
          </a:p>
        </p:txBody>
      </p:sp>
      <p:sp>
        <p:nvSpPr>
          <p:cNvPr id="15" name="TextBox 14"/>
          <p:cNvSpPr txBox="1"/>
          <p:nvPr/>
        </p:nvSpPr>
        <p:spPr>
          <a:xfrm>
            <a:off x="7863840" y="1965960"/>
            <a:ext cx="3429000" cy="502920"/>
          </a:xfrm>
          <a:prstGeom prst="rect">
            <a:avLst/>
          </a:prstGeom>
          <a:noFill/>
        </p:spPr>
        <p:txBody>
          <a:bodyPr wrap="square" lIns="18288" rIns="18288" tIns="18288" bIns="18288" anchor="ctr">
            <a:spAutoFit/>
          </a:bodyPr>
          <a:lstStyle/>
          <a:p>
            <a:pPr algn="l">
              <a:spcBef>
                <a:spcPts val="0"/>
              </a:spcBef>
              <a:spcAft>
                <a:spcPts val="200"/>
              </a:spcAft>
            </a:pPr>
            <a:r>
              <a:rPr sz="1200" b="0" i="0">
                <a:solidFill>
                  <a:srgbClr val="5E6B84"/>
                </a:solidFill>
                <a:latin typeface="Aptos"/>
              </a:rPr>
              <a:t>A large language model that can generate or transform text.</a:t>
            </a:r>
          </a:p>
        </p:txBody>
      </p:sp>
      <p:sp>
        <p:nvSpPr>
          <p:cNvPr id="16" name="Rounded Rectangle 15"/>
          <p:cNvSpPr/>
          <p:nvPr/>
        </p:nvSpPr>
        <p:spPr>
          <a:xfrm>
            <a:off x="731520" y="2788920"/>
            <a:ext cx="5212080" cy="74980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8680" y="2999232"/>
            <a:ext cx="123444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 y="3031236"/>
            <a:ext cx="112471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5676F5"/>
                </a:solidFill>
                <a:latin typeface="Aptos"/>
              </a:rPr>
              <a:t>Prompt</a:t>
            </a:r>
          </a:p>
        </p:txBody>
      </p:sp>
      <p:sp>
        <p:nvSpPr>
          <p:cNvPr id="19" name="TextBox 18"/>
          <p:cNvSpPr txBox="1"/>
          <p:nvPr/>
        </p:nvSpPr>
        <p:spPr>
          <a:xfrm>
            <a:off x="2286000" y="2926079"/>
            <a:ext cx="3429000" cy="502920"/>
          </a:xfrm>
          <a:prstGeom prst="rect">
            <a:avLst/>
          </a:prstGeom>
          <a:noFill/>
        </p:spPr>
        <p:txBody>
          <a:bodyPr wrap="square" lIns="18288" rIns="18288" tIns="18288" bIns="18288" anchor="ctr">
            <a:spAutoFit/>
          </a:bodyPr>
          <a:lstStyle/>
          <a:p>
            <a:pPr algn="l">
              <a:spcBef>
                <a:spcPts val="0"/>
              </a:spcBef>
              <a:spcAft>
                <a:spcPts val="200"/>
              </a:spcAft>
            </a:pPr>
            <a:r>
              <a:rPr sz="1200" b="0" i="0">
                <a:solidFill>
                  <a:srgbClr val="5E6B84"/>
                </a:solidFill>
                <a:latin typeface="Aptos"/>
              </a:rPr>
              <a:t>The instruction or context sent to the AI model.</a:t>
            </a:r>
          </a:p>
        </p:txBody>
      </p:sp>
      <p:sp>
        <p:nvSpPr>
          <p:cNvPr id="20" name="Rounded Rectangle 19"/>
          <p:cNvSpPr/>
          <p:nvPr/>
        </p:nvSpPr>
        <p:spPr>
          <a:xfrm>
            <a:off x="6309359" y="2788920"/>
            <a:ext cx="5212080" cy="74980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46520" y="2999232"/>
            <a:ext cx="123444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1383" y="3031236"/>
            <a:ext cx="112471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5676F5"/>
                </a:solidFill>
                <a:latin typeface="Aptos"/>
              </a:rPr>
              <a:t>UI</a:t>
            </a:r>
          </a:p>
        </p:txBody>
      </p:sp>
      <p:sp>
        <p:nvSpPr>
          <p:cNvPr id="23" name="TextBox 22"/>
          <p:cNvSpPr txBox="1"/>
          <p:nvPr/>
        </p:nvSpPr>
        <p:spPr>
          <a:xfrm>
            <a:off x="7863840" y="2926079"/>
            <a:ext cx="3429000" cy="502920"/>
          </a:xfrm>
          <a:prstGeom prst="rect">
            <a:avLst/>
          </a:prstGeom>
          <a:noFill/>
        </p:spPr>
        <p:txBody>
          <a:bodyPr wrap="square" lIns="18288" rIns="18288" tIns="18288" bIns="18288" anchor="ctr">
            <a:spAutoFit/>
          </a:bodyPr>
          <a:lstStyle/>
          <a:p>
            <a:pPr algn="l">
              <a:spcBef>
                <a:spcPts val="0"/>
              </a:spcBef>
              <a:spcAft>
                <a:spcPts val="200"/>
              </a:spcAft>
            </a:pPr>
            <a:r>
              <a:rPr sz="1200" b="0" i="0">
                <a:solidFill>
                  <a:srgbClr val="5E6B84"/>
                </a:solidFill>
                <a:latin typeface="Aptos"/>
              </a:rPr>
              <a:t>The screens, forms, and buttons the user interacts with.</a:t>
            </a:r>
          </a:p>
        </p:txBody>
      </p:sp>
      <p:sp>
        <p:nvSpPr>
          <p:cNvPr id="24" name="Rounded Rectangle 23"/>
          <p:cNvSpPr/>
          <p:nvPr/>
        </p:nvSpPr>
        <p:spPr>
          <a:xfrm>
            <a:off x="731520" y="3749039"/>
            <a:ext cx="5212080" cy="74980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8680" y="3959352"/>
            <a:ext cx="123444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 y="3991356"/>
            <a:ext cx="112471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5676F5"/>
                </a:solidFill>
                <a:latin typeface="Aptos"/>
              </a:rPr>
              <a:t>Database</a:t>
            </a:r>
          </a:p>
        </p:txBody>
      </p:sp>
      <p:sp>
        <p:nvSpPr>
          <p:cNvPr id="27" name="TextBox 26"/>
          <p:cNvSpPr txBox="1"/>
          <p:nvPr/>
        </p:nvSpPr>
        <p:spPr>
          <a:xfrm>
            <a:off x="2286000" y="3886200"/>
            <a:ext cx="3429000" cy="502920"/>
          </a:xfrm>
          <a:prstGeom prst="rect">
            <a:avLst/>
          </a:prstGeom>
          <a:noFill/>
        </p:spPr>
        <p:txBody>
          <a:bodyPr wrap="square" lIns="18288" rIns="18288" tIns="18288" bIns="18288" anchor="ctr">
            <a:spAutoFit/>
          </a:bodyPr>
          <a:lstStyle/>
          <a:p>
            <a:pPr algn="l">
              <a:spcBef>
                <a:spcPts val="0"/>
              </a:spcBef>
              <a:spcAft>
                <a:spcPts val="200"/>
              </a:spcAft>
            </a:pPr>
            <a:r>
              <a:rPr sz="1200" b="0" i="0">
                <a:solidFill>
                  <a:srgbClr val="5E6B84"/>
                </a:solidFill>
                <a:latin typeface="Aptos"/>
              </a:rPr>
              <a:t>A place to store information so it can be used later.</a:t>
            </a:r>
          </a:p>
        </p:txBody>
      </p:sp>
      <p:sp>
        <p:nvSpPr>
          <p:cNvPr id="28" name="Rounded Rectangle 27"/>
          <p:cNvSpPr/>
          <p:nvPr/>
        </p:nvSpPr>
        <p:spPr>
          <a:xfrm>
            <a:off x="6309359" y="3749039"/>
            <a:ext cx="5212080" cy="74980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446520" y="3959352"/>
            <a:ext cx="123444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01383" y="3991356"/>
            <a:ext cx="112471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5676F5"/>
                </a:solidFill>
                <a:latin typeface="Aptos"/>
              </a:rPr>
              <a:t>TTS</a:t>
            </a:r>
          </a:p>
        </p:txBody>
      </p:sp>
      <p:sp>
        <p:nvSpPr>
          <p:cNvPr id="31" name="TextBox 30"/>
          <p:cNvSpPr txBox="1"/>
          <p:nvPr/>
        </p:nvSpPr>
        <p:spPr>
          <a:xfrm>
            <a:off x="7863840" y="3886200"/>
            <a:ext cx="3429000" cy="502920"/>
          </a:xfrm>
          <a:prstGeom prst="rect">
            <a:avLst/>
          </a:prstGeom>
          <a:noFill/>
        </p:spPr>
        <p:txBody>
          <a:bodyPr wrap="square" lIns="18288" rIns="18288" tIns="18288" bIns="18288" anchor="ctr">
            <a:spAutoFit/>
          </a:bodyPr>
          <a:lstStyle/>
          <a:p>
            <a:pPr algn="l">
              <a:spcBef>
                <a:spcPts val="0"/>
              </a:spcBef>
              <a:spcAft>
                <a:spcPts val="200"/>
              </a:spcAft>
            </a:pPr>
            <a:r>
              <a:rPr sz="1200" b="0" i="0">
                <a:solidFill>
                  <a:srgbClr val="5E6B84"/>
                </a:solidFill>
                <a:latin typeface="Aptos"/>
              </a:rPr>
              <a:t>Text-to-speech: turning written text into audio.</a:t>
            </a:r>
          </a:p>
        </p:txBody>
      </p:sp>
      <p:sp>
        <p:nvSpPr>
          <p:cNvPr id="32" name="Rounded Rectangle 31"/>
          <p:cNvSpPr/>
          <p:nvPr/>
        </p:nvSpPr>
        <p:spPr>
          <a:xfrm>
            <a:off x="731520" y="4709160"/>
            <a:ext cx="5212080" cy="74980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68680" y="4919472"/>
            <a:ext cx="123444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3544" y="4951476"/>
            <a:ext cx="112471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5676F5"/>
                </a:solidFill>
                <a:latin typeface="Aptos"/>
              </a:rPr>
              <a:t>Renderer</a:t>
            </a:r>
          </a:p>
        </p:txBody>
      </p:sp>
      <p:sp>
        <p:nvSpPr>
          <p:cNvPr id="35" name="TextBox 34"/>
          <p:cNvSpPr txBox="1"/>
          <p:nvPr/>
        </p:nvSpPr>
        <p:spPr>
          <a:xfrm>
            <a:off x="2286000" y="4846320"/>
            <a:ext cx="3429000" cy="502920"/>
          </a:xfrm>
          <a:prstGeom prst="rect">
            <a:avLst/>
          </a:prstGeom>
          <a:noFill/>
        </p:spPr>
        <p:txBody>
          <a:bodyPr wrap="square" lIns="18288" rIns="18288" tIns="18288" bIns="18288" anchor="ctr">
            <a:spAutoFit/>
          </a:bodyPr>
          <a:lstStyle/>
          <a:p>
            <a:pPr algn="l">
              <a:spcBef>
                <a:spcPts val="0"/>
              </a:spcBef>
              <a:spcAft>
                <a:spcPts val="200"/>
              </a:spcAft>
            </a:pPr>
            <a:r>
              <a:rPr sz="1200" b="0" i="0">
                <a:solidFill>
                  <a:srgbClr val="5E6B84"/>
                </a:solidFill>
                <a:latin typeface="Aptos"/>
              </a:rPr>
              <a:t>Code that combines text and graphics into an image.</a:t>
            </a:r>
          </a:p>
        </p:txBody>
      </p:sp>
      <p:sp>
        <p:nvSpPr>
          <p:cNvPr id="36" name="Rounded Rectangle 35"/>
          <p:cNvSpPr/>
          <p:nvPr/>
        </p:nvSpPr>
        <p:spPr>
          <a:xfrm>
            <a:off x="6309359" y="4709160"/>
            <a:ext cx="5212080" cy="74980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446520" y="4919472"/>
            <a:ext cx="123444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01383" y="4951476"/>
            <a:ext cx="112471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5676F5"/>
                </a:solidFill>
                <a:latin typeface="Aptos"/>
              </a:rPr>
              <a:t>MVP</a:t>
            </a:r>
          </a:p>
        </p:txBody>
      </p:sp>
      <p:sp>
        <p:nvSpPr>
          <p:cNvPr id="39" name="TextBox 38"/>
          <p:cNvSpPr txBox="1"/>
          <p:nvPr/>
        </p:nvSpPr>
        <p:spPr>
          <a:xfrm>
            <a:off x="7863840" y="4846320"/>
            <a:ext cx="3429000" cy="502920"/>
          </a:xfrm>
          <a:prstGeom prst="rect">
            <a:avLst/>
          </a:prstGeom>
          <a:noFill/>
        </p:spPr>
        <p:txBody>
          <a:bodyPr wrap="square" lIns="18288" rIns="18288" tIns="18288" bIns="18288" anchor="ctr">
            <a:spAutoFit/>
          </a:bodyPr>
          <a:lstStyle/>
          <a:p>
            <a:pPr algn="l">
              <a:spcBef>
                <a:spcPts val="0"/>
              </a:spcBef>
              <a:spcAft>
                <a:spcPts val="200"/>
              </a:spcAft>
            </a:pPr>
            <a:r>
              <a:rPr sz="1200" b="0" i="0">
                <a:solidFill>
                  <a:srgbClr val="5E6B84"/>
                </a:solidFill>
                <a:latin typeface="Aptos"/>
              </a:rPr>
              <a:t>Minimum viable product: the smallest useful working version.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11C35"/>
        </a:solidFill>
        <a:effectLst/>
      </p:bgPr>
    </p:bg>
    <p:spTree>
      <p:nvGrpSpPr>
        <p:cNvPr id="1" name=""/>
        <p:cNvGrpSpPr/>
        <p:nvPr/>
      </p:nvGrpSpPr>
      <p:grpSpPr/>
      <p:sp>
        <p:nvSpPr>
          <p:cNvPr id="2" name="TextBox 1"/>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9EABC1"/>
                </a:solidFill>
                <a:latin typeface="Aptos"/>
              </a:rPr>
              <a:t>AI MINI PROJECT IDEAS  •  BEGINNER-FRIENDLY GUIDE</a:t>
            </a:r>
          </a:p>
        </p:txBody>
      </p:sp>
      <p:sp>
        <p:nvSpPr>
          <p:cNvPr id="3" name="TextBox 2"/>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9EABC1"/>
                </a:solidFill>
                <a:latin typeface="Aptos"/>
              </a:rPr>
              <a:t>28</a:t>
            </a:r>
          </a:p>
        </p:txBody>
      </p:sp>
      <p:sp>
        <p:nvSpPr>
          <p:cNvPr id="4" name="Rounded Rectangle 3"/>
          <p:cNvSpPr/>
          <p:nvPr/>
        </p:nvSpPr>
        <p:spPr>
          <a:xfrm>
            <a:off x="685800" y="658368"/>
            <a:ext cx="1097280" cy="292608"/>
          </a:xfrm>
          <a:prstGeom prst="roundRect">
            <a:avLst/>
          </a:prstGeom>
          <a:solidFill>
            <a:srgbClr val="293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0664" y="690372"/>
            <a:ext cx="98755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9FE9E1"/>
                </a:solidFill>
                <a:latin typeface="Aptos"/>
              </a:rPr>
              <a:t>WRAP-UP</a:t>
            </a:r>
          </a:p>
        </p:txBody>
      </p:sp>
      <p:sp>
        <p:nvSpPr>
          <p:cNvPr id="6" name="TextBox 5"/>
          <p:cNvSpPr txBox="1"/>
          <p:nvPr/>
        </p:nvSpPr>
        <p:spPr>
          <a:xfrm>
            <a:off x="685800" y="1353312"/>
            <a:ext cx="7040880" cy="1417320"/>
          </a:xfrm>
          <a:prstGeom prst="rect">
            <a:avLst/>
          </a:prstGeom>
          <a:noFill/>
        </p:spPr>
        <p:txBody>
          <a:bodyPr wrap="square" lIns="18288" rIns="18288" tIns="18288" bIns="18288" anchor="t">
            <a:spAutoFit/>
          </a:bodyPr>
          <a:lstStyle/>
          <a:p>
            <a:pPr algn="l">
              <a:spcBef>
                <a:spcPts val="0"/>
              </a:spcBef>
              <a:spcAft>
                <a:spcPts val="200"/>
              </a:spcAft>
            </a:pPr>
            <a:r>
              <a:rPr sz="3400" b="1" i="0">
                <a:solidFill>
                  <a:srgbClr val="FFFFFF"/>
                </a:solidFill>
                <a:latin typeface="Aptos"/>
              </a:rPr>
              <a:t>Build the smallest</a:t>
            </a:r>
          </a:p>
          <a:p>
            <a:pPr algn="l">
              <a:spcBef>
                <a:spcPts val="0"/>
              </a:spcBef>
              <a:spcAft>
                <a:spcPts val="200"/>
              </a:spcAft>
            </a:pPr>
            <a:r>
              <a:rPr sz="3400" b="1" i="0">
                <a:solidFill>
                  <a:srgbClr val="FFFFFF"/>
                </a:solidFill>
                <a:latin typeface="Aptos"/>
              </a:rPr>
              <a:t>version that works.</a:t>
            </a:r>
          </a:p>
        </p:txBody>
      </p:sp>
      <p:sp>
        <p:nvSpPr>
          <p:cNvPr id="7" name="TextBox 6"/>
          <p:cNvSpPr txBox="1"/>
          <p:nvPr/>
        </p:nvSpPr>
        <p:spPr>
          <a:xfrm>
            <a:off x="777240" y="3337560"/>
            <a:ext cx="2743200" cy="329184"/>
          </a:xfrm>
          <a:prstGeom prst="rect">
            <a:avLst/>
          </a:prstGeom>
          <a:noFill/>
        </p:spPr>
        <p:txBody>
          <a:bodyPr wrap="square" lIns="18288" rIns="18288" tIns="18288" bIns="18288" anchor="t">
            <a:spAutoFit/>
          </a:bodyPr>
          <a:lstStyle/>
          <a:p>
            <a:pPr algn="l">
              <a:spcBef>
                <a:spcPts val="0"/>
              </a:spcBef>
              <a:spcAft>
                <a:spcPts val="200"/>
              </a:spcAft>
            </a:pPr>
            <a:r>
              <a:rPr sz="1600" b="1" i="0">
                <a:solidFill>
                  <a:srgbClr val="8EE6D8"/>
                </a:solidFill>
                <a:latin typeface="Aptos"/>
              </a:rPr>
              <a:t>AI Dungeon Master</a:t>
            </a:r>
          </a:p>
        </p:txBody>
      </p:sp>
      <p:sp>
        <p:nvSpPr>
          <p:cNvPr id="8" name="TextBox 7"/>
          <p:cNvSpPr txBox="1"/>
          <p:nvPr/>
        </p:nvSpPr>
        <p:spPr>
          <a:xfrm>
            <a:off x="777240" y="3712463"/>
            <a:ext cx="3383280" cy="292608"/>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D7E0F1"/>
                </a:solidFill>
                <a:latin typeface="Aptos"/>
              </a:rPr>
              <a:t>Interactive story + memory</a:t>
            </a:r>
          </a:p>
        </p:txBody>
      </p:sp>
      <p:sp>
        <p:nvSpPr>
          <p:cNvPr id="9" name="TextBox 8"/>
          <p:cNvSpPr txBox="1"/>
          <p:nvPr/>
        </p:nvSpPr>
        <p:spPr>
          <a:xfrm>
            <a:off x="4343400" y="3337560"/>
            <a:ext cx="2834640" cy="329184"/>
          </a:xfrm>
          <a:prstGeom prst="rect">
            <a:avLst/>
          </a:prstGeom>
          <a:noFill/>
        </p:spPr>
        <p:txBody>
          <a:bodyPr wrap="square" lIns="18288" rIns="18288" tIns="18288" bIns="18288" anchor="t">
            <a:spAutoFit/>
          </a:bodyPr>
          <a:lstStyle/>
          <a:p>
            <a:pPr algn="l">
              <a:spcBef>
                <a:spcPts val="0"/>
              </a:spcBef>
              <a:spcAft>
                <a:spcPts val="200"/>
              </a:spcAft>
            </a:pPr>
            <a:r>
              <a:rPr sz="1600" b="1" i="0">
                <a:solidFill>
                  <a:srgbClr val="FFD19A"/>
                </a:solidFill>
                <a:latin typeface="Aptos"/>
              </a:rPr>
              <a:t>Rap Battle Generator</a:t>
            </a:r>
          </a:p>
        </p:txBody>
      </p:sp>
      <p:sp>
        <p:nvSpPr>
          <p:cNvPr id="10" name="TextBox 9"/>
          <p:cNvSpPr txBox="1"/>
          <p:nvPr/>
        </p:nvSpPr>
        <p:spPr>
          <a:xfrm>
            <a:off x="4343400" y="3712463"/>
            <a:ext cx="3383280" cy="292608"/>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D7E0F1"/>
                </a:solidFill>
                <a:latin typeface="Aptos"/>
              </a:rPr>
              <a:t>Prompt + rhymes + optional voice</a:t>
            </a:r>
          </a:p>
        </p:txBody>
      </p:sp>
      <p:sp>
        <p:nvSpPr>
          <p:cNvPr id="11" name="TextBox 10"/>
          <p:cNvSpPr txBox="1"/>
          <p:nvPr/>
        </p:nvSpPr>
        <p:spPr>
          <a:xfrm>
            <a:off x="8001000" y="3337560"/>
            <a:ext cx="2377440" cy="329184"/>
          </a:xfrm>
          <a:prstGeom prst="rect">
            <a:avLst/>
          </a:prstGeom>
          <a:noFill/>
        </p:spPr>
        <p:txBody>
          <a:bodyPr wrap="square" lIns="18288" rIns="18288" tIns="18288" bIns="18288" anchor="t">
            <a:spAutoFit/>
          </a:bodyPr>
          <a:lstStyle/>
          <a:p>
            <a:pPr algn="l">
              <a:spcBef>
                <a:spcPts val="0"/>
              </a:spcBef>
              <a:spcAft>
                <a:spcPts val="200"/>
              </a:spcAft>
            </a:pPr>
            <a:r>
              <a:rPr sz="1600" b="1" i="0">
                <a:solidFill>
                  <a:srgbClr val="FFB9CC"/>
                </a:solidFill>
                <a:latin typeface="Aptos"/>
              </a:rPr>
              <a:t>AI Meme Maker</a:t>
            </a:r>
          </a:p>
        </p:txBody>
      </p:sp>
      <p:sp>
        <p:nvSpPr>
          <p:cNvPr id="12" name="TextBox 11"/>
          <p:cNvSpPr txBox="1"/>
          <p:nvPr/>
        </p:nvSpPr>
        <p:spPr>
          <a:xfrm>
            <a:off x="8001000" y="3712463"/>
            <a:ext cx="3200400" cy="292608"/>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D7E0F1"/>
                </a:solidFill>
                <a:latin typeface="Aptos"/>
              </a:rPr>
              <a:t>Caption + template + image</a:t>
            </a:r>
          </a:p>
        </p:txBody>
      </p:sp>
      <p:sp>
        <p:nvSpPr>
          <p:cNvPr id="13" name="Rectangle 12"/>
          <p:cNvSpPr/>
          <p:nvPr/>
        </p:nvSpPr>
        <p:spPr>
          <a:xfrm>
            <a:off x="777240" y="4754880"/>
            <a:ext cx="10607040" cy="13716"/>
          </a:xfrm>
          <a:prstGeom prst="rect">
            <a:avLst/>
          </a:prstGeom>
          <a:solidFill>
            <a:srgbClr val="4354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212080"/>
            <a:ext cx="4114800" cy="640080"/>
          </a:xfrm>
          <a:prstGeom prst="rect">
            <a:avLst/>
          </a:prstGeom>
          <a:noFill/>
        </p:spPr>
        <p:txBody>
          <a:bodyPr wrap="square" lIns="18288" rIns="18288" tIns="18288" bIns="18288" anchor="t">
            <a:spAutoFit/>
          </a:bodyPr>
          <a:lstStyle/>
          <a:p>
            <a:pPr algn="l">
              <a:spcBef>
                <a:spcPts val="0"/>
              </a:spcBef>
              <a:spcAft>
                <a:spcPts val="200"/>
              </a:spcAft>
            </a:pPr>
            <a:r>
              <a:rPr sz="2600" b="1" i="0">
                <a:solidFill>
                  <a:srgbClr val="FFFFFF"/>
                </a:solidFill>
                <a:latin typeface="Aptos"/>
              </a:rPr>
              <a:t>Questions?</a:t>
            </a:r>
          </a:p>
        </p:txBody>
      </p:sp>
      <p:sp>
        <p:nvSpPr>
          <p:cNvPr id="15" name="TextBox 14"/>
          <p:cNvSpPr txBox="1"/>
          <p:nvPr/>
        </p:nvSpPr>
        <p:spPr>
          <a:xfrm>
            <a:off x="777240" y="5870448"/>
            <a:ext cx="9692640" cy="310896"/>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AEBBD1"/>
                </a:solidFill>
                <a:latin typeface="Aptos"/>
              </a:rPr>
              <a:t>Pick one idea, make one flow work, and improve it step by step.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11B34"/>
        </a:solidFill>
        <a:effectLst/>
      </p:bgPr>
    </p:bg>
    <p:spTree>
      <p:nvGrpSpPr>
        <p:cNvPr id="1" name=""/>
        <p:cNvGrpSpPr/>
        <p:nvPr/>
      </p:nvGrpSpPr>
      <p:grpSpPr/>
      <p:sp>
        <p:nvSpPr>
          <p:cNvPr id="2" name="Oval 1"/>
          <p:cNvSpPr/>
          <p:nvPr/>
        </p:nvSpPr>
        <p:spPr>
          <a:xfrm>
            <a:off x="8823960" y="-502920"/>
            <a:ext cx="4389120" cy="4389120"/>
          </a:xfrm>
          <a:prstGeom prst="ellipse">
            <a:avLst/>
          </a:prstGeom>
          <a:solidFill>
            <a:srgbClr val="2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38360" y="4434840"/>
            <a:ext cx="3291840" cy="3291840"/>
          </a:xfrm>
          <a:prstGeom prst="ellipse">
            <a:avLst/>
          </a:prstGeom>
          <a:solidFill>
            <a:srgbClr val="17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13232" y="704088"/>
            <a:ext cx="2377440" cy="274320"/>
          </a:xfrm>
          <a:prstGeom prst="roundRect">
            <a:avLst/>
          </a:prstGeom>
          <a:solidFill>
            <a:srgbClr val="263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749808"/>
            <a:ext cx="2139696" cy="164592"/>
          </a:xfrm>
          <a:prstGeom prst="rect">
            <a:avLst/>
          </a:prstGeom>
          <a:noFill/>
        </p:spPr>
        <p:txBody>
          <a:bodyPr wrap="square" lIns="0" rIns="0" tIns="0" bIns="0" anchor="t">
            <a:normAutofit/>
          </a:bodyPr>
          <a:lstStyle/>
          <a:p>
            <a:pPr algn="l">
              <a:lnSpc>
                <a:spcPct val="108000"/>
              </a:lnSpc>
              <a:spcBef>
                <a:spcPts val="0"/>
              </a:spcBef>
              <a:spcAft>
                <a:spcPts val="0"/>
              </a:spcAft>
            </a:pPr>
            <a:r>
              <a:rPr sz="900" b="1" i="0">
                <a:solidFill>
                  <a:srgbClr val="9FE9E1"/>
                </a:solidFill>
                <a:latin typeface="Aptos"/>
              </a:rPr>
              <a:t>PART 2  •  EMBEDDED SYSTEMS</a:t>
            </a:r>
          </a:p>
        </p:txBody>
      </p:sp>
      <p:sp>
        <p:nvSpPr>
          <p:cNvPr id="6" name="TextBox 5"/>
          <p:cNvSpPr txBox="1"/>
          <p:nvPr/>
        </p:nvSpPr>
        <p:spPr>
          <a:xfrm>
            <a:off x="713232" y="1325880"/>
            <a:ext cx="8138160" cy="1508760"/>
          </a:xfrm>
          <a:prstGeom prst="rect">
            <a:avLst/>
          </a:prstGeom>
          <a:noFill/>
        </p:spPr>
        <p:txBody>
          <a:bodyPr wrap="square" lIns="0" rIns="0" tIns="0" bIns="0" anchor="t">
            <a:normAutofit/>
          </a:bodyPr>
          <a:lstStyle/>
          <a:p>
            <a:pPr algn="l">
              <a:lnSpc>
                <a:spcPct val="108000"/>
              </a:lnSpc>
              <a:spcBef>
                <a:spcPts val="0"/>
              </a:spcBef>
              <a:spcAft>
                <a:spcPts val="300"/>
              </a:spcAft>
            </a:pPr>
            <a:r>
              <a:rPr sz="3400" b="1" i="0">
                <a:solidFill>
                  <a:srgbClr val="FFFFFF"/>
                </a:solidFill>
                <a:latin typeface="Aptos"/>
              </a:rPr>
              <a:t>11 PROJECT PATHS.</a:t>
            </a:r>
          </a:p>
          <a:p>
            <a:pPr algn="l">
              <a:lnSpc>
                <a:spcPct val="108000"/>
              </a:lnSpc>
              <a:spcBef>
                <a:spcPts val="0"/>
              </a:spcBef>
              <a:spcAft>
                <a:spcPts val="300"/>
              </a:spcAft>
            </a:pPr>
            <a:r>
              <a:rPr sz="3400" b="1" i="0">
                <a:solidFill>
                  <a:srgbClr val="FFFFFF"/>
                </a:solidFill>
                <a:latin typeface="Aptos"/>
              </a:rPr>
              <a:t>ONE PRACTICAL MINDSET.</a:t>
            </a:r>
          </a:p>
        </p:txBody>
      </p:sp>
      <p:sp>
        <p:nvSpPr>
          <p:cNvPr id="7" name="TextBox 6"/>
          <p:cNvSpPr txBox="1"/>
          <p:nvPr/>
        </p:nvSpPr>
        <p:spPr>
          <a:xfrm>
            <a:off x="749808" y="3017520"/>
            <a:ext cx="6675120" cy="694944"/>
          </a:xfrm>
          <a:prstGeom prst="rect">
            <a:avLst/>
          </a:prstGeom>
          <a:noFill/>
        </p:spPr>
        <p:txBody>
          <a:bodyPr wrap="square" lIns="0" rIns="0" tIns="0" bIns="0" anchor="t">
            <a:normAutofit/>
          </a:bodyPr>
          <a:lstStyle/>
          <a:p>
            <a:pPr algn="l">
              <a:lnSpc>
                <a:spcPct val="108000"/>
              </a:lnSpc>
              <a:spcBef>
                <a:spcPts val="0"/>
              </a:spcBef>
              <a:spcAft>
                <a:spcPts val="0"/>
              </a:spcAft>
            </a:pPr>
            <a:r>
              <a:rPr sz="1600" b="0" i="0">
                <a:solidFill>
                  <a:srgbClr val="D7E0F1"/>
                </a:solidFill>
                <a:latin typeface="Aptos"/>
              </a:rPr>
              <a:t>From AI-generated stories, rhymes and images to sensors, displays, alerts and motion.</a:t>
            </a:r>
          </a:p>
        </p:txBody>
      </p:sp>
      <p:sp>
        <p:nvSpPr>
          <p:cNvPr id="8" name="Rounded Rectangle 7"/>
          <p:cNvSpPr/>
          <p:nvPr/>
        </p:nvSpPr>
        <p:spPr>
          <a:xfrm>
            <a:off x="749808" y="4187952"/>
            <a:ext cx="4800600" cy="1097280"/>
          </a:xfrm>
          <a:prstGeom prst="roundRect">
            <a:avLst/>
          </a:prstGeom>
          <a:solidFill>
            <a:srgbClr val="1D2C4B"/>
          </a:solidFill>
          <a:ln w="12700">
            <a:solidFill>
              <a:srgbClr val="2A3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407408"/>
            <a:ext cx="4206240" cy="228600"/>
          </a:xfrm>
          <a:prstGeom prst="rect">
            <a:avLst/>
          </a:prstGeom>
          <a:noFill/>
        </p:spPr>
        <p:txBody>
          <a:bodyPr wrap="square" lIns="0" rIns="0" tIns="0" bIns="0" anchor="t">
            <a:normAutofit/>
          </a:bodyPr>
          <a:lstStyle/>
          <a:p>
            <a:pPr algn="l">
              <a:lnSpc>
                <a:spcPct val="108000"/>
              </a:lnSpc>
              <a:spcBef>
                <a:spcPts val="0"/>
              </a:spcBef>
              <a:spcAft>
                <a:spcPts val="0"/>
              </a:spcAft>
            </a:pPr>
            <a:r>
              <a:rPr sz="1200" b="1" i="0">
                <a:solidFill>
                  <a:srgbClr val="9FE9E1"/>
                </a:solidFill>
                <a:latin typeface="Aptos"/>
              </a:rPr>
              <a:t>PART 1  ·  3 AI APPLICATIONS</a:t>
            </a:r>
          </a:p>
        </p:txBody>
      </p:sp>
      <p:sp>
        <p:nvSpPr>
          <p:cNvPr id="10" name="TextBox 9"/>
          <p:cNvSpPr txBox="1"/>
          <p:nvPr/>
        </p:nvSpPr>
        <p:spPr>
          <a:xfrm>
            <a:off x="960120" y="4754880"/>
            <a:ext cx="4251960" cy="292608"/>
          </a:xfrm>
          <a:prstGeom prst="rect">
            <a:avLst/>
          </a:prstGeom>
          <a:noFill/>
        </p:spPr>
        <p:txBody>
          <a:bodyPr wrap="square" lIns="0" rIns="0" tIns="0" bIns="0" anchor="t">
            <a:normAutofit/>
          </a:bodyPr>
          <a:lstStyle/>
          <a:p>
            <a:pPr algn="l">
              <a:lnSpc>
                <a:spcPct val="108000"/>
              </a:lnSpc>
              <a:spcBef>
                <a:spcPts val="0"/>
              </a:spcBef>
              <a:spcAft>
                <a:spcPts val="0"/>
              </a:spcAft>
            </a:pPr>
            <a:r>
              <a:rPr sz="1200" b="0" i="0">
                <a:solidFill>
                  <a:srgbClr val="FFFFFF"/>
                </a:solidFill>
                <a:latin typeface="Aptos"/>
              </a:rPr>
              <a:t>Dungeon Master  •  Rap Battle  •  Meme Maker</a:t>
            </a:r>
          </a:p>
        </p:txBody>
      </p:sp>
      <p:sp>
        <p:nvSpPr>
          <p:cNvPr id="11" name="Rounded Rectangle 10"/>
          <p:cNvSpPr/>
          <p:nvPr/>
        </p:nvSpPr>
        <p:spPr>
          <a:xfrm>
            <a:off x="5833872" y="4187952"/>
            <a:ext cx="5257800" cy="1097280"/>
          </a:xfrm>
          <a:prstGeom prst="roundRect">
            <a:avLst/>
          </a:prstGeom>
          <a:solidFill>
            <a:srgbClr val="1D2C4B"/>
          </a:solidFill>
          <a:ln w="12700">
            <a:solidFill>
              <a:srgbClr val="2A3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0760" y="4407408"/>
            <a:ext cx="4572000" cy="228600"/>
          </a:xfrm>
          <a:prstGeom prst="rect">
            <a:avLst/>
          </a:prstGeom>
          <a:noFill/>
        </p:spPr>
        <p:txBody>
          <a:bodyPr wrap="square" lIns="0" rIns="0" tIns="0" bIns="0" anchor="t">
            <a:normAutofit/>
          </a:bodyPr>
          <a:lstStyle/>
          <a:p>
            <a:pPr algn="l">
              <a:lnSpc>
                <a:spcPct val="108000"/>
              </a:lnSpc>
              <a:spcBef>
                <a:spcPts val="0"/>
              </a:spcBef>
              <a:spcAft>
                <a:spcPts val="0"/>
              </a:spcAft>
            </a:pPr>
            <a:r>
              <a:rPr sz="1200" b="1" i="0">
                <a:solidFill>
                  <a:srgbClr val="FFD19A"/>
                </a:solidFill>
                <a:latin typeface="Aptos"/>
              </a:rPr>
              <a:t>PART 2  ·  8 ROBOTICS PROJECTS</a:t>
            </a:r>
          </a:p>
        </p:txBody>
      </p:sp>
      <p:sp>
        <p:nvSpPr>
          <p:cNvPr id="13" name="TextBox 12"/>
          <p:cNvSpPr txBox="1"/>
          <p:nvPr/>
        </p:nvSpPr>
        <p:spPr>
          <a:xfrm>
            <a:off x="6080760" y="4754880"/>
            <a:ext cx="4617720" cy="292608"/>
          </a:xfrm>
          <a:prstGeom prst="rect">
            <a:avLst/>
          </a:prstGeom>
          <a:noFill/>
        </p:spPr>
        <p:txBody>
          <a:bodyPr wrap="square" lIns="0" rIns="0" tIns="0" bIns="0" anchor="t">
            <a:normAutofit/>
          </a:bodyPr>
          <a:lstStyle/>
          <a:p>
            <a:pPr algn="l">
              <a:lnSpc>
                <a:spcPct val="108000"/>
              </a:lnSpc>
              <a:spcBef>
                <a:spcPts val="0"/>
              </a:spcBef>
              <a:spcAft>
                <a:spcPts val="0"/>
              </a:spcAft>
            </a:pPr>
            <a:r>
              <a:rPr sz="1200" b="0" i="0">
                <a:solidFill>
                  <a:srgbClr val="FFFFFF"/>
                </a:solidFill>
                <a:latin typeface="Aptos"/>
              </a:rPr>
              <a:t>Control  •  Sense  •  Alert  •  Display  •  Move</a:t>
            </a:r>
          </a:p>
        </p:txBody>
      </p:sp>
      <p:sp>
        <p:nvSpPr>
          <p:cNvPr id="14" name="TextBox 13"/>
          <p:cNvSpPr txBox="1"/>
          <p:nvPr/>
        </p:nvSpPr>
        <p:spPr>
          <a:xfrm>
            <a:off x="594360" y="6446520"/>
            <a:ext cx="8229600" cy="164592"/>
          </a:xfrm>
          <a:prstGeom prst="rect">
            <a:avLst/>
          </a:prstGeom>
          <a:noFill/>
        </p:spPr>
        <p:txBody>
          <a:bodyPr wrap="square" lIns="0" rIns="0" tIns="0" bIns="0" anchor="t">
            <a:normAutofit/>
          </a:bodyPr>
          <a:lstStyle/>
          <a:p>
            <a:pPr algn="l">
              <a:lnSpc>
                <a:spcPct val="108000"/>
              </a:lnSpc>
              <a:spcBef>
                <a:spcPts val="0"/>
              </a:spcBef>
              <a:spcAft>
                <a:spcPts val="0"/>
              </a:spcAft>
            </a:pPr>
            <a:r>
              <a:rPr sz="750" b="0" i="0">
                <a:solidFill>
                  <a:srgbClr val="9EABC1"/>
                </a:solidFill>
                <a:latin typeface="Aptos"/>
              </a:rPr>
              <a:t>AI + ROBOTICS MINI PROJECTS  •  BEGINNER-FRIENDLY GUIDE</a:t>
            </a:r>
          </a:p>
        </p:txBody>
      </p:sp>
      <p:sp>
        <p:nvSpPr>
          <p:cNvPr id="15" name="TextBox 14"/>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9EABC1"/>
                </a:solidFill>
                <a:latin typeface="Apto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362456" cy="256032"/>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143000"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5676F5"/>
                </a:solidFill>
                <a:latin typeface="Aptos"/>
              </a:rPr>
              <a:t>BIG PICTURE</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Two families of projects, eleven directions</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All ideas start with a simple user need and become easier when divided into small, testable modules.</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30</a:t>
            </a:r>
          </a:p>
        </p:txBody>
      </p:sp>
      <p:sp>
        <p:nvSpPr>
          <p:cNvPr id="9" name="Rounded Rectangle 8"/>
          <p:cNvSpPr/>
          <p:nvPr/>
        </p:nvSpPr>
        <p:spPr>
          <a:xfrm>
            <a:off x="658368" y="1847088"/>
            <a:ext cx="5358384" cy="361188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8096" y="2011680"/>
            <a:ext cx="64008" cy="3282696"/>
          </a:xfrm>
          <a:prstGeom prst="round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002536"/>
            <a:ext cx="4882896" cy="356616"/>
          </a:xfrm>
          <a:prstGeom prst="rect">
            <a:avLst/>
          </a:prstGeom>
          <a:noFill/>
        </p:spPr>
        <p:txBody>
          <a:bodyPr wrap="square" lIns="0" rIns="0" tIns="0" bIns="0" anchor="t">
            <a:normAutofit/>
          </a:bodyPr>
          <a:lstStyle/>
          <a:p>
            <a:pPr algn="l">
              <a:lnSpc>
                <a:spcPct val="108000"/>
              </a:lnSpc>
              <a:spcBef>
                <a:spcPts val="0"/>
              </a:spcBef>
              <a:spcAft>
                <a:spcPts val="0"/>
              </a:spcAft>
            </a:pPr>
            <a:r>
              <a:rPr sz="1700" b="1" i="0">
                <a:solidFill>
                  <a:srgbClr val="1B2740"/>
                </a:solidFill>
                <a:latin typeface="Aptos"/>
              </a:rPr>
              <a:t>AI-powered applications</a:t>
            </a:r>
          </a:p>
        </p:txBody>
      </p:sp>
      <p:sp>
        <p:nvSpPr>
          <p:cNvPr id="12" name="TextBox 11"/>
          <p:cNvSpPr txBox="1"/>
          <p:nvPr/>
        </p:nvSpPr>
        <p:spPr>
          <a:xfrm>
            <a:off x="969264" y="2395728"/>
            <a:ext cx="4882896" cy="2916936"/>
          </a:xfrm>
          <a:prstGeom prst="rect">
            <a:avLst/>
          </a:prstGeom>
          <a:noFill/>
        </p:spPr>
        <p:txBody>
          <a:bodyPr wrap="square" lIns="0" rIns="0" tIns="0" bIns="0" anchor="t">
            <a:normAutofit/>
          </a:bodyPr>
          <a:lstStyle/>
          <a:p>
            <a:pPr algn="l">
              <a:lnSpc>
                <a:spcPct val="108000"/>
              </a:lnSpc>
              <a:spcBef>
                <a:spcPts val="0"/>
              </a:spcBef>
              <a:spcAft>
                <a:spcPts val="300"/>
              </a:spcAft>
            </a:pPr>
            <a:r>
              <a:rPr sz="1300" b="0" i="0">
                <a:solidFill>
                  <a:srgbClr val="5E6B84"/>
                </a:solidFill>
                <a:latin typeface="Aptos"/>
              </a:rPr>
              <a:t>01  AI Dungeon Master</a:t>
            </a:r>
          </a:p>
          <a:p>
            <a:pPr algn="l">
              <a:lnSpc>
                <a:spcPct val="108000"/>
              </a:lnSpc>
              <a:spcBef>
                <a:spcPts val="0"/>
              </a:spcBef>
              <a:spcAft>
                <a:spcPts val="300"/>
              </a:spcAft>
            </a:pPr>
            <a:r>
              <a:rPr sz="1300" b="0" i="0">
                <a:solidFill>
                  <a:srgbClr val="5E6B84"/>
                </a:solidFill>
                <a:latin typeface="Aptos"/>
              </a:rPr>
              <a:t>Interactive story + remembered game state</a:t>
            </a:r>
          </a:p>
          <a:p>
            <a:pPr algn="l">
              <a:lnSpc>
                <a:spcPct val="108000"/>
              </a:lnSpc>
              <a:spcBef>
                <a:spcPts val="0"/>
              </a:spcBef>
              <a:spcAft>
                <a:spcPts val="300"/>
              </a:spcAft>
            </a:pPr>
          </a:p>
          <a:p>
            <a:pPr algn="l">
              <a:lnSpc>
                <a:spcPct val="108000"/>
              </a:lnSpc>
              <a:spcBef>
                <a:spcPts val="0"/>
              </a:spcBef>
              <a:spcAft>
                <a:spcPts val="300"/>
              </a:spcAft>
            </a:pPr>
            <a:r>
              <a:rPr sz="1300" b="0" i="0">
                <a:solidFill>
                  <a:srgbClr val="5E6B84"/>
                </a:solidFill>
                <a:latin typeface="Aptos"/>
              </a:rPr>
              <a:t>02  Rap Battle Generator</a:t>
            </a:r>
          </a:p>
          <a:p>
            <a:pPr algn="l">
              <a:lnSpc>
                <a:spcPct val="108000"/>
              </a:lnSpc>
              <a:spcBef>
                <a:spcPts val="0"/>
              </a:spcBef>
              <a:spcAft>
                <a:spcPts val="300"/>
              </a:spcAft>
            </a:pPr>
            <a:r>
              <a:rPr sz="1300" b="0" i="0">
                <a:solidFill>
                  <a:srgbClr val="5E6B84"/>
                </a:solidFill>
                <a:latin typeface="Aptos"/>
              </a:rPr>
              <a:t>Structured prompt + rhymes + optional voice</a:t>
            </a:r>
          </a:p>
          <a:p>
            <a:pPr algn="l">
              <a:lnSpc>
                <a:spcPct val="108000"/>
              </a:lnSpc>
              <a:spcBef>
                <a:spcPts val="0"/>
              </a:spcBef>
              <a:spcAft>
                <a:spcPts val="300"/>
              </a:spcAft>
            </a:pPr>
          </a:p>
          <a:p>
            <a:pPr algn="l">
              <a:lnSpc>
                <a:spcPct val="108000"/>
              </a:lnSpc>
              <a:spcBef>
                <a:spcPts val="0"/>
              </a:spcBef>
              <a:spcAft>
                <a:spcPts val="300"/>
              </a:spcAft>
            </a:pPr>
            <a:r>
              <a:rPr sz="1300" b="0" i="0">
                <a:solidFill>
                  <a:srgbClr val="5E6B84"/>
                </a:solidFill>
                <a:latin typeface="Aptos"/>
              </a:rPr>
              <a:t>03  AI Meme Maker</a:t>
            </a:r>
          </a:p>
          <a:p>
            <a:pPr algn="l">
              <a:lnSpc>
                <a:spcPct val="108000"/>
              </a:lnSpc>
              <a:spcBef>
                <a:spcPts val="0"/>
              </a:spcBef>
              <a:spcAft>
                <a:spcPts val="300"/>
              </a:spcAft>
            </a:pPr>
            <a:r>
              <a:rPr sz="1300" b="0" i="0">
                <a:solidFill>
                  <a:srgbClr val="5E6B84"/>
                </a:solidFill>
                <a:latin typeface="Aptos"/>
              </a:rPr>
              <a:t>Caption + template + finished image</a:t>
            </a:r>
          </a:p>
        </p:txBody>
      </p:sp>
      <p:sp>
        <p:nvSpPr>
          <p:cNvPr id="13" name="Rounded Rectangle 12"/>
          <p:cNvSpPr/>
          <p:nvPr/>
        </p:nvSpPr>
        <p:spPr>
          <a:xfrm>
            <a:off x="6199632" y="1847088"/>
            <a:ext cx="5358384" cy="361188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09360" y="2011680"/>
            <a:ext cx="64008" cy="3282696"/>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0528" y="2002536"/>
            <a:ext cx="4882896" cy="356616"/>
          </a:xfrm>
          <a:prstGeom prst="rect">
            <a:avLst/>
          </a:prstGeom>
          <a:noFill/>
        </p:spPr>
        <p:txBody>
          <a:bodyPr wrap="square" lIns="0" rIns="0" tIns="0" bIns="0" anchor="t">
            <a:normAutofit/>
          </a:bodyPr>
          <a:lstStyle/>
          <a:p>
            <a:pPr algn="l">
              <a:lnSpc>
                <a:spcPct val="108000"/>
              </a:lnSpc>
              <a:spcBef>
                <a:spcPts val="0"/>
              </a:spcBef>
              <a:spcAft>
                <a:spcPts val="0"/>
              </a:spcAft>
            </a:pPr>
            <a:r>
              <a:rPr sz="1700" b="1" i="0">
                <a:solidFill>
                  <a:srgbClr val="1B2740"/>
                </a:solidFill>
                <a:latin typeface="Aptos"/>
              </a:rPr>
              <a:t>Robotics &amp; embedded systems</a:t>
            </a:r>
          </a:p>
        </p:txBody>
      </p:sp>
      <p:sp>
        <p:nvSpPr>
          <p:cNvPr id="16" name="TextBox 15"/>
          <p:cNvSpPr txBox="1"/>
          <p:nvPr/>
        </p:nvSpPr>
        <p:spPr>
          <a:xfrm>
            <a:off x="6510528" y="2395728"/>
            <a:ext cx="4882896" cy="2916936"/>
          </a:xfrm>
          <a:prstGeom prst="rect">
            <a:avLst/>
          </a:prstGeom>
          <a:noFill/>
        </p:spPr>
        <p:txBody>
          <a:bodyPr wrap="square" lIns="0" rIns="0" tIns="0" bIns="0" anchor="t">
            <a:normAutofit/>
          </a:bodyPr>
          <a:lstStyle/>
          <a:p>
            <a:pPr algn="l">
              <a:lnSpc>
                <a:spcPct val="108000"/>
              </a:lnSpc>
              <a:spcBef>
                <a:spcPts val="0"/>
              </a:spcBef>
              <a:spcAft>
                <a:spcPts val="300"/>
              </a:spcAft>
            </a:pPr>
            <a:r>
              <a:rPr sz="1300" b="0" i="0">
                <a:solidFill>
                  <a:srgbClr val="5E6B84"/>
                </a:solidFill>
                <a:latin typeface="Aptos"/>
              </a:rPr>
              <a:t>04  Output control  ·  05  Dynamic brightness/speed</a:t>
            </a:r>
          </a:p>
          <a:p>
            <a:pPr algn="l">
              <a:lnSpc>
                <a:spcPct val="108000"/>
              </a:lnSpc>
              <a:spcBef>
                <a:spcPts val="0"/>
              </a:spcBef>
              <a:spcAft>
                <a:spcPts val="300"/>
              </a:spcAft>
            </a:pPr>
            <a:r>
              <a:rPr sz="1300" b="0" i="0">
                <a:solidFill>
                  <a:srgbClr val="5E6B84"/>
                </a:solidFill>
                <a:latin typeface="Aptos"/>
              </a:rPr>
              <a:t>06  Buttons &amp; switches  ·  07  Sound alerts</a:t>
            </a:r>
          </a:p>
          <a:p>
            <a:pPr algn="l">
              <a:lnSpc>
                <a:spcPct val="108000"/>
              </a:lnSpc>
              <a:spcBef>
                <a:spcPts val="0"/>
              </a:spcBef>
              <a:spcAft>
                <a:spcPts val="300"/>
              </a:spcAft>
            </a:pPr>
            <a:r>
              <a:rPr sz="1300" b="0" i="0">
                <a:solidFill>
                  <a:srgbClr val="5E6B84"/>
                </a:solidFill>
                <a:latin typeface="Aptos"/>
              </a:rPr>
              <a:t>08  Information displays  ·  09  Environment sensing</a:t>
            </a:r>
          </a:p>
          <a:p>
            <a:pPr algn="l">
              <a:lnSpc>
                <a:spcPct val="108000"/>
              </a:lnSpc>
              <a:spcBef>
                <a:spcPts val="0"/>
              </a:spcBef>
              <a:spcAft>
                <a:spcPts val="300"/>
              </a:spcAft>
            </a:pPr>
            <a:r>
              <a:rPr sz="1300" b="0" i="0">
                <a:solidFill>
                  <a:srgbClr val="5E6B84"/>
                </a:solidFill>
                <a:latin typeface="Aptos"/>
              </a:rPr>
              <a:t>10  Parameter monitoring  ·  11  Motion &amp; actuation</a:t>
            </a:r>
          </a:p>
        </p:txBody>
      </p:sp>
      <p:sp>
        <p:nvSpPr>
          <p:cNvPr id="17" name="TextBox 16"/>
          <p:cNvSpPr txBox="1"/>
          <p:nvPr/>
        </p:nvSpPr>
        <p:spPr>
          <a:xfrm>
            <a:off x="786384" y="5687568"/>
            <a:ext cx="10515600" cy="329184"/>
          </a:xfrm>
          <a:prstGeom prst="rect">
            <a:avLst/>
          </a:prstGeom>
          <a:noFill/>
        </p:spPr>
        <p:txBody>
          <a:bodyPr wrap="square" lIns="0" rIns="0" tIns="0" bIns="0" anchor="t">
            <a:normAutofit/>
          </a:bodyPr>
          <a:lstStyle/>
          <a:p>
            <a:pPr algn="l">
              <a:lnSpc>
                <a:spcPct val="108000"/>
              </a:lnSpc>
              <a:spcBef>
                <a:spcPts val="0"/>
              </a:spcBef>
              <a:spcAft>
                <a:spcPts val="0"/>
              </a:spcAft>
            </a:pPr>
            <a:r>
              <a:rPr sz="1200" b="1" i="0">
                <a:solidFill>
                  <a:srgbClr val="5E6B84"/>
                </a:solidFill>
                <a:latin typeface="Aptos"/>
              </a:rPr>
              <a:t>The AI projects mainly transform text or images. The robotics projects read real or simulated signals and control outputs.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280160" cy="256032"/>
          </a:xfrm>
          <a:prstGeom prst="roundRect">
            <a:avLst/>
          </a:prstGeom>
          <a:solidFill>
            <a:srgbClr val="E6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060704"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21B6A8"/>
                </a:solidFill>
                <a:latin typeface="Aptos"/>
              </a:rPr>
              <a:t>FOUNDATION</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How an embedded mini project works</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A small device repeatedly reads input, makes a decision, and updates one or more outputs.</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31</a:t>
            </a:r>
          </a:p>
        </p:txBody>
      </p:sp>
      <p:sp>
        <p:nvSpPr>
          <p:cNvPr id="9" name="Rounded Rectangle 8"/>
          <p:cNvSpPr/>
          <p:nvPr/>
        </p:nvSpPr>
        <p:spPr>
          <a:xfrm>
            <a:off x="621792" y="2084831"/>
            <a:ext cx="2514600" cy="205740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249424"/>
            <a:ext cx="64008" cy="1728216"/>
          </a:xfrm>
          <a:prstGeom prst="round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240279"/>
            <a:ext cx="2039112"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1  INPUT</a:t>
            </a:r>
          </a:p>
        </p:txBody>
      </p:sp>
      <p:sp>
        <p:nvSpPr>
          <p:cNvPr id="12" name="TextBox 11"/>
          <p:cNvSpPr txBox="1"/>
          <p:nvPr/>
        </p:nvSpPr>
        <p:spPr>
          <a:xfrm>
            <a:off x="932688" y="2633472"/>
            <a:ext cx="2039112" cy="1362455"/>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A sensor measures light or temperature, or a person presses a button.</a:t>
            </a:r>
          </a:p>
        </p:txBody>
      </p:sp>
      <p:sp>
        <p:nvSpPr>
          <p:cNvPr id="13" name="TextBox 12"/>
          <p:cNvSpPr txBox="1"/>
          <p:nvPr/>
        </p:nvSpPr>
        <p:spPr>
          <a:xfrm>
            <a:off x="3172968" y="2788920"/>
            <a:ext cx="292608" cy="365760"/>
          </a:xfrm>
          <a:prstGeom prst="rect">
            <a:avLst/>
          </a:prstGeom>
          <a:noFill/>
        </p:spPr>
        <p:txBody>
          <a:bodyPr wrap="square" lIns="0" rIns="0" tIns="0" bIns="0" anchor="t">
            <a:normAutofit/>
          </a:bodyPr>
          <a:lstStyle/>
          <a:p>
            <a:pPr algn="ctr">
              <a:lnSpc>
                <a:spcPct val="108000"/>
              </a:lnSpc>
              <a:spcBef>
                <a:spcPts val="0"/>
              </a:spcBef>
              <a:spcAft>
                <a:spcPts val="0"/>
              </a:spcAft>
            </a:pPr>
            <a:r>
              <a:rPr sz="2400" b="1" i="0">
                <a:solidFill>
                  <a:srgbClr val="8B96AA"/>
                </a:solidFill>
                <a:latin typeface="Aptos"/>
              </a:rPr>
              <a:t>→</a:t>
            </a:r>
          </a:p>
        </p:txBody>
      </p:sp>
      <p:sp>
        <p:nvSpPr>
          <p:cNvPr id="14" name="Rounded Rectangle 13"/>
          <p:cNvSpPr/>
          <p:nvPr/>
        </p:nvSpPr>
        <p:spPr>
          <a:xfrm>
            <a:off x="3520440" y="2084831"/>
            <a:ext cx="2514600" cy="205740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30168" y="2249424"/>
            <a:ext cx="64008" cy="1728216"/>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31336" y="2240279"/>
            <a:ext cx="2039112"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2  CONTROLLER</a:t>
            </a:r>
          </a:p>
        </p:txBody>
      </p:sp>
      <p:sp>
        <p:nvSpPr>
          <p:cNvPr id="17" name="TextBox 16"/>
          <p:cNvSpPr txBox="1"/>
          <p:nvPr/>
        </p:nvSpPr>
        <p:spPr>
          <a:xfrm>
            <a:off x="3831336" y="2633472"/>
            <a:ext cx="2039112" cy="1362455"/>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A microcontroller reads the value and runs the program.</a:t>
            </a:r>
          </a:p>
        </p:txBody>
      </p:sp>
      <p:sp>
        <p:nvSpPr>
          <p:cNvPr id="18" name="TextBox 17"/>
          <p:cNvSpPr txBox="1"/>
          <p:nvPr/>
        </p:nvSpPr>
        <p:spPr>
          <a:xfrm>
            <a:off x="6071616" y="2788920"/>
            <a:ext cx="292608" cy="365760"/>
          </a:xfrm>
          <a:prstGeom prst="rect">
            <a:avLst/>
          </a:prstGeom>
          <a:noFill/>
        </p:spPr>
        <p:txBody>
          <a:bodyPr wrap="square" lIns="0" rIns="0" tIns="0" bIns="0" anchor="t">
            <a:normAutofit/>
          </a:bodyPr>
          <a:lstStyle/>
          <a:p>
            <a:pPr algn="ctr">
              <a:lnSpc>
                <a:spcPct val="108000"/>
              </a:lnSpc>
              <a:spcBef>
                <a:spcPts val="0"/>
              </a:spcBef>
              <a:spcAft>
                <a:spcPts val="0"/>
              </a:spcAft>
            </a:pPr>
            <a:r>
              <a:rPr sz="2400" b="1" i="0">
                <a:solidFill>
                  <a:srgbClr val="8B96AA"/>
                </a:solidFill>
                <a:latin typeface="Aptos"/>
              </a:rPr>
              <a:t>→</a:t>
            </a:r>
          </a:p>
        </p:txBody>
      </p:sp>
      <p:sp>
        <p:nvSpPr>
          <p:cNvPr id="19" name="Rounded Rectangle 18"/>
          <p:cNvSpPr/>
          <p:nvPr/>
        </p:nvSpPr>
        <p:spPr>
          <a:xfrm>
            <a:off x="6419088" y="2084831"/>
            <a:ext cx="2514600" cy="205740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28816" y="2249424"/>
            <a:ext cx="64008" cy="1728216"/>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9983" y="2240279"/>
            <a:ext cx="2039112"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3  RULE / LOGIC</a:t>
            </a:r>
          </a:p>
        </p:txBody>
      </p:sp>
      <p:sp>
        <p:nvSpPr>
          <p:cNvPr id="22" name="TextBox 21"/>
          <p:cNvSpPr txBox="1"/>
          <p:nvPr/>
        </p:nvSpPr>
        <p:spPr>
          <a:xfrm>
            <a:off x="6729983" y="2633472"/>
            <a:ext cx="2039112" cy="1362455"/>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The program compares values, remembers states, or follows a sequence.</a:t>
            </a:r>
          </a:p>
        </p:txBody>
      </p:sp>
      <p:sp>
        <p:nvSpPr>
          <p:cNvPr id="23" name="TextBox 22"/>
          <p:cNvSpPr txBox="1"/>
          <p:nvPr/>
        </p:nvSpPr>
        <p:spPr>
          <a:xfrm>
            <a:off x="8970263" y="2788920"/>
            <a:ext cx="292608" cy="365760"/>
          </a:xfrm>
          <a:prstGeom prst="rect">
            <a:avLst/>
          </a:prstGeom>
          <a:noFill/>
        </p:spPr>
        <p:txBody>
          <a:bodyPr wrap="square" lIns="0" rIns="0" tIns="0" bIns="0" anchor="t">
            <a:normAutofit/>
          </a:bodyPr>
          <a:lstStyle/>
          <a:p>
            <a:pPr algn="ctr">
              <a:lnSpc>
                <a:spcPct val="108000"/>
              </a:lnSpc>
              <a:spcBef>
                <a:spcPts val="0"/>
              </a:spcBef>
              <a:spcAft>
                <a:spcPts val="0"/>
              </a:spcAft>
            </a:pPr>
            <a:r>
              <a:rPr sz="2400" b="1" i="0">
                <a:solidFill>
                  <a:srgbClr val="8B96AA"/>
                </a:solidFill>
                <a:latin typeface="Aptos"/>
              </a:rPr>
              <a:t>→</a:t>
            </a:r>
          </a:p>
        </p:txBody>
      </p:sp>
      <p:sp>
        <p:nvSpPr>
          <p:cNvPr id="24" name="Rounded Rectangle 23"/>
          <p:cNvSpPr/>
          <p:nvPr/>
        </p:nvSpPr>
        <p:spPr>
          <a:xfrm>
            <a:off x="9317736" y="2084831"/>
            <a:ext cx="2514600" cy="205740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427463" y="2249424"/>
            <a:ext cx="64008" cy="1728216"/>
          </a:xfrm>
          <a:prstGeom prst="round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28632" y="2240279"/>
            <a:ext cx="2039112"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4  OUTPUT</a:t>
            </a:r>
          </a:p>
        </p:txBody>
      </p:sp>
      <p:sp>
        <p:nvSpPr>
          <p:cNvPr id="27" name="TextBox 26"/>
          <p:cNvSpPr txBox="1"/>
          <p:nvPr/>
        </p:nvSpPr>
        <p:spPr>
          <a:xfrm>
            <a:off x="9628632" y="2633472"/>
            <a:ext cx="2039112" cy="1362455"/>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An LED, buzzer, screen, servo, or motor shows the result.</a:t>
            </a:r>
          </a:p>
        </p:txBody>
      </p:sp>
      <p:sp>
        <p:nvSpPr>
          <p:cNvPr id="28" name="Rounded Rectangle 27"/>
          <p:cNvSpPr/>
          <p:nvPr/>
        </p:nvSpPr>
        <p:spPr>
          <a:xfrm>
            <a:off x="777240" y="4507992"/>
            <a:ext cx="5120640" cy="109728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86968" y="4672583"/>
            <a:ext cx="64008" cy="768096"/>
          </a:xfrm>
          <a:prstGeom prst="round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88136" y="4663440"/>
            <a:ext cx="4645152"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Example: automatic lamp</a:t>
            </a:r>
          </a:p>
        </p:txBody>
      </p:sp>
      <p:sp>
        <p:nvSpPr>
          <p:cNvPr id="31" name="TextBox 30"/>
          <p:cNvSpPr txBox="1"/>
          <p:nvPr/>
        </p:nvSpPr>
        <p:spPr>
          <a:xfrm>
            <a:off x="1088136" y="5056631"/>
            <a:ext cx="4645152" cy="402336"/>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Light sensor says “dark” → controller compares a threshold → lamp turns on.</a:t>
            </a:r>
          </a:p>
        </p:txBody>
      </p:sp>
      <p:sp>
        <p:nvSpPr>
          <p:cNvPr id="32" name="Rounded Rectangle 31"/>
          <p:cNvSpPr/>
          <p:nvPr/>
        </p:nvSpPr>
        <p:spPr>
          <a:xfrm>
            <a:off x="6199632" y="4507992"/>
            <a:ext cx="5120640" cy="109728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309360" y="4672583"/>
            <a:ext cx="64008" cy="768096"/>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10528" y="4663440"/>
            <a:ext cx="4645152"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Example: room monitor</a:t>
            </a:r>
          </a:p>
        </p:txBody>
      </p:sp>
      <p:sp>
        <p:nvSpPr>
          <p:cNvPr id="35" name="TextBox 34"/>
          <p:cNvSpPr txBox="1"/>
          <p:nvPr/>
        </p:nvSpPr>
        <p:spPr>
          <a:xfrm>
            <a:off x="6510528" y="5056631"/>
            <a:ext cx="4645152" cy="402336"/>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Temperature sensor sends a reading → program checks limits → screen updates and an alert may sound.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143000" cy="256032"/>
          </a:xfrm>
          <a:prstGeom prst="roundRect">
            <a:avLst/>
          </a:prstGeom>
          <a:solidFill>
            <a:srgbClr val="FF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923544"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1BAAC8"/>
                </a:solidFill>
                <a:latin typeface="Aptos"/>
              </a:rPr>
              <a:t>TASK 01</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Output Device Control System</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Basic output control · Make a signal turn on, turn off, or follow a simple sequence.</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32</a:t>
            </a:r>
          </a:p>
        </p:txBody>
      </p:sp>
      <p:sp>
        <p:nvSpPr>
          <p:cNvPr id="9" name="Rounded Rectangle 8"/>
          <p:cNvSpPr/>
          <p:nvPr/>
        </p:nvSpPr>
        <p:spPr>
          <a:xfrm>
            <a:off x="658368" y="1847088"/>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8096" y="2011680"/>
            <a:ext cx="64008" cy="1435607"/>
          </a:xfrm>
          <a:prstGeom prst="roundRect">
            <a:avLst/>
          </a:prstGeom>
          <a:solidFill>
            <a:srgbClr val="1BA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1993392"/>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1BAAC8"/>
                </a:solidFill>
                <a:latin typeface="Aptos"/>
              </a:rPr>
              <a:t>BASIC CONCEPT</a:t>
            </a:r>
          </a:p>
        </p:txBody>
      </p:sp>
      <p:sp>
        <p:nvSpPr>
          <p:cNvPr id="12" name="TextBox 11"/>
          <p:cNvSpPr txBox="1"/>
          <p:nvPr/>
        </p:nvSpPr>
        <p:spPr>
          <a:xfrm>
            <a:off x="969264" y="2221991"/>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What it teaches</a:t>
            </a:r>
          </a:p>
        </p:txBody>
      </p:sp>
      <p:sp>
        <p:nvSpPr>
          <p:cNvPr id="13" name="TextBox 12"/>
          <p:cNvSpPr txBox="1"/>
          <p:nvPr/>
        </p:nvSpPr>
        <p:spPr>
          <a:xfrm>
            <a:off x="969264" y="2615184"/>
            <a:ext cx="4846320" cy="850392"/>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Use a digital output such as an LED or indicator light. The controller sets an output state, and the device shows it clearly.</a:t>
            </a:r>
          </a:p>
        </p:txBody>
      </p:sp>
      <p:sp>
        <p:nvSpPr>
          <p:cNvPr id="14" name="Rounded Rectangle 13"/>
          <p:cNvSpPr/>
          <p:nvPr/>
        </p:nvSpPr>
        <p:spPr>
          <a:xfrm>
            <a:off x="6199632" y="1847088"/>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2011680"/>
            <a:ext cx="64008" cy="1435607"/>
          </a:xfrm>
          <a:prstGeom prst="roundRect">
            <a:avLst/>
          </a:prstGeom>
          <a:solidFill>
            <a:srgbClr val="1BA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0528" y="1993392"/>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1BAAC8"/>
                </a:solidFill>
                <a:latin typeface="Aptos"/>
              </a:rPr>
              <a:t>TRY FIRST</a:t>
            </a:r>
          </a:p>
        </p:txBody>
      </p:sp>
      <p:sp>
        <p:nvSpPr>
          <p:cNvPr id="17" name="TextBox 16"/>
          <p:cNvSpPr txBox="1"/>
          <p:nvPr/>
        </p:nvSpPr>
        <p:spPr>
          <a:xfrm>
            <a:off x="6510528" y="2221991"/>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Starter idea: traffic lights</a:t>
            </a:r>
          </a:p>
        </p:txBody>
      </p:sp>
      <p:sp>
        <p:nvSpPr>
          <p:cNvPr id="18" name="TextBox 17"/>
          <p:cNvSpPr txBox="1"/>
          <p:nvPr/>
        </p:nvSpPr>
        <p:spPr>
          <a:xfrm>
            <a:off x="6510528" y="2615184"/>
            <a:ext cx="4846320" cy="850392"/>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Cycle three indicators through green → yellow → red. Keep the timing visible so a viewer can understand the sequence.</a:t>
            </a:r>
          </a:p>
        </p:txBody>
      </p:sp>
      <p:sp>
        <p:nvSpPr>
          <p:cNvPr id="19" name="Rounded Rectangle 18"/>
          <p:cNvSpPr/>
          <p:nvPr/>
        </p:nvSpPr>
        <p:spPr>
          <a:xfrm>
            <a:off x="658368" y="3867912"/>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8096" y="4032504"/>
            <a:ext cx="64008" cy="1435607"/>
          </a:xfrm>
          <a:prstGeom prst="roundRect">
            <a:avLst/>
          </a:prstGeom>
          <a:solidFill>
            <a:srgbClr val="1BA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9264" y="4014216"/>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1BAAC8"/>
                </a:solidFill>
                <a:latin typeface="Aptos"/>
              </a:rPr>
              <a:t>REAL-WORLD EXAMPLES</a:t>
            </a:r>
          </a:p>
        </p:txBody>
      </p:sp>
      <p:sp>
        <p:nvSpPr>
          <p:cNvPr id="22" name="TextBox 21"/>
          <p:cNvSpPr txBox="1"/>
          <p:nvPr/>
        </p:nvSpPr>
        <p:spPr>
          <a:xfrm>
            <a:off x="969264" y="4242816"/>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Status &amp; plant indicators</a:t>
            </a:r>
          </a:p>
        </p:txBody>
      </p:sp>
      <p:sp>
        <p:nvSpPr>
          <p:cNvPr id="23" name="TextBox 22"/>
          <p:cNvSpPr txBox="1"/>
          <p:nvPr/>
        </p:nvSpPr>
        <p:spPr>
          <a:xfrm>
            <a:off x="969264" y="4636008"/>
            <a:ext cx="4846320" cy="850391"/>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Server panel: green = normal, amber = warning, red = fault. Plant indicator: pulse a blue LED when a soil-dry signal is present.</a:t>
            </a:r>
          </a:p>
        </p:txBody>
      </p:sp>
      <p:sp>
        <p:nvSpPr>
          <p:cNvPr id="24" name="Rounded Rectangle 23"/>
          <p:cNvSpPr/>
          <p:nvPr/>
        </p:nvSpPr>
        <p:spPr>
          <a:xfrm>
            <a:off x="6199632" y="3867912"/>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09360" y="4032504"/>
            <a:ext cx="64008" cy="1435607"/>
          </a:xfrm>
          <a:prstGeom prst="roundRect">
            <a:avLst/>
          </a:prstGeom>
          <a:solidFill>
            <a:srgbClr val="1BA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10528" y="4014216"/>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1BAAC8"/>
                </a:solidFill>
                <a:latin typeface="Aptos"/>
              </a:rPr>
              <a:t>EXTENSION</a:t>
            </a:r>
          </a:p>
        </p:txBody>
      </p:sp>
      <p:sp>
        <p:nvSpPr>
          <p:cNvPr id="27" name="TextBox 26"/>
          <p:cNvSpPr txBox="1"/>
          <p:nvPr/>
        </p:nvSpPr>
        <p:spPr>
          <a:xfrm>
            <a:off x="6510528" y="4242816"/>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Emergency exit lighting</a:t>
            </a:r>
          </a:p>
        </p:txBody>
      </p:sp>
      <p:sp>
        <p:nvSpPr>
          <p:cNvPr id="28" name="TextBox 27"/>
          <p:cNvSpPr txBox="1"/>
          <p:nvPr/>
        </p:nvSpPr>
        <p:spPr>
          <a:xfrm>
            <a:off x="6510528" y="4636008"/>
            <a:ext cx="4846320" cy="850391"/>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Demonstrate an indicator switching on when a simulated power-failure signal appears. Keep a class prototype low-voltage and simulated.</a:t>
            </a:r>
          </a:p>
        </p:txBody>
      </p:sp>
      <p:sp>
        <p:nvSpPr>
          <p:cNvPr id="29" name="TextBox 28"/>
          <p:cNvSpPr txBox="1"/>
          <p:nvPr/>
        </p:nvSpPr>
        <p:spPr>
          <a:xfrm>
            <a:off x="713232" y="5870448"/>
            <a:ext cx="6217920" cy="201168"/>
          </a:xfrm>
          <a:prstGeom prst="rect">
            <a:avLst/>
          </a:prstGeom>
          <a:noFill/>
        </p:spPr>
        <p:txBody>
          <a:bodyPr wrap="square" lIns="0" rIns="0" tIns="0" bIns="0" anchor="t">
            <a:normAutofit/>
          </a:bodyPr>
          <a:lstStyle/>
          <a:p>
            <a:pPr algn="l">
              <a:lnSpc>
                <a:spcPct val="108000"/>
              </a:lnSpc>
              <a:spcBef>
                <a:spcPts val="0"/>
              </a:spcBef>
              <a:spcAft>
                <a:spcPts val="0"/>
              </a:spcAft>
            </a:pPr>
            <a:r>
              <a:rPr sz="900" b="1" i="0">
                <a:solidFill>
                  <a:srgbClr val="1BAAC8"/>
                </a:solidFill>
                <a:latin typeface="Aptos"/>
              </a:rPr>
              <a:t>LED  •  GPIO  •  Digital output  •  Indicators</a:t>
            </a:r>
          </a:p>
        </p:txBody>
      </p:sp>
      <p:sp>
        <p:nvSpPr>
          <p:cNvPr id="30" name="TextBox 29"/>
          <p:cNvSpPr txBox="1"/>
          <p:nvPr/>
        </p:nvSpPr>
        <p:spPr>
          <a:xfrm>
            <a:off x="7315200" y="5870448"/>
            <a:ext cx="3931920" cy="182880"/>
          </a:xfrm>
          <a:prstGeom prst="rect">
            <a:avLst/>
          </a:prstGeom>
          <a:noFill/>
        </p:spPr>
        <p:txBody>
          <a:bodyPr wrap="square" lIns="0" rIns="0" tIns="0" bIns="0" anchor="t">
            <a:normAutofit/>
          </a:bodyPr>
          <a:lstStyle/>
          <a:p>
            <a:pPr algn="l">
              <a:lnSpc>
                <a:spcPct val="108000"/>
              </a:lnSpc>
              <a:spcBef>
                <a:spcPts val="0"/>
              </a:spcBef>
              <a:spcAft>
                <a:spcPts val="0"/>
              </a:spcAft>
            </a:pPr>
            <a:r>
              <a:rPr sz="850" b="1" i="0">
                <a:solidFill>
                  <a:srgbClr val="5676F5"/>
                </a:solidFill>
                <a:latin typeface="Aptos"/>
                <a:hlinkClick r:id="rId2"/>
              </a:rPr>
              <a:t>Open Task 01 Wokwi simulator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143000" cy="256032"/>
          </a:xfrm>
          <a:prstGeom prst="roundRect">
            <a:avLst/>
          </a:prstGeom>
          <a:solidFill>
            <a:srgbClr val="F1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923544"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8A70E8"/>
                </a:solidFill>
                <a:latin typeface="Aptos"/>
              </a:rPr>
              <a:t>TASK 02</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Dynamic Brightness &amp; Speed Controller</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Variable control · Change brightness, speed, or intensity gradually instead of only switching on and off.</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33</a:t>
            </a:r>
          </a:p>
        </p:txBody>
      </p:sp>
      <p:sp>
        <p:nvSpPr>
          <p:cNvPr id="9" name="Rounded Rectangle 8"/>
          <p:cNvSpPr/>
          <p:nvPr/>
        </p:nvSpPr>
        <p:spPr>
          <a:xfrm>
            <a:off x="658368" y="1847088"/>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8096" y="2011680"/>
            <a:ext cx="64008" cy="1435607"/>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1993392"/>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8A70E8"/>
                </a:solidFill>
                <a:latin typeface="Aptos"/>
              </a:rPr>
              <a:t>KEY CONCEPT</a:t>
            </a:r>
          </a:p>
        </p:txBody>
      </p:sp>
      <p:sp>
        <p:nvSpPr>
          <p:cNvPr id="12" name="TextBox 11"/>
          <p:cNvSpPr txBox="1"/>
          <p:nvPr/>
        </p:nvSpPr>
        <p:spPr>
          <a:xfrm>
            <a:off x="969264" y="2221991"/>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Core idea: PWM</a:t>
            </a:r>
          </a:p>
        </p:txBody>
      </p:sp>
      <p:sp>
        <p:nvSpPr>
          <p:cNvPr id="13" name="TextBox 12"/>
          <p:cNvSpPr txBox="1"/>
          <p:nvPr/>
        </p:nvSpPr>
        <p:spPr>
          <a:xfrm>
            <a:off x="969264" y="2615184"/>
            <a:ext cx="4846320" cy="850392"/>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PWM changes how long an output stays on during rapid on/off pulses. This can make an LED appear dimmer or a motor run more slowly.</a:t>
            </a:r>
          </a:p>
        </p:txBody>
      </p:sp>
      <p:sp>
        <p:nvSpPr>
          <p:cNvPr id="14" name="Rounded Rectangle 13"/>
          <p:cNvSpPr/>
          <p:nvPr/>
        </p:nvSpPr>
        <p:spPr>
          <a:xfrm>
            <a:off x="6199632" y="1847088"/>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2011680"/>
            <a:ext cx="64008" cy="1435607"/>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0528" y="1993392"/>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8A70E8"/>
                </a:solidFill>
                <a:latin typeface="Aptos"/>
              </a:rPr>
              <a:t>LIGHTING EXAMPLE</a:t>
            </a:r>
          </a:p>
        </p:txBody>
      </p:sp>
      <p:sp>
        <p:nvSpPr>
          <p:cNvPr id="17" name="TextBox 16"/>
          <p:cNvSpPr txBox="1"/>
          <p:nvPr/>
        </p:nvSpPr>
        <p:spPr>
          <a:xfrm>
            <a:off x="6510528" y="2221991"/>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Sunrise alarm</a:t>
            </a:r>
          </a:p>
        </p:txBody>
      </p:sp>
      <p:sp>
        <p:nvSpPr>
          <p:cNvPr id="18" name="TextBox 17"/>
          <p:cNvSpPr txBox="1"/>
          <p:nvPr/>
        </p:nvSpPr>
        <p:spPr>
          <a:xfrm>
            <a:off x="6510528" y="2615184"/>
            <a:ext cx="4846320" cy="850392"/>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Fade an LED from 0% to 100% brightness over a chosen time, creating a gradual wake-up light prototype.</a:t>
            </a:r>
          </a:p>
        </p:txBody>
      </p:sp>
      <p:sp>
        <p:nvSpPr>
          <p:cNvPr id="19" name="Rounded Rectangle 18"/>
          <p:cNvSpPr/>
          <p:nvPr/>
        </p:nvSpPr>
        <p:spPr>
          <a:xfrm>
            <a:off x="658368" y="3867912"/>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8096" y="4032504"/>
            <a:ext cx="64008" cy="1435607"/>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9264" y="4014216"/>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8A70E8"/>
                </a:solidFill>
                <a:latin typeface="Aptos"/>
              </a:rPr>
              <a:t>AUTOMATION EXAMPLE</a:t>
            </a:r>
          </a:p>
        </p:txBody>
      </p:sp>
      <p:sp>
        <p:nvSpPr>
          <p:cNvPr id="22" name="TextBox 21"/>
          <p:cNvSpPr txBox="1"/>
          <p:nvPr/>
        </p:nvSpPr>
        <p:spPr>
          <a:xfrm>
            <a:off x="969264" y="4242816"/>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Temperature-based fan</a:t>
            </a:r>
          </a:p>
        </p:txBody>
      </p:sp>
      <p:sp>
        <p:nvSpPr>
          <p:cNvPr id="23" name="TextBox 22"/>
          <p:cNvSpPr txBox="1"/>
          <p:nvPr/>
        </p:nvSpPr>
        <p:spPr>
          <a:xfrm>
            <a:off x="969264" y="4636008"/>
            <a:ext cx="4846320" cy="850391"/>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Use a temperature reading to choose a fan speed. Higher readings can request a higher setting, within defined limits.</a:t>
            </a:r>
          </a:p>
        </p:txBody>
      </p:sp>
      <p:sp>
        <p:nvSpPr>
          <p:cNvPr id="24" name="Rounded Rectangle 23"/>
          <p:cNvSpPr/>
          <p:nvPr/>
        </p:nvSpPr>
        <p:spPr>
          <a:xfrm>
            <a:off x="6199632" y="3867912"/>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09360" y="4032504"/>
            <a:ext cx="64008" cy="1435607"/>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10528" y="4014216"/>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8A70E8"/>
                </a:solidFill>
                <a:latin typeface="Aptos"/>
              </a:rPr>
              <a:t>ADVANCED EXAMPLES</a:t>
            </a:r>
          </a:p>
        </p:txBody>
      </p:sp>
      <p:sp>
        <p:nvSpPr>
          <p:cNvPr id="27" name="TextBox 26"/>
          <p:cNvSpPr txBox="1"/>
          <p:nvPr/>
        </p:nvSpPr>
        <p:spPr>
          <a:xfrm>
            <a:off x="6510528" y="4242816"/>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Smart street lamp / conveyor</a:t>
            </a:r>
          </a:p>
        </p:txBody>
      </p:sp>
      <p:sp>
        <p:nvSpPr>
          <p:cNvPr id="28" name="TextBox 27"/>
          <p:cNvSpPr txBox="1"/>
          <p:nvPr/>
        </p:nvSpPr>
        <p:spPr>
          <a:xfrm>
            <a:off x="6510528" y="4636008"/>
            <a:ext cx="4846320" cy="850391"/>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Dim a street lamp late at night and brighten it at dawn, or change conveyor motor speed based on a load sensor.</a:t>
            </a:r>
          </a:p>
        </p:txBody>
      </p:sp>
      <p:sp>
        <p:nvSpPr>
          <p:cNvPr id="29" name="TextBox 28"/>
          <p:cNvSpPr txBox="1"/>
          <p:nvPr/>
        </p:nvSpPr>
        <p:spPr>
          <a:xfrm>
            <a:off x="713232" y="5870448"/>
            <a:ext cx="6217920" cy="201168"/>
          </a:xfrm>
          <a:prstGeom prst="rect">
            <a:avLst/>
          </a:prstGeom>
          <a:noFill/>
        </p:spPr>
        <p:txBody>
          <a:bodyPr wrap="square" lIns="0" rIns="0" tIns="0" bIns="0" anchor="t">
            <a:normAutofit/>
          </a:bodyPr>
          <a:lstStyle/>
          <a:p>
            <a:pPr algn="l">
              <a:lnSpc>
                <a:spcPct val="108000"/>
              </a:lnSpc>
              <a:spcBef>
                <a:spcPts val="0"/>
              </a:spcBef>
              <a:spcAft>
                <a:spcPts val="0"/>
              </a:spcAft>
            </a:pPr>
            <a:r>
              <a:rPr sz="900" b="1" i="0">
                <a:solidFill>
                  <a:srgbClr val="8A70E8"/>
                </a:solidFill>
                <a:latin typeface="Aptos"/>
              </a:rPr>
              <a:t>PWM  •  Dimming  •  Variable output  •  Automation</a:t>
            </a:r>
          </a:p>
        </p:txBody>
      </p:sp>
      <p:sp>
        <p:nvSpPr>
          <p:cNvPr id="30" name="TextBox 29"/>
          <p:cNvSpPr txBox="1"/>
          <p:nvPr/>
        </p:nvSpPr>
        <p:spPr>
          <a:xfrm>
            <a:off x="7315200" y="5870448"/>
            <a:ext cx="3931920" cy="182880"/>
          </a:xfrm>
          <a:prstGeom prst="rect">
            <a:avLst/>
          </a:prstGeom>
          <a:noFill/>
        </p:spPr>
        <p:txBody>
          <a:bodyPr wrap="square" lIns="0" rIns="0" tIns="0" bIns="0" anchor="t">
            <a:normAutofit/>
          </a:bodyPr>
          <a:lstStyle/>
          <a:p>
            <a:pPr algn="l">
              <a:lnSpc>
                <a:spcPct val="108000"/>
              </a:lnSpc>
              <a:spcBef>
                <a:spcPts val="0"/>
              </a:spcBef>
              <a:spcAft>
                <a:spcPts val="0"/>
              </a:spcAft>
            </a:pPr>
            <a:r>
              <a:rPr sz="850" b="1" i="0">
                <a:solidFill>
                  <a:srgbClr val="5676F5"/>
                </a:solidFill>
                <a:latin typeface="Aptos"/>
                <a:hlinkClick r:id="rId2"/>
              </a:rPr>
              <a:t>Open Task 02 Wokwi simulator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143000" cy="256032"/>
          </a:xfrm>
          <a:prstGeom prst="roundRect">
            <a:avLst/>
          </a:prstGeom>
          <a:solidFill>
            <a:srgbClr val="FF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923544"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23856F"/>
                </a:solidFill>
                <a:latin typeface="Aptos"/>
              </a:rPr>
              <a:t>TASK 03</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Button &amp; Switch Logic Interface</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User interaction · Let people change a system’s state through buttons, toggle switches, or manual override.</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34</a:t>
            </a:r>
          </a:p>
        </p:txBody>
      </p:sp>
      <p:sp>
        <p:nvSpPr>
          <p:cNvPr id="9" name="Rounded Rectangle 8"/>
          <p:cNvSpPr/>
          <p:nvPr/>
        </p:nvSpPr>
        <p:spPr>
          <a:xfrm>
            <a:off x="658368" y="1847088"/>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8096" y="2011680"/>
            <a:ext cx="64008" cy="1435607"/>
          </a:xfrm>
          <a:prstGeom prst="roundRect">
            <a:avLst/>
          </a:prstGeom>
          <a:solidFill>
            <a:srgbClr val="2385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1993392"/>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23856F"/>
                </a:solidFill>
                <a:latin typeface="Aptos"/>
              </a:rPr>
              <a:t>KEY CONCEPT</a:t>
            </a:r>
          </a:p>
        </p:txBody>
      </p:sp>
      <p:sp>
        <p:nvSpPr>
          <p:cNvPr id="12" name="TextBox 11"/>
          <p:cNvSpPr txBox="1"/>
          <p:nvPr/>
        </p:nvSpPr>
        <p:spPr>
          <a:xfrm>
            <a:off x="969264" y="2221991"/>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Core idea: remember state</a:t>
            </a:r>
          </a:p>
        </p:txBody>
      </p:sp>
      <p:sp>
        <p:nvSpPr>
          <p:cNvPr id="13" name="TextBox 12"/>
          <p:cNvSpPr txBox="1"/>
          <p:nvPr/>
        </p:nvSpPr>
        <p:spPr>
          <a:xfrm>
            <a:off x="969264" y="2615184"/>
            <a:ext cx="4846320" cy="850392"/>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A button press is an input event. The program should decide whether the event turns something on, turns it off, or selects another mode.</a:t>
            </a:r>
          </a:p>
        </p:txBody>
      </p:sp>
      <p:sp>
        <p:nvSpPr>
          <p:cNvPr id="14" name="Rounded Rectangle 13"/>
          <p:cNvSpPr/>
          <p:nvPr/>
        </p:nvSpPr>
        <p:spPr>
          <a:xfrm>
            <a:off x="6199632" y="1847088"/>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2011680"/>
            <a:ext cx="64008" cy="1435607"/>
          </a:xfrm>
          <a:prstGeom prst="roundRect">
            <a:avLst/>
          </a:prstGeom>
          <a:solidFill>
            <a:srgbClr val="2385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0528" y="1993392"/>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23856F"/>
                </a:solidFill>
                <a:latin typeface="Aptos"/>
              </a:rPr>
              <a:t>STARTER IDEA</a:t>
            </a:r>
          </a:p>
        </p:txBody>
      </p:sp>
      <p:sp>
        <p:nvSpPr>
          <p:cNvPr id="17" name="TextBox 16"/>
          <p:cNvSpPr txBox="1"/>
          <p:nvPr/>
        </p:nvSpPr>
        <p:spPr>
          <a:xfrm>
            <a:off x="6510528" y="2221991"/>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One-button toggle</a:t>
            </a:r>
          </a:p>
        </p:txBody>
      </p:sp>
      <p:sp>
        <p:nvSpPr>
          <p:cNvPr id="18" name="TextBox 17"/>
          <p:cNvSpPr txBox="1"/>
          <p:nvPr/>
        </p:nvSpPr>
        <p:spPr>
          <a:xfrm>
            <a:off x="6510528" y="2615184"/>
            <a:ext cx="4846320" cy="850392"/>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Press once to turn an LED on; press again to turn it off. Debouncing avoids counting one physical press as several rapid presses.</a:t>
            </a:r>
          </a:p>
        </p:txBody>
      </p:sp>
      <p:sp>
        <p:nvSpPr>
          <p:cNvPr id="19" name="Rounded Rectangle 18"/>
          <p:cNvSpPr/>
          <p:nvPr/>
        </p:nvSpPr>
        <p:spPr>
          <a:xfrm>
            <a:off x="658368" y="3867912"/>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8096" y="4032504"/>
            <a:ext cx="64008" cy="1435607"/>
          </a:xfrm>
          <a:prstGeom prst="roundRect">
            <a:avLst/>
          </a:prstGeom>
          <a:solidFill>
            <a:srgbClr val="2385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9264" y="4014216"/>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23856F"/>
                </a:solidFill>
                <a:latin typeface="Aptos"/>
              </a:rPr>
              <a:t>EVERYDAY INTERACTION</a:t>
            </a:r>
          </a:p>
        </p:txBody>
      </p:sp>
      <p:sp>
        <p:nvSpPr>
          <p:cNvPr id="22" name="TextBox 21"/>
          <p:cNvSpPr txBox="1"/>
          <p:nvPr/>
        </p:nvSpPr>
        <p:spPr>
          <a:xfrm>
            <a:off x="969264" y="4242816"/>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Manual mode &amp; color selector</a:t>
            </a:r>
          </a:p>
        </p:txBody>
      </p:sp>
      <p:sp>
        <p:nvSpPr>
          <p:cNvPr id="23" name="TextBox 22"/>
          <p:cNvSpPr txBox="1"/>
          <p:nvPr/>
        </p:nvSpPr>
        <p:spPr>
          <a:xfrm>
            <a:off x="969264" y="4636008"/>
            <a:ext cx="4846320" cy="850391"/>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Add a manual override to irrigation logic, or use three buttons to select an RGB LED color.</a:t>
            </a:r>
          </a:p>
        </p:txBody>
      </p:sp>
      <p:sp>
        <p:nvSpPr>
          <p:cNvPr id="24" name="Rounded Rectangle 23"/>
          <p:cNvSpPr/>
          <p:nvPr/>
        </p:nvSpPr>
        <p:spPr>
          <a:xfrm>
            <a:off x="6199632" y="3867912"/>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09360" y="4032504"/>
            <a:ext cx="64008" cy="1435607"/>
          </a:xfrm>
          <a:prstGeom prst="roundRect">
            <a:avLst/>
          </a:prstGeom>
          <a:solidFill>
            <a:srgbClr val="2385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10528" y="4014216"/>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23856F"/>
                </a:solidFill>
                <a:latin typeface="Aptos"/>
              </a:rPr>
              <a:t>EXTENSION</a:t>
            </a:r>
          </a:p>
        </p:txBody>
      </p:sp>
      <p:sp>
        <p:nvSpPr>
          <p:cNvPr id="27" name="TextBox 26"/>
          <p:cNvSpPr txBox="1"/>
          <p:nvPr/>
        </p:nvSpPr>
        <p:spPr>
          <a:xfrm>
            <a:off x="6510528" y="4242816"/>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Stop and log an event</a:t>
            </a:r>
          </a:p>
        </p:txBody>
      </p:sp>
      <p:sp>
        <p:nvSpPr>
          <p:cNvPr id="28" name="TextBox 27"/>
          <p:cNvSpPr txBox="1"/>
          <p:nvPr/>
        </p:nvSpPr>
        <p:spPr>
          <a:xfrm>
            <a:off x="6510528" y="4636008"/>
            <a:ext cx="4846320" cy="850391"/>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An emergency-stop input can change the system to a stopped state and record the time. Test the interaction in a safe simulator or low-voltage setup.</a:t>
            </a:r>
          </a:p>
        </p:txBody>
      </p:sp>
      <p:sp>
        <p:nvSpPr>
          <p:cNvPr id="29" name="TextBox 28"/>
          <p:cNvSpPr txBox="1"/>
          <p:nvPr/>
        </p:nvSpPr>
        <p:spPr>
          <a:xfrm>
            <a:off x="713232" y="5870448"/>
            <a:ext cx="6217920" cy="201168"/>
          </a:xfrm>
          <a:prstGeom prst="rect">
            <a:avLst/>
          </a:prstGeom>
          <a:noFill/>
        </p:spPr>
        <p:txBody>
          <a:bodyPr wrap="square" lIns="0" rIns="0" tIns="0" bIns="0" anchor="t">
            <a:normAutofit/>
          </a:bodyPr>
          <a:lstStyle/>
          <a:p>
            <a:pPr algn="l">
              <a:lnSpc>
                <a:spcPct val="108000"/>
              </a:lnSpc>
              <a:spcBef>
                <a:spcPts val="0"/>
              </a:spcBef>
              <a:spcAft>
                <a:spcPts val="0"/>
              </a:spcAft>
            </a:pPr>
            <a:r>
              <a:rPr sz="900" b="1" i="0">
                <a:solidFill>
                  <a:srgbClr val="23856F"/>
                </a:solidFill>
                <a:latin typeface="Aptos"/>
              </a:rPr>
              <a:t>Button  •  Debounce  •  State machine  •  Manual override</a:t>
            </a:r>
          </a:p>
        </p:txBody>
      </p:sp>
      <p:sp>
        <p:nvSpPr>
          <p:cNvPr id="30" name="TextBox 29"/>
          <p:cNvSpPr txBox="1"/>
          <p:nvPr/>
        </p:nvSpPr>
        <p:spPr>
          <a:xfrm>
            <a:off x="7315200" y="5870448"/>
            <a:ext cx="3931920" cy="182880"/>
          </a:xfrm>
          <a:prstGeom prst="rect">
            <a:avLst/>
          </a:prstGeom>
          <a:noFill/>
        </p:spPr>
        <p:txBody>
          <a:bodyPr wrap="square" lIns="0" rIns="0" tIns="0" bIns="0" anchor="t">
            <a:normAutofit/>
          </a:bodyPr>
          <a:lstStyle/>
          <a:p>
            <a:pPr algn="l">
              <a:lnSpc>
                <a:spcPct val="108000"/>
              </a:lnSpc>
              <a:spcBef>
                <a:spcPts val="0"/>
              </a:spcBef>
              <a:spcAft>
                <a:spcPts val="0"/>
              </a:spcAft>
            </a:pPr>
            <a:r>
              <a:rPr sz="850" b="1" i="0">
                <a:solidFill>
                  <a:srgbClr val="5676F5"/>
                </a:solidFill>
                <a:latin typeface="Aptos"/>
                <a:hlinkClick r:id="rId2"/>
              </a:rPr>
              <a:t>Open Task 03 Wokwi simulator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143000" cy="256032"/>
          </a:xfrm>
          <a:prstGeom prst="roundRect">
            <a:avLst/>
          </a:prstGeom>
          <a:solidFill>
            <a:srgbClr val="FFF4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923544"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E9A23B"/>
                </a:solidFill>
                <a:latin typeface="Aptos"/>
              </a:rPr>
              <a:t>TASK 04</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Sound &amp; Signal Alert System</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Alert feedback · Make important events noticeable through a buzzer, LED pattern, or a combination.</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35</a:t>
            </a:r>
          </a:p>
        </p:txBody>
      </p:sp>
      <p:sp>
        <p:nvSpPr>
          <p:cNvPr id="9" name="Rounded Rectangle 8"/>
          <p:cNvSpPr/>
          <p:nvPr/>
        </p:nvSpPr>
        <p:spPr>
          <a:xfrm>
            <a:off x="658368" y="1847088"/>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8096" y="2011680"/>
            <a:ext cx="64008" cy="1435607"/>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1993392"/>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E9A23B"/>
                </a:solidFill>
                <a:latin typeface="Aptos"/>
              </a:rPr>
              <a:t>CORE LOGIC</a:t>
            </a:r>
          </a:p>
        </p:txBody>
      </p:sp>
      <p:sp>
        <p:nvSpPr>
          <p:cNvPr id="12" name="TextBox 11"/>
          <p:cNvSpPr txBox="1"/>
          <p:nvPr/>
        </p:nvSpPr>
        <p:spPr>
          <a:xfrm>
            <a:off x="969264" y="2221991"/>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How it works</a:t>
            </a:r>
          </a:p>
        </p:txBody>
      </p:sp>
      <p:sp>
        <p:nvSpPr>
          <p:cNvPr id="13" name="TextBox 12"/>
          <p:cNvSpPr txBox="1"/>
          <p:nvPr/>
        </p:nvSpPr>
        <p:spPr>
          <a:xfrm>
            <a:off x="969264" y="2615184"/>
            <a:ext cx="4846320" cy="850392"/>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A reading, timer, or switch triggers an alert rule. The program chooses when the buzzer or warning light should activate and stop.</a:t>
            </a:r>
          </a:p>
        </p:txBody>
      </p:sp>
      <p:sp>
        <p:nvSpPr>
          <p:cNvPr id="14" name="Rounded Rectangle 13"/>
          <p:cNvSpPr/>
          <p:nvPr/>
        </p:nvSpPr>
        <p:spPr>
          <a:xfrm>
            <a:off x="6199632" y="1847088"/>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2011680"/>
            <a:ext cx="64008" cy="1435607"/>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0528" y="1993392"/>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E9A23B"/>
                </a:solidFill>
                <a:latin typeface="Aptos"/>
              </a:rPr>
              <a:t>STARTER IDEA</a:t>
            </a:r>
          </a:p>
        </p:txBody>
      </p:sp>
      <p:sp>
        <p:nvSpPr>
          <p:cNvPr id="17" name="TextBox 16"/>
          <p:cNvSpPr txBox="1"/>
          <p:nvPr/>
        </p:nvSpPr>
        <p:spPr>
          <a:xfrm>
            <a:off x="6510528" y="2221991"/>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Door-open reminder</a:t>
            </a:r>
          </a:p>
        </p:txBody>
      </p:sp>
      <p:sp>
        <p:nvSpPr>
          <p:cNvPr id="18" name="TextBox 17"/>
          <p:cNvSpPr txBox="1"/>
          <p:nvPr/>
        </p:nvSpPr>
        <p:spPr>
          <a:xfrm>
            <a:off x="6510528" y="2615184"/>
            <a:ext cx="4846320" cy="850392"/>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Sound a buzzer if a door-open signal remains active for more than 30 seconds. This teaches timers and event conditions.</a:t>
            </a:r>
          </a:p>
        </p:txBody>
      </p:sp>
      <p:sp>
        <p:nvSpPr>
          <p:cNvPr id="19" name="Rounded Rectangle 18"/>
          <p:cNvSpPr/>
          <p:nvPr/>
        </p:nvSpPr>
        <p:spPr>
          <a:xfrm>
            <a:off x="658368" y="3867912"/>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8096" y="4032504"/>
            <a:ext cx="64008" cy="1435607"/>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9264" y="4014216"/>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E9A23B"/>
                </a:solidFill>
                <a:latin typeface="Aptos"/>
              </a:rPr>
              <a:t>SENSOR EXAMPLE</a:t>
            </a:r>
          </a:p>
        </p:txBody>
      </p:sp>
      <p:sp>
        <p:nvSpPr>
          <p:cNvPr id="22" name="TextBox 21"/>
          <p:cNvSpPr txBox="1"/>
          <p:nvPr/>
        </p:nvSpPr>
        <p:spPr>
          <a:xfrm>
            <a:off x="969264" y="4242816"/>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Threshold warning</a:t>
            </a:r>
          </a:p>
        </p:txBody>
      </p:sp>
      <p:sp>
        <p:nvSpPr>
          <p:cNvPr id="23" name="TextBox 22"/>
          <p:cNvSpPr txBox="1"/>
          <p:nvPr/>
        </p:nvSpPr>
        <p:spPr>
          <a:xfrm>
            <a:off x="969264" y="4636008"/>
            <a:ext cx="4846320" cy="850391"/>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In a simulated gas-sensor example, flash an LED and sound a continuous tone when the value crosses a chosen threshold.</a:t>
            </a:r>
          </a:p>
        </p:txBody>
      </p:sp>
      <p:sp>
        <p:nvSpPr>
          <p:cNvPr id="24" name="Rounded Rectangle 23"/>
          <p:cNvSpPr/>
          <p:nvPr/>
        </p:nvSpPr>
        <p:spPr>
          <a:xfrm>
            <a:off x="6199632" y="3867912"/>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09360" y="4032504"/>
            <a:ext cx="64008" cy="1435607"/>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10528" y="4014216"/>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E9A23B"/>
                </a:solidFill>
                <a:latin typeface="Aptos"/>
              </a:rPr>
              <a:t>MORE IDEAS</a:t>
            </a:r>
          </a:p>
        </p:txBody>
      </p:sp>
      <p:sp>
        <p:nvSpPr>
          <p:cNvPr id="27" name="TextBox 26"/>
          <p:cNvSpPr txBox="1"/>
          <p:nvPr/>
        </p:nvSpPr>
        <p:spPr>
          <a:xfrm>
            <a:off x="6510528" y="4242816"/>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Patterns carry meaning</a:t>
            </a:r>
          </a:p>
        </p:txBody>
      </p:sp>
      <p:sp>
        <p:nvSpPr>
          <p:cNvPr id="28" name="TextBox 27"/>
          <p:cNvSpPr txBox="1"/>
          <p:nvPr/>
        </p:nvSpPr>
        <p:spPr>
          <a:xfrm>
            <a:off x="6510528" y="4636008"/>
            <a:ext cx="4846320" cy="850391"/>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Three short buzzer beeps can indicate one type of event; Morse-code patterns can demonstrate how timing encodes a message.</a:t>
            </a:r>
          </a:p>
        </p:txBody>
      </p:sp>
      <p:sp>
        <p:nvSpPr>
          <p:cNvPr id="29" name="TextBox 28"/>
          <p:cNvSpPr txBox="1"/>
          <p:nvPr/>
        </p:nvSpPr>
        <p:spPr>
          <a:xfrm>
            <a:off x="713232" y="5870448"/>
            <a:ext cx="6217920" cy="201168"/>
          </a:xfrm>
          <a:prstGeom prst="rect">
            <a:avLst/>
          </a:prstGeom>
          <a:noFill/>
        </p:spPr>
        <p:txBody>
          <a:bodyPr wrap="square" lIns="0" rIns="0" tIns="0" bIns="0" anchor="t">
            <a:normAutofit/>
          </a:bodyPr>
          <a:lstStyle/>
          <a:p>
            <a:pPr algn="l">
              <a:lnSpc>
                <a:spcPct val="108000"/>
              </a:lnSpc>
              <a:spcBef>
                <a:spcPts val="0"/>
              </a:spcBef>
              <a:spcAft>
                <a:spcPts val="0"/>
              </a:spcAft>
            </a:pPr>
            <a:r>
              <a:rPr sz="900" b="1" i="0">
                <a:solidFill>
                  <a:srgbClr val="E9A23B"/>
                </a:solidFill>
                <a:latin typeface="Aptos"/>
              </a:rPr>
              <a:t>Buzzer  •  PWM tone  •  Timer  •  Alert rule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143000" cy="256032"/>
          </a:xfrm>
          <a:prstGeom prst="roundRect">
            <a:avLst/>
          </a:prstGeom>
          <a:solidFill>
            <a:srgbClr val="FF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923544"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E67896"/>
                </a:solidFill>
                <a:latin typeface="Aptos"/>
              </a:rPr>
              <a:t>TASK 05</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Information Dashboard Display</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Display useful information so a person can understand a system’s current status at a glance.</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36</a:t>
            </a:r>
          </a:p>
        </p:txBody>
      </p:sp>
      <p:sp>
        <p:nvSpPr>
          <p:cNvPr id="9" name="Rounded Rectangle 8"/>
          <p:cNvSpPr/>
          <p:nvPr/>
        </p:nvSpPr>
        <p:spPr>
          <a:xfrm>
            <a:off x="658368" y="1847088"/>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8096" y="2011680"/>
            <a:ext cx="64008" cy="1435607"/>
          </a:xfrm>
          <a:prstGeom prst="roundRect">
            <a:avLst/>
          </a:prstGeom>
          <a:solidFill>
            <a:srgbClr val="E67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1993392"/>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E67896"/>
                </a:solidFill>
                <a:latin typeface="Aptos"/>
              </a:rPr>
              <a:t>PURPOSE</a:t>
            </a:r>
          </a:p>
        </p:txBody>
      </p:sp>
      <p:sp>
        <p:nvSpPr>
          <p:cNvPr id="12" name="TextBox 11"/>
          <p:cNvSpPr txBox="1"/>
          <p:nvPr/>
        </p:nvSpPr>
        <p:spPr>
          <a:xfrm>
            <a:off x="969264" y="2221991"/>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Core idea</a:t>
            </a:r>
          </a:p>
        </p:txBody>
      </p:sp>
      <p:sp>
        <p:nvSpPr>
          <p:cNvPr id="13" name="TextBox 12"/>
          <p:cNvSpPr txBox="1"/>
          <p:nvPr/>
        </p:nvSpPr>
        <p:spPr>
          <a:xfrm>
            <a:off x="969264" y="2615184"/>
            <a:ext cx="4846320" cy="850392"/>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Read or calculate data, then display the most useful values on an LCD, OLED, or seven-segment screen.</a:t>
            </a:r>
          </a:p>
        </p:txBody>
      </p:sp>
      <p:sp>
        <p:nvSpPr>
          <p:cNvPr id="14" name="Rounded Rectangle 13"/>
          <p:cNvSpPr/>
          <p:nvPr/>
        </p:nvSpPr>
        <p:spPr>
          <a:xfrm>
            <a:off x="6199632" y="1847088"/>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2011680"/>
            <a:ext cx="64008" cy="1435607"/>
          </a:xfrm>
          <a:prstGeom prst="roundRect">
            <a:avLst/>
          </a:prstGeom>
          <a:solidFill>
            <a:srgbClr val="E67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0528" y="1993392"/>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E67896"/>
                </a:solidFill>
                <a:latin typeface="Aptos"/>
              </a:rPr>
              <a:t>STARTER IDEA</a:t>
            </a:r>
          </a:p>
        </p:txBody>
      </p:sp>
      <p:sp>
        <p:nvSpPr>
          <p:cNvPr id="17" name="TextBox 16"/>
          <p:cNvSpPr txBox="1"/>
          <p:nvPr/>
        </p:nvSpPr>
        <p:spPr>
          <a:xfrm>
            <a:off x="6510528" y="2221991"/>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Clock &amp; weather station</a:t>
            </a:r>
          </a:p>
        </p:txBody>
      </p:sp>
      <p:sp>
        <p:nvSpPr>
          <p:cNvPr id="18" name="TextBox 17"/>
          <p:cNvSpPr txBox="1"/>
          <p:nvPr/>
        </p:nvSpPr>
        <p:spPr>
          <a:xfrm>
            <a:off x="6510528" y="2615184"/>
            <a:ext cx="4846320" cy="850392"/>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Show time plus a weather value on a 16×2 LCD. The main challenge is arranging small amounts of information clearly.</a:t>
            </a:r>
          </a:p>
        </p:txBody>
      </p:sp>
      <p:sp>
        <p:nvSpPr>
          <p:cNvPr id="19" name="Rounded Rectangle 18"/>
          <p:cNvSpPr/>
          <p:nvPr/>
        </p:nvSpPr>
        <p:spPr>
          <a:xfrm>
            <a:off x="658368" y="3867912"/>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8096" y="4032504"/>
            <a:ext cx="64008" cy="1435607"/>
          </a:xfrm>
          <a:prstGeom prst="roundRect">
            <a:avLst/>
          </a:prstGeom>
          <a:solidFill>
            <a:srgbClr val="E67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9264" y="4014216"/>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E67896"/>
                </a:solidFill>
                <a:latin typeface="Aptos"/>
              </a:rPr>
              <a:t>OTHER EXAMPLES</a:t>
            </a:r>
          </a:p>
        </p:txBody>
      </p:sp>
      <p:sp>
        <p:nvSpPr>
          <p:cNvPr id="22" name="TextBox 21"/>
          <p:cNvSpPr txBox="1"/>
          <p:nvPr/>
        </p:nvSpPr>
        <p:spPr>
          <a:xfrm>
            <a:off x="969264" y="4242816"/>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Battery and uptime</a:t>
            </a:r>
          </a:p>
        </p:txBody>
      </p:sp>
      <p:sp>
        <p:nvSpPr>
          <p:cNvPr id="23" name="TextBox 22"/>
          <p:cNvSpPr txBox="1"/>
          <p:nvPr/>
        </p:nvSpPr>
        <p:spPr>
          <a:xfrm>
            <a:off x="969264" y="4636008"/>
            <a:ext cx="4846320" cy="850391"/>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Use a seven-segment display for battery percentage, or show hours and minutes since the device last restarted.</a:t>
            </a:r>
          </a:p>
        </p:txBody>
      </p:sp>
      <p:sp>
        <p:nvSpPr>
          <p:cNvPr id="24" name="Rounded Rectangle 23"/>
          <p:cNvSpPr/>
          <p:nvPr/>
        </p:nvSpPr>
        <p:spPr>
          <a:xfrm>
            <a:off x="6199632" y="3867912"/>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09360" y="4032504"/>
            <a:ext cx="64008" cy="1435607"/>
          </a:xfrm>
          <a:prstGeom prst="roundRect">
            <a:avLst/>
          </a:prstGeom>
          <a:solidFill>
            <a:srgbClr val="E67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10528" y="4014216"/>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E67896"/>
                </a:solidFill>
                <a:latin typeface="Aptos"/>
              </a:rPr>
              <a:t>DASHBOARD EXAMPLE</a:t>
            </a:r>
          </a:p>
        </p:txBody>
      </p:sp>
      <p:sp>
        <p:nvSpPr>
          <p:cNvPr id="27" name="TextBox 26"/>
          <p:cNvSpPr txBox="1"/>
          <p:nvPr/>
        </p:nvSpPr>
        <p:spPr>
          <a:xfrm>
            <a:off x="6510528" y="4242816"/>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Comfort summary</a:t>
            </a:r>
          </a:p>
        </p:txBody>
      </p:sp>
      <p:sp>
        <p:nvSpPr>
          <p:cNvPr id="28" name="TextBox 27"/>
          <p:cNvSpPr txBox="1"/>
          <p:nvPr/>
        </p:nvSpPr>
        <p:spPr>
          <a:xfrm>
            <a:off x="6510528" y="4636008"/>
            <a:ext cx="4846320" cy="850391"/>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Show temperature and humidity on separate lines, then a simple status such as “Comfort: OK” based on the project’s chosen rules.</a:t>
            </a:r>
          </a:p>
        </p:txBody>
      </p:sp>
      <p:sp>
        <p:nvSpPr>
          <p:cNvPr id="29" name="TextBox 28"/>
          <p:cNvSpPr txBox="1"/>
          <p:nvPr/>
        </p:nvSpPr>
        <p:spPr>
          <a:xfrm>
            <a:off x="713232" y="5870448"/>
            <a:ext cx="6217920" cy="201168"/>
          </a:xfrm>
          <a:prstGeom prst="rect">
            <a:avLst/>
          </a:prstGeom>
          <a:noFill/>
        </p:spPr>
        <p:txBody>
          <a:bodyPr wrap="square" lIns="0" rIns="0" tIns="0" bIns="0" anchor="t">
            <a:normAutofit/>
          </a:bodyPr>
          <a:lstStyle/>
          <a:p>
            <a:pPr algn="l">
              <a:lnSpc>
                <a:spcPct val="108000"/>
              </a:lnSpc>
              <a:spcBef>
                <a:spcPts val="0"/>
              </a:spcBef>
              <a:spcAft>
                <a:spcPts val="0"/>
              </a:spcAft>
            </a:pPr>
            <a:r>
              <a:rPr sz="900" b="1" i="0">
                <a:solidFill>
                  <a:srgbClr val="E67896"/>
                </a:solidFill>
                <a:latin typeface="Aptos"/>
              </a:rPr>
              <a:t>LCD  •  OLED  •  I²C  •  Dashboard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143000" cy="256032"/>
          </a:xfrm>
          <a:prstGeom prst="roundRect">
            <a:avLst/>
          </a:prstGeom>
          <a:solidFill>
            <a:srgbClr val="FF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923544"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23856F"/>
                </a:solidFill>
                <a:latin typeface="Aptos"/>
              </a:rPr>
              <a:t>TASK 06</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Smart Environment Sensing Node</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Environmental sensing · Let the system detect light or presence and use the readings to trigger an action.</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37</a:t>
            </a:r>
          </a:p>
        </p:txBody>
      </p:sp>
      <p:sp>
        <p:nvSpPr>
          <p:cNvPr id="9" name="Rounded Rectangle 8"/>
          <p:cNvSpPr/>
          <p:nvPr/>
        </p:nvSpPr>
        <p:spPr>
          <a:xfrm>
            <a:off x="658368" y="1847088"/>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8096" y="2011680"/>
            <a:ext cx="64008" cy="1435607"/>
          </a:xfrm>
          <a:prstGeom prst="roundRect">
            <a:avLst/>
          </a:prstGeom>
          <a:solidFill>
            <a:srgbClr val="2385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1993392"/>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23856F"/>
                </a:solidFill>
                <a:latin typeface="Aptos"/>
              </a:rPr>
              <a:t>SENSOR OPTIONS</a:t>
            </a:r>
          </a:p>
        </p:txBody>
      </p:sp>
      <p:sp>
        <p:nvSpPr>
          <p:cNvPr id="12" name="TextBox 11"/>
          <p:cNvSpPr txBox="1"/>
          <p:nvPr/>
        </p:nvSpPr>
        <p:spPr>
          <a:xfrm>
            <a:off x="969264" y="2221991"/>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Choose the sensor</a:t>
            </a:r>
          </a:p>
        </p:txBody>
      </p:sp>
      <p:sp>
        <p:nvSpPr>
          <p:cNvPr id="13" name="TextBox 12"/>
          <p:cNvSpPr txBox="1"/>
          <p:nvPr/>
        </p:nvSpPr>
        <p:spPr>
          <a:xfrm>
            <a:off x="969264" y="2615184"/>
            <a:ext cx="4846320" cy="850392"/>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An LDR responds to light; a PIR sensor detects movement from changes in infrared energy; a BH1750 measures light level in lux.</a:t>
            </a:r>
          </a:p>
        </p:txBody>
      </p:sp>
      <p:sp>
        <p:nvSpPr>
          <p:cNvPr id="14" name="Rounded Rectangle 13"/>
          <p:cNvSpPr/>
          <p:nvPr/>
        </p:nvSpPr>
        <p:spPr>
          <a:xfrm>
            <a:off x="6199632" y="1847088"/>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2011680"/>
            <a:ext cx="64008" cy="1435607"/>
          </a:xfrm>
          <a:prstGeom prst="roundRect">
            <a:avLst/>
          </a:prstGeom>
          <a:solidFill>
            <a:srgbClr val="2385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0528" y="1993392"/>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23856F"/>
                </a:solidFill>
                <a:latin typeface="Aptos"/>
              </a:rPr>
              <a:t>STARTER IDEA</a:t>
            </a:r>
          </a:p>
        </p:txBody>
      </p:sp>
      <p:sp>
        <p:nvSpPr>
          <p:cNvPr id="17" name="TextBox 16"/>
          <p:cNvSpPr txBox="1"/>
          <p:nvPr/>
        </p:nvSpPr>
        <p:spPr>
          <a:xfrm>
            <a:off x="6510528" y="2221991"/>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Automatic street lamp</a:t>
            </a:r>
          </a:p>
        </p:txBody>
      </p:sp>
      <p:sp>
        <p:nvSpPr>
          <p:cNvPr id="18" name="TextBox 17"/>
          <p:cNvSpPr txBox="1"/>
          <p:nvPr/>
        </p:nvSpPr>
        <p:spPr>
          <a:xfrm>
            <a:off x="6510528" y="2615184"/>
            <a:ext cx="4846320" cy="850392"/>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Use a light reading to distinguish day and night. Turn on the light when it becomes dark and turn it off when it brightens.</a:t>
            </a:r>
          </a:p>
        </p:txBody>
      </p:sp>
      <p:sp>
        <p:nvSpPr>
          <p:cNvPr id="19" name="Rounded Rectangle 18"/>
          <p:cNvSpPr/>
          <p:nvPr/>
        </p:nvSpPr>
        <p:spPr>
          <a:xfrm>
            <a:off x="658368" y="3867912"/>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8096" y="4032504"/>
            <a:ext cx="64008" cy="1435607"/>
          </a:xfrm>
          <a:prstGeom prst="roundRect">
            <a:avLst/>
          </a:prstGeom>
          <a:solidFill>
            <a:srgbClr val="2385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9264" y="4014216"/>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23856F"/>
                </a:solidFill>
                <a:latin typeface="Aptos"/>
              </a:rPr>
              <a:t>OCCUPANCY EXAMPLE</a:t>
            </a:r>
          </a:p>
        </p:txBody>
      </p:sp>
      <p:sp>
        <p:nvSpPr>
          <p:cNvPr id="22" name="TextBox 21"/>
          <p:cNvSpPr txBox="1"/>
          <p:nvPr/>
        </p:nvSpPr>
        <p:spPr>
          <a:xfrm>
            <a:off x="969264" y="4242816"/>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Presence-triggered fan</a:t>
            </a:r>
          </a:p>
        </p:txBody>
      </p:sp>
      <p:sp>
        <p:nvSpPr>
          <p:cNvPr id="23" name="TextBox 22"/>
          <p:cNvSpPr txBox="1"/>
          <p:nvPr/>
        </p:nvSpPr>
        <p:spPr>
          <a:xfrm>
            <a:off x="969264" y="4636008"/>
            <a:ext cx="4846320" cy="850391"/>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Use a PIR signal to detect that a room is occupied, then request ventilation or a fan state.</a:t>
            </a:r>
          </a:p>
        </p:txBody>
      </p:sp>
      <p:sp>
        <p:nvSpPr>
          <p:cNvPr id="24" name="Rounded Rectangle 23"/>
          <p:cNvSpPr/>
          <p:nvPr/>
        </p:nvSpPr>
        <p:spPr>
          <a:xfrm>
            <a:off x="6199632" y="3867912"/>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09360" y="4032504"/>
            <a:ext cx="64008" cy="1435607"/>
          </a:xfrm>
          <a:prstGeom prst="roundRect">
            <a:avLst/>
          </a:prstGeom>
          <a:solidFill>
            <a:srgbClr val="2385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10528" y="4014216"/>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23856F"/>
                </a:solidFill>
                <a:latin typeface="Aptos"/>
              </a:rPr>
              <a:t>EXTENSIONS</a:t>
            </a:r>
          </a:p>
        </p:txBody>
      </p:sp>
      <p:sp>
        <p:nvSpPr>
          <p:cNvPr id="27" name="TextBox 26"/>
          <p:cNvSpPr txBox="1"/>
          <p:nvPr/>
        </p:nvSpPr>
        <p:spPr>
          <a:xfrm>
            <a:off x="6510528" y="4242816"/>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Greenhouse &amp; energy audit</a:t>
            </a:r>
          </a:p>
        </p:txBody>
      </p:sp>
      <p:sp>
        <p:nvSpPr>
          <p:cNvPr id="28" name="TextBox 27"/>
          <p:cNvSpPr txBox="1"/>
          <p:nvPr/>
        </p:nvSpPr>
        <p:spPr>
          <a:xfrm>
            <a:off x="6510528" y="4636008"/>
            <a:ext cx="4846320" cy="850391"/>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Move a shade using a servo when brightness is high, or log light levels over time to identify possible energy waste.</a:t>
            </a:r>
          </a:p>
        </p:txBody>
      </p:sp>
      <p:sp>
        <p:nvSpPr>
          <p:cNvPr id="29" name="TextBox 28"/>
          <p:cNvSpPr txBox="1"/>
          <p:nvPr/>
        </p:nvSpPr>
        <p:spPr>
          <a:xfrm>
            <a:off x="713232" y="5870448"/>
            <a:ext cx="6217920" cy="201168"/>
          </a:xfrm>
          <a:prstGeom prst="rect">
            <a:avLst/>
          </a:prstGeom>
          <a:noFill/>
        </p:spPr>
        <p:txBody>
          <a:bodyPr wrap="square" lIns="0" rIns="0" tIns="0" bIns="0" anchor="t">
            <a:normAutofit/>
          </a:bodyPr>
          <a:lstStyle/>
          <a:p>
            <a:pPr algn="l">
              <a:lnSpc>
                <a:spcPct val="108000"/>
              </a:lnSpc>
              <a:spcBef>
                <a:spcPts val="0"/>
              </a:spcBef>
              <a:spcAft>
                <a:spcPts val="0"/>
              </a:spcAft>
            </a:pPr>
            <a:r>
              <a:rPr sz="900" b="1" i="0">
                <a:solidFill>
                  <a:srgbClr val="23856F"/>
                </a:solidFill>
                <a:latin typeface="Aptos"/>
              </a:rPr>
              <a:t>LDR  •  PIR  •  BH1750  •  Smart city</a:t>
            </a:r>
          </a:p>
        </p:txBody>
      </p:sp>
      <p:sp>
        <p:nvSpPr>
          <p:cNvPr id="30" name="TextBox 29"/>
          <p:cNvSpPr txBox="1"/>
          <p:nvPr/>
        </p:nvSpPr>
        <p:spPr>
          <a:xfrm>
            <a:off x="7315200" y="5870448"/>
            <a:ext cx="3931920" cy="182880"/>
          </a:xfrm>
          <a:prstGeom prst="rect">
            <a:avLst/>
          </a:prstGeom>
          <a:noFill/>
        </p:spPr>
        <p:txBody>
          <a:bodyPr wrap="square" lIns="0" rIns="0" tIns="0" bIns="0" anchor="t">
            <a:normAutofit/>
          </a:bodyPr>
          <a:lstStyle/>
          <a:p>
            <a:pPr algn="l">
              <a:lnSpc>
                <a:spcPct val="108000"/>
              </a:lnSpc>
              <a:spcBef>
                <a:spcPts val="0"/>
              </a:spcBef>
              <a:spcAft>
                <a:spcPts val="0"/>
              </a:spcAft>
            </a:pPr>
            <a:r>
              <a:rPr sz="850" b="1" i="0">
                <a:solidFill>
                  <a:srgbClr val="5676F5"/>
                </a:solidFill>
                <a:latin typeface="Aptos"/>
                <a:hlinkClick r:id="rId2"/>
              </a:rPr>
              <a:t>Open Task 06 Wokwi simulator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143000" cy="256032"/>
          </a:xfrm>
          <a:prstGeom prst="roundRect">
            <a:avLst/>
          </a:prstGeom>
          <a:solidFill>
            <a:srgbClr val="FFF4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923544"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E9A23B"/>
                </a:solidFill>
                <a:latin typeface="Aptos"/>
              </a:rPr>
              <a:t>TASK 07</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Environmental Parameter Monitor</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Monitoring system · Collect readings over time, compare them with limits, and record or display the results.</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38</a:t>
            </a:r>
          </a:p>
        </p:txBody>
      </p:sp>
      <p:sp>
        <p:nvSpPr>
          <p:cNvPr id="9" name="Rounded Rectangle 8"/>
          <p:cNvSpPr/>
          <p:nvPr/>
        </p:nvSpPr>
        <p:spPr>
          <a:xfrm>
            <a:off x="658368" y="1847088"/>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8096" y="2011680"/>
            <a:ext cx="64008" cy="1435607"/>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1993392"/>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E9A23B"/>
                </a:solidFill>
                <a:latin typeface="Aptos"/>
              </a:rPr>
              <a:t>CORE IDEA</a:t>
            </a:r>
          </a:p>
        </p:txBody>
      </p:sp>
      <p:sp>
        <p:nvSpPr>
          <p:cNvPr id="12" name="TextBox 11"/>
          <p:cNvSpPr txBox="1"/>
          <p:nvPr/>
        </p:nvSpPr>
        <p:spPr>
          <a:xfrm>
            <a:off x="969264" y="2221991"/>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Monitor, not just react</a:t>
            </a:r>
          </a:p>
        </p:txBody>
      </p:sp>
      <p:sp>
        <p:nvSpPr>
          <p:cNvPr id="13" name="TextBox 12"/>
          <p:cNvSpPr txBox="1"/>
          <p:nvPr/>
        </p:nvSpPr>
        <p:spPr>
          <a:xfrm>
            <a:off x="969264" y="2615184"/>
            <a:ext cx="4846320" cy="850392"/>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Repeated readings help show how conditions change through time. The project may display current values and keep a log for later review.</a:t>
            </a:r>
          </a:p>
        </p:txBody>
      </p:sp>
      <p:sp>
        <p:nvSpPr>
          <p:cNvPr id="14" name="Rounded Rectangle 13"/>
          <p:cNvSpPr/>
          <p:nvPr/>
        </p:nvSpPr>
        <p:spPr>
          <a:xfrm>
            <a:off x="6199632" y="1847088"/>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2011680"/>
            <a:ext cx="64008" cy="1435607"/>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0528" y="1993392"/>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E9A23B"/>
                </a:solidFill>
                <a:latin typeface="Aptos"/>
              </a:rPr>
              <a:t>STARTER IDEA</a:t>
            </a:r>
          </a:p>
        </p:txBody>
      </p:sp>
      <p:sp>
        <p:nvSpPr>
          <p:cNvPr id="17" name="TextBox 16"/>
          <p:cNvSpPr txBox="1"/>
          <p:nvPr/>
        </p:nvSpPr>
        <p:spPr>
          <a:xfrm>
            <a:off x="6510528" y="2221991"/>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Greenhouse climate monitor</a:t>
            </a:r>
          </a:p>
        </p:txBody>
      </p:sp>
      <p:sp>
        <p:nvSpPr>
          <p:cNvPr id="18" name="TextBox 17"/>
          <p:cNvSpPr txBox="1"/>
          <p:nvPr/>
        </p:nvSpPr>
        <p:spPr>
          <a:xfrm>
            <a:off x="6510528" y="2615184"/>
            <a:ext cx="4846320" cy="850392"/>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Read temperature and humidity and flag values outside the project’s chosen range.</a:t>
            </a:r>
          </a:p>
        </p:txBody>
      </p:sp>
      <p:sp>
        <p:nvSpPr>
          <p:cNvPr id="19" name="Rounded Rectangle 18"/>
          <p:cNvSpPr/>
          <p:nvPr/>
        </p:nvSpPr>
        <p:spPr>
          <a:xfrm>
            <a:off x="658368" y="3867912"/>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8096" y="4032504"/>
            <a:ext cx="64008" cy="1435607"/>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9264" y="4014216"/>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E9A23B"/>
                </a:solidFill>
                <a:latin typeface="Aptos"/>
              </a:rPr>
              <a:t>DATA EXAMPLES</a:t>
            </a:r>
          </a:p>
        </p:txBody>
      </p:sp>
      <p:sp>
        <p:nvSpPr>
          <p:cNvPr id="22" name="TextBox 21"/>
          <p:cNvSpPr txBox="1"/>
          <p:nvPr/>
        </p:nvSpPr>
        <p:spPr>
          <a:xfrm>
            <a:off x="969264" y="4242816"/>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Cold-chain log / comfort index</a:t>
            </a:r>
          </a:p>
        </p:txBody>
      </p:sp>
      <p:sp>
        <p:nvSpPr>
          <p:cNvPr id="23" name="TextBox 22"/>
          <p:cNvSpPr txBox="1"/>
          <p:nvPr/>
        </p:nvSpPr>
        <p:spPr>
          <a:xfrm>
            <a:off x="969264" y="4636008"/>
            <a:ext cx="4846320" cy="850391"/>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Record temperature on a schedule, or calculate a simple comfort indicator from temperature and humidity.</a:t>
            </a:r>
          </a:p>
        </p:txBody>
      </p:sp>
      <p:sp>
        <p:nvSpPr>
          <p:cNvPr id="24" name="Rounded Rectangle 23"/>
          <p:cNvSpPr/>
          <p:nvPr/>
        </p:nvSpPr>
        <p:spPr>
          <a:xfrm>
            <a:off x="6199632" y="3867912"/>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09360" y="4032504"/>
            <a:ext cx="64008" cy="1435607"/>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10528" y="4014216"/>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E9A23B"/>
                </a:solidFill>
                <a:latin typeface="Aptos"/>
              </a:rPr>
              <a:t>ALERT EXTENSION</a:t>
            </a:r>
          </a:p>
        </p:txBody>
      </p:sp>
      <p:sp>
        <p:nvSpPr>
          <p:cNvPr id="27" name="TextBox 26"/>
          <p:cNvSpPr txBox="1"/>
          <p:nvPr/>
        </p:nvSpPr>
        <p:spPr>
          <a:xfrm>
            <a:off x="6510528" y="4242816"/>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Room-temperature alert</a:t>
            </a:r>
          </a:p>
        </p:txBody>
      </p:sp>
      <p:sp>
        <p:nvSpPr>
          <p:cNvPr id="28" name="TextBox 27"/>
          <p:cNvSpPr txBox="1"/>
          <p:nvPr/>
        </p:nvSpPr>
        <p:spPr>
          <a:xfrm>
            <a:off x="6510528" y="4636008"/>
            <a:ext cx="4846320" cy="850391"/>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A teaching prototype can flash an LED and sound a buzzer when a configured room-temperature condition is met. Real thresholds need context and validation.</a:t>
            </a:r>
          </a:p>
        </p:txBody>
      </p:sp>
      <p:sp>
        <p:nvSpPr>
          <p:cNvPr id="29" name="TextBox 28"/>
          <p:cNvSpPr txBox="1"/>
          <p:nvPr/>
        </p:nvSpPr>
        <p:spPr>
          <a:xfrm>
            <a:off x="713232" y="5870448"/>
            <a:ext cx="6217920" cy="201168"/>
          </a:xfrm>
          <a:prstGeom prst="rect">
            <a:avLst/>
          </a:prstGeom>
          <a:noFill/>
        </p:spPr>
        <p:txBody>
          <a:bodyPr wrap="square" lIns="0" rIns="0" tIns="0" bIns="0" anchor="t">
            <a:normAutofit/>
          </a:bodyPr>
          <a:lstStyle/>
          <a:p>
            <a:pPr algn="l">
              <a:lnSpc>
                <a:spcPct val="108000"/>
              </a:lnSpc>
              <a:spcBef>
                <a:spcPts val="0"/>
              </a:spcBef>
              <a:spcAft>
                <a:spcPts val="0"/>
              </a:spcAft>
            </a:pPr>
            <a:r>
              <a:rPr sz="900" b="1" i="0">
                <a:solidFill>
                  <a:srgbClr val="E9A23B"/>
                </a:solidFill>
                <a:latin typeface="Aptos"/>
              </a:rPr>
              <a:t>DHT11  •  Thresholds  •  Logging  •  Trends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143000" cy="256032"/>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923544"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5676F5"/>
                </a:solidFill>
                <a:latin typeface="Aptos"/>
              </a:rPr>
              <a:t>TASK 08</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Mechanical Motion &amp; Actuator Control</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Actuation · Convert a program’s decision into a controlled movement with a servo or motor.</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39</a:t>
            </a:r>
          </a:p>
        </p:txBody>
      </p:sp>
      <p:sp>
        <p:nvSpPr>
          <p:cNvPr id="9" name="Rounded Rectangle 8"/>
          <p:cNvSpPr/>
          <p:nvPr/>
        </p:nvSpPr>
        <p:spPr>
          <a:xfrm>
            <a:off x="658368" y="1847088"/>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8096" y="2011680"/>
            <a:ext cx="64008" cy="1435607"/>
          </a:xfrm>
          <a:prstGeom prst="round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1993392"/>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5676F5"/>
                </a:solidFill>
                <a:latin typeface="Aptos"/>
              </a:rPr>
              <a:t>CORE CONCEPT</a:t>
            </a:r>
          </a:p>
        </p:txBody>
      </p:sp>
      <p:sp>
        <p:nvSpPr>
          <p:cNvPr id="12" name="TextBox 11"/>
          <p:cNvSpPr txBox="1"/>
          <p:nvPr/>
        </p:nvSpPr>
        <p:spPr>
          <a:xfrm>
            <a:off x="969264" y="2221991"/>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Servo or DC motor?</a:t>
            </a:r>
          </a:p>
        </p:txBody>
      </p:sp>
      <p:sp>
        <p:nvSpPr>
          <p:cNvPr id="13" name="TextBox 12"/>
          <p:cNvSpPr txBox="1"/>
          <p:nvPr/>
        </p:nvSpPr>
        <p:spPr>
          <a:xfrm>
            <a:off x="969264" y="2615184"/>
            <a:ext cx="4846320" cy="850392"/>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A servo typically moves to a target position. A DC motor produces continuous rotation; its speed can often be adjusted using a suitable controller.</a:t>
            </a:r>
          </a:p>
        </p:txBody>
      </p:sp>
      <p:sp>
        <p:nvSpPr>
          <p:cNvPr id="14" name="Rounded Rectangle 13"/>
          <p:cNvSpPr/>
          <p:nvPr/>
        </p:nvSpPr>
        <p:spPr>
          <a:xfrm>
            <a:off x="6199632" y="1847088"/>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2011680"/>
            <a:ext cx="64008" cy="1435607"/>
          </a:xfrm>
          <a:prstGeom prst="round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0528" y="1993392"/>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5676F5"/>
                </a:solidFill>
                <a:latin typeface="Aptos"/>
              </a:rPr>
              <a:t>STARTER IDEA</a:t>
            </a:r>
          </a:p>
        </p:txBody>
      </p:sp>
      <p:sp>
        <p:nvSpPr>
          <p:cNvPr id="17" name="TextBox 16"/>
          <p:cNvSpPr txBox="1"/>
          <p:nvPr/>
        </p:nvSpPr>
        <p:spPr>
          <a:xfrm>
            <a:off x="6510528" y="2221991"/>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Solar-panel tracker</a:t>
            </a:r>
          </a:p>
        </p:txBody>
      </p:sp>
      <p:sp>
        <p:nvSpPr>
          <p:cNvPr id="18" name="TextBox 17"/>
          <p:cNvSpPr txBox="1"/>
          <p:nvPr/>
        </p:nvSpPr>
        <p:spPr>
          <a:xfrm>
            <a:off x="6510528" y="2615184"/>
            <a:ext cx="4846320" cy="850392"/>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Use a light source or pair of sensor readings to choose a direction, then rotate a model panel with a servo.</a:t>
            </a:r>
          </a:p>
        </p:txBody>
      </p:sp>
      <p:sp>
        <p:nvSpPr>
          <p:cNvPr id="19" name="Rounded Rectangle 18"/>
          <p:cNvSpPr/>
          <p:nvPr/>
        </p:nvSpPr>
        <p:spPr>
          <a:xfrm>
            <a:off x="658368" y="3867912"/>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8096" y="4032504"/>
            <a:ext cx="64008" cy="1435607"/>
          </a:xfrm>
          <a:prstGeom prst="round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9264" y="4014216"/>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5676F5"/>
                </a:solidFill>
                <a:latin typeface="Aptos"/>
              </a:rPr>
              <a:t>AUTOMATION EXAMPLE</a:t>
            </a:r>
          </a:p>
        </p:txBody>
      </p:sp>
      <p:sp>
        <p:nvSpPr>
          <p:cNvPr id="22" name="TextBox 21"/>
          <p:cNvSpPr txBox="1"/>
          <p:nvPr/>
        </p:nvSpPr>
        <p:spPr>
          <a:xfrm>
            <a:off x="969264" y="4242816"/>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Automatic door model</a:t>
            </a:r>
          </a:p>
        </p:txBody>
      </p:sp>
      <p:sp>
        <p:nvSpPr>
          <p:cNvPr id="23" name="TextBox 22"/>
          <p:cNvSpPr txBox="1"/>
          <p:nvPr/>
        </p:nvSpPr>
        <p:spPr>
          <a:xfrm>
            <a:off x="969264" y="4636008"/>
            <a:ext cx="4846320" cy="850391"/>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Use a motion input to request a motorized door movement in a tabletop model. Make a clear stopped/idle state.</a:t>
            </a:r>
          </a:p>
        </p:txBody>
      </p:sp>
      <p:sp>
        <p:nvSpPr>
          <p:cNvPr id="24" name="Rounded Rectangle 23"/>
          <p:cNvSpPr/>
          <p:nvPr/>
        </p:nvSpPr>
        <p:spPr>
          <a:xfrm>
            <a:off x="6199632" y="3867912"/>
            <a:ext cx="5321808" cy="176479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09360" y="4032504"/>
            <a:ext cx="64008" cy="1435607"/>
          </a:xfrm>
          <a:prstGeom prst="round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10528" y="4014216"/>
            <a:ext cx="4846320" cy="164592"/>
          </a:xfrm>
          <a:prstGeom prst="rect">
            <a:avLst/>
          </a:prstGeom>
          <a:noFill/>
        </p:spPr>
        <p:txBody>
          <a:bodyPr wrap="square" lIns="0" rIns="0" tIns="0" bIns="0" anchor="t">
            <a:normAutofit/>
          </a:bodyPr>
          <a:lstStyle/>
          <a:p>
            <a:pPr algn="l">
              <a:lnSpc>
                <a:spcPct val="108000"/>
              </a:lnSpc>
              <a:spcBef>
                <a:spcPts val="0"/>
              </a:spcBef>
              <a:spcAft>
                <a:spcPts val="0"/>
              </a:spcAft>
            </a:pPr>
            <a:r>
              <a:rPr sz="800" b="1" i="0">
                <a:solidFill>
                  <a:srgbClr val="5676F5"/>
                </a:solidFill>
                <a:latin typeface="Aptos"/>
              </a:rPr>
              <a:t>EXTENSIONS</a:t>
            </a:r>
          </a:p>
        </p:txBody>
      </p:sp>
      <p:sp>
        <p:nvSpPr>
          <p:cNvPr id="27" name="TextBox 26"/>
          <p:cNvSpPr txBox="1"/>
          <p:nvPr/>
        </p:nvSpPr>
        <p:spPr>
          <a:xfrm>
            <a:off x="6510528" y="4242816"/>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Robot arm or conveyor</a:t>
            </a:r>
          </a:p>
        </p:txBody>
      </p:sp>
      <p:sp>
        <p:nvSpPr>
          <p:cNvPr id="28" name="TextBox 27"/>
          <p:cNvSpPr txBox="1"/>
          <p:nvPr/>
        </p:nvSpPr>
        <p:spPr>
          <a:xfrm>
            <a:off x="6510528" y="4636008"/>
            <a:ext cx="4846320" cy="850391"/>
          </a:xfrm>
          <a:prstGeom prst="rect">
            <a:avLst/>
          </a:prstGeom>
          <a:noFill/>
        </p:spPr>
        <p:txBody>
          <a:bodyPr wrap="square" lIns="0" rIns="0" tIns="0" bIns="0" anchor="t">
            <a:normAutofit/>
          </a:bodyPr>
          <a:lstStyle/>
          <a:p>
            <a:pPr algn="l">
              <a:lnSpc>
                <a:spcPct val="108000"/>
              </a:lnSpc>
              <a:spcBef>
                <a:spcPts val="0"/>
              </a:spcBef>
              <a:spcAft>
                <a:spcPts val="0"/>
              </a:spcAft>
            </a:pPr>
            <a:r>
              <a:rPr sz="1090" b="0" i="0">
                <a:solidFill>
                  <a:srgbClr val="5E6B84"/>
                </a:solidFill>
                <a:latin typeface="Aptos"/>
              </a:rPr>
              <a:t>Map a potentiometer value to a servo angle, or adjust conveyor speed from an IR sensor counting a queue. Actual servo limits depend on the hardware.</a:t>
            </a:r>
          </a:p>
        </p:txBody>
      </p:sp>
      <p:sp>
        <p:nvSpPr>
          <p:cNvPr id="29" name="TextBox 28"/>
          <p:cNvSpPr txBox="1"/>
          <p:nvPr/>
        </p:nvSpPr>
        <p:spPr>
          <a:xfrm>
            <a:off x="713232" y="5870448"/>
            <a:ext cx="6217920" cy="201168"/>
          </a:xfrm>
          <a:prstGeom prst="rect">
            <a:avLst/>
          </a:prstGeom>
          <a:noFill/>
        </p:spPr>
        <p:txBody>
          <a:bodyPr wrap="square" lIns="0" rIns="0" tIns="0" bIns="0" anchor="t">
            <a:normAutofit/>
          </a:bodyPr>
          <a:lstStyle/>
          <a:p>
            <a:pPr algn="l">
              <a:lnSpc>
                <a:spcPct val="108000"/>
              </a:lnSpc>
              <a:spcBef>
                <a:spcPts val="0"/>
              </a:spcBef>
              <a:spcAft>
                <a:spcPts val="0"/>
              </a:spcAft>
            </a:pPr>
            <a:r>
              <a:rPr sz="900" b="1" i="0">
                <a:solidFill>
                  <a:srgbClr val="5676F5"/>
                </a:solidFill>
                <a:latin typeface="Aptos"/>
              </a:rPr>
              <a:t>Servo  •  DC motor  •  PWM  •  Robotics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143000" cy="256032"/>
          </a:xfrm>
          <a:prstGeom prst="roundRect">
            <a:avLst/>
          </a:prstGeom>
          <a:solidFill>
            <a:srgbClr val="E6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923544"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21B6A8"/>
                </a:solidFill>
                <a:latin typeface="Aptos"/>
              </a:rPr>
              <a:t>TOOLKIT</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Four sensors explained in plain language</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A sensor converts a real-world condition into a signal your program can read.</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40</a:t>
            </a:r>
          </a:p>
        </p:txBody>
      </p:sp>
      <p:sp>
        <p:nvSpPr>
          <p:cNvPr id="9" name="Rounded Rectangle 8"/>
          <p:cNvSpPr/>
          <p:nvPr/>
        </p:nvSpPr>
        <p:spPr>
          <a:xfrm>
            <a:off x="658368" y="1847088"/>
            <a:ext cx="5321808" cy="160020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8096" y="2011680"/>
            <a:ext cx="64008" cy="1271016"/>
          </a:xfrm>
          <a:prstGeom prst="round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002536"/>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LDR  ·  Light-dependent resistor</a:t>
            </a:r>
          </a:p>
        </p:txBody>
      </p:sp>
      <p:sp>
        <p:nvSpPr>
          <p:cNvPr id="12" name="TextBox 11"/>
          <p:cNvSpPr txBox="1"/>
          <p:nvPr/>
        </p:nvSpPr>
        <p:spPr>
          <a:xfrm>
            <a:off x="969264" y="2395728"/>
            <a:ext cx="4846320" cy="905255"/>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Its resistance changes with light. Use a reading to classify the environment as brighter or darker.</a:t>
            </a:r>
          </a:p>
        </p:txBody>
      </p:sp>
      <p:sp>
        <p:nvSpPr>
          <p:cNvPr id="13" name="Rounded Rectangle 12"/>
          <p:cNvSpPr/>
          <p:nvPr/>
        </p:nvSpPr>
        <p:spPr>
          <a:xfrm>
            <a:off x="6199632" y="1847088"/>
            <a:ext cx="5321808" cy="160020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09360" y="2011680"/>
            <a:ext cx="64008" cy="1271016"/>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0528" y="2002536"/>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PIR  ·  Motion detection</a:t>
            </a:r>
          </a:p>
        </p:txBody>
      </p:sp>
      <p:sp>
        <p:nvSpPr>
          <p:cNvPr id="16" name="TextBox 15"/>
          <p:cNvSpPr txBox="1"/>
          <p:nvPr/>
        </p:nvSpPr>
        <p:spPr>
          <a:xfrm>
            <a:off x="6510528" y="2395728"/>
            <a:ext cx="4846320" cy="905255"/>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Detects changes in infrared energy associated with movement. Often used for occupancy or motion-triggered actions.</a:t>
            </a:r>
          </a:p>
        </p:txBody>
      </p:sp>
      <p:sp>
        <p:nvSpPr>
          <p:cNvPr id="17" name="Rounded Rectangle 16"/>
          <p:cNvSpPr/>
          <p:nvPr/>
        </p:nvSpPr>
        <p:spPr>
          <a:xfrm>
            <a:off x="658368" y="3703320"/>
            <a:ext cx="5321808" cy="160020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68096" y="3867911"/>
            <a:ext cx="64008" cy="1271016"/>
          </a:xfrm>
          <a:prstGeom prst="roundRect">
            <a:avLst/>
          </a:prstGeom>
          <a:solidFill>
            <a:srgbClr val="2385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3858768"/>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BH1750  ·  Light level</a:t>
            </a:r>
          </a:p>
        </p:txBody>
      </p:sp>
      <p:sp>
        <p:nvSpPr>
          <p:cNvPr id="20" name="TextBox 19"/>
          <p:cNvSpPr txBox="1"/>
          <p:nvPr/>
        </p:nvSpPr>
        <p:spPr>
          <a:xfrm>
            <a:off x="969264" y="4251959"/>
            <a:ext cx="4846320" cy="905256"/>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Reports a numeric light level in lux, which makes it useful when a project needs more than simply “light” or “dark.”</a:t>
            </a:r>
          </a:p>
        </p:txBody>
      </p:sp>
      <p:sp>
        <p:nvSpPr>
          <p:cNvPr id="21" name="Rounded Rectangle 20"/>
          <p:cNvSpPr/>
          <p:nvPr/>
        </p:nvSpPr>
        <p:spPr>
          <a:xfrm>
            <a:off x="6199632" y="3703320"/>
            <a:ext cx="5321808" cy="160020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309360" y="3867911"/>
            <a:ext cx="64008" cy="1271016"/>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3858768"/>
            <a:ext cx="4846320"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DHT11  ·  Temperature + humidity</a:t>
            </a:r>
          </a:p>
        </p:txBody>
      </p:sp>
      <p:sp>
        <p:nvSpPr>
          <p:cNvPr id="24" name="TextBox 23"/>
          <p:cNvSpPr txBox="1"/>
          <p:nvPr/>
        </p:nvSpPr>
        <p:spPr>
          <a:xfrm>
            <a:off x="6510528" y="4251959"/>
            <a:ext cx="4846320" cy="905256"/>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Provides a basic reading of air temperature and relative humidity for monitoring and simple display projects.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143000" cy="256032"/>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923544"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5676F5"/>
                </a:solidFill>
                <a:latin typeface="Aptos"/>
              </a:rPr>
              <a:t>TOOLKIT</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Outputs: how a system shows or performs an action</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The output should match the job: inform a person, attract attention, or create movement.</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41</a:t>
            </a:r>
          </a:p>
        </p:txBody>
      </p:sp>
      <p:sp>
        <p:nvSpPr>
          <p:cNvPr id="9" name="Rounded Rectangle 8"/>
          <p:cNvSpPr/>
          <p:nvPr/>
        </p:nvSpPr>
        <p:spPr>
          <a:xfrm>
            <a:off x="658368" y="1874519"/>
            <a:ext cx="2606040" cy="1874519"/>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8096" y="2039112"/>
            <a:ext cx="64008" cy="1545336"/>
          </a:xfrm>
          <a:prstGeom prst="round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029967"/>
            <a:ext cx="2130552"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LED / indicator</a:t>
            </a:r>
          </a:p>
        </p:txBody>
      </p:sp>
      <p:sp>
        <p:nvSpPr>
          <p:cNvPr id="12" name="TextBox 11"/>
          <p:cNvSpPr txBox="1"/>
          <p:nvPr/>
        </p:nvSpPr>
        <p:spPr>
          <a:xfrm>
            <a:off x="969264" y="2423160"/>
            <a:ext cx="2130552" cy="1179575"/>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Best for a simple status: normal, warning, fault, or on/off.</a:t>
            </a:r>
          </a:p>
        </p:txBody>
      </p:sp>
      <p:sp>
        <p:nvSpPr>
          <p:cNvPr id="13" name="Rounded Rectangle 12"/>
          <p:cNvSpPr/>
          <p:nvPr/>
        </p:nvSpPr>
        <p:spPr>
          <a:xfrm>
            <a:off x="3419856" y="1874519"/>
            <a:ext cx="2606040" cy="1874519"/>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529584" y="2039112"/>
            <a:ext cx="64008" cy="1545336"/>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30752" y="2029967"/>
            <a:ext cx="2130552"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Buzzer</a:t>
            </a:r>
          </a:p>
        </p:txBody>
      </p:sp>
      <p:sp>
        <p:nvSpPr>
          <p:cNvPr id="16" name="TextBox 15"/>
          <p:cNvSpPr txBox="1"/>
          <p:nvPr/>
        </p:nvSpPr>
        <p:spPr>
          <a:xfrm>
            <a:off x="3730752" y="2423160"/>
            <a:ext cx="2130552" cy="1179575"/>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Best for timed alerts, distinct patterns, or audible feedback.</a:t>
            </a:r>
          </a:p>
        </p:txBody>
      </p:sp>
      <p:sp>
        <p:nvSpPr>
          <p:cNvPr id="17" name="Rounded Rectangle 16"/>
          <p:cNvSpPr/>
          <p:nvPr/>
        </p:nvSpPr>
        <p:spPr>
          <a:xfrm>
            <a:off x="6181344" y="1874519"/>
            <a:ext cx="2606040" cy="1874519"/>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91072" y="2039112"/>
            <a:ext cx="64008" cy="1545336"/>
          </a:xfrm>
          <a:prstGeom prst="roundRect">
            <a:avLst/>
          </a:prstGeom>
          <a:solidFill>
            <a:srgbClr val="E67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2029967"/>
            <a:ext cx="2130552"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LCD / OLED</a:t>
            </a:r>
          </a:p>
        </p:txBody>
      </p:sp>
      <p:sp>
        <p:nvSpPr>
          <p:cNvPr id="20" name="TextBox 19"/>
          <p:cNvSpPr txBox="1"/>
          <p:nvPr/>
        </p:nvSpPr>
        <p:spPr>
          <a:xfrm>
            <a:off x="6492240" y="2423160"/>
            <a:ext cx="2130552" cy="1179575"/>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Best for measurements, labels, short messages, or a system summary.</a:t>
            </a:r>
          </a:p>
        </p:txBody>
      </p:sp>
      <p:sp>
        <p:nvSpPr>
          <p:cNvPr id="21" name="Rounded Rectangle 20"/>
          <p:cNvSpPr/>
          <p:nvPr/>
        </p:nvSpPr>
        <p:spPr>
          <a:xfrm>
            <a:off x="8942832" y="1874519"/>
            <a:ext cx="2606040" cy="1874519"/>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052559" y="2039112"/>
            <a:ext cx="64008" cy="1545336"/>
          </a:xfrm>
          <a:prstGeom prst="round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53728" y="2029967"/>
            <a:ext cx="2130552"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Servo / DC motor</a:t>
            </a:r>
          </a:p>
        </p:txBody>
      </p:sp>
      <p:sp>
        <p:nvSpPr>
          <p:cNvPr id="24" name="TextBox 23"/>
          <p:cNvSpPr txBox="1"/>
          <p:nvPr/>
        </p:nvSpPr>
        <p:spPr>
          <a:xfrm>
            <a:off x="9253728" y="2423160"/>
            <a:ext cx="2130552" cy="1179575"/>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Best when the result should physically move or rotate something in a model.</a:t>
            </a:r>
          </a:p>
        </p:txBody>
      </p:sp>
      <p:sp>
        <p:nvSpPr>
          <p:cNvPr id="25" name="Rounded Rectangle 24"/>
          <p:cNvSpPr/>
          <p:nvPr/>
        </p:nvSpPr>
        <p:spPr>
          <a:xfrm>
            <a:off x="1078992" y="4224528"/>
            <a:ext cx="10012680" cy="105156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188719" y="4389120"/>
            <a:ext cx="64008" cy="722375"/>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89888" y="4379976"/>
            <a:ext cx="9537192" cy="356616"/>
          </a:xfrm>
          <a:prstGeom prst="rect">
            <a:avLst/>
          </a:prstGeom>
          <a:noFill/>
        </p:spPr>
        <p:txBody>
          <a:bodyPr wrap="square" lIns="0" rIns="0" tIns="0" bIns="0" anchor="t">
            <a:normAutofit/>
          </a:bodyPr>
          <a:lstStyle/>
          <a:p>
            <a:pPr algn="l">
              <a:lnSpc>
                <a:spcPct val="108000"/>
              </a:lnSpc>
              <a:spcBef>
                <a:spcPts val="0"/>
              </a:spcBef>
              <a:spcAft>
                <a:spcPts val="0"/>
              </a:spcAft>
            </a:pPr>
            <a:r>
              <a:rPr sz="1500" b="1" i="0">
                <a:solidFill>
                  <a:srgbClr val="1B2740"/>
                </a:solidFill>
                <a:latin typeface="Aptos"/>
              </a:rPr>
              <a:t>Design rule</a:t>
            </a:r>
          </a:p>
        </p:txBody>
      </p:sp>
      <p:sp>
        <p:nvSpPr>
          <p:cNvPr id="28" name="TextBox 27"/>
          <p:cNvSpPr txBox="1"/>
          <p:nvPr/>
        </p:nvSpPr>
        <p:spPr>
          <a:xfrm>
            <a:off x="1389888" y="4773168"/>
            <a:ext cx="9537192" cy="356615"/>
          </a:xfrm>
          <a:prstGeom prst="rect">
            <a:avLst/>
          </a:prstGeom>
          <a:noFill/>
        </p:spPr>
        <p:txBody>
          <a:bodyPr wrap="square" lIns="0" rIns="0" tIns="0" bIns="0" anchor="t">
            <a:normAutofit/>
          </a:bodyPr>
          <a:lstStyle/>
          <a:p>
            <a:pPr algn="l">
              <a:lnSpc>
                <a:spcPct val="108000"/>
              </a:lnSpc>
              <a:spcBef>
                <a:spcPts val="0"/>
              </a:spcBef>
              <a:spcAft>
                <a:spcPts val="0"/>
              </a:spcAft>
            </a:pPr>
            <a:r>
              <a:rPr sz="1200" b="0" i="0">
                <a:solidFill>
                  <a:srgbClr val="5E6B84"/>
                </a:solidFill>
                <a:latin typeface="Aptos"/>
              </a:rPr>
              <a:t>Make the meaning obvious: choose colors, sounds, messages, and movements that people can interpret without guessing.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362456" cy="256032"/>
          </a:xfrm>
          <a:prstGeom prst="roundRect">
            <a:avLst/>
          </a:prstGeom>
          <a:solidFill>
            <a:srgbClr val="F1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143000"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8A70E8"/>
                </a:solidFill>
                <a:latin typeface="Aptos"/>
              </a:rPr>
              <a:t>KEY CONCEPT</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PWM: control the effective output</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Pulse-width modulation rapidly switches a signal on and off; changing the on-time changes the effective level.</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42</a:t>
            </a:r>
          </a:p>
        </p:txBody>
      </p:sp>
      <p:sp>
        <p:nvSpPr>
          <p:cNvPr id="9" name="Rounded Rectangle 8"/>
          <p:cNvSpPr/>
          <p:nvPr/>
        </p:nvSpPr>
        <p:spPr>
          <a:xfrm>
            <a:off x="804672" y="1920240"/>
            <a:ext cx="3246120" cy="288036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2084832"/>
            <a:ext cx="64008" cy="2551176"/>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2075688"/>
            <a:ext cx="2770632"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LOW / 0%</a:t>
            </a:r>
          </a:p>
        </p:txBody>
      </p:sp>
      <p:sp>
        <p:nvSpPr>
          <p:cNvPr id="12" name="TextBox 11"/>
          <p:cNvSpPr txBox="1"/>
          <p:nvPr/>
        </p:nvSpPr>
        <p:spPr>
          <a:xfrm>
            <a:off x="1115568" y="2468880"/>
            <a:ext cx="2770632" cy="2185415"/>
          </a:xfrm>
          <a:prstGeom prst="rect">
            <a:avLst/>
          </a:prstGeom>
          <a:noFill/>
        </p:spPr>
        <p:txBody>
          <a:bodyPr wrap="square" lIns="0" rIns="0" tIns="0" bIns="0" anchor="t">
            <a:normAutofit/>
          </a:bodyPr>
          <a:lstStyle/>
          <a:p>
            <a:pPr algn="l">
              <a:lnSpc>
                <a:spcPct val="108000"/>
              </a:lnSpc>
              <a:spcBef>
                <a:spcPts val="0"/>
              </a:spcBef>
              <a:spcAft>
                <a:spcPts val="0"/>
              </a:spcAft>
            </a:pPr>
            <a:r>
              <a:rPr sz="1200" b="0" i="0">
                <a:solidFill>
                  <a:srgbClr val="5E6B84"/>
                </a:solidFill>
                <a:latin typeface="Aptos"/>
              </a:rPr>
              <a:t>Mostly off</a:t>
            </a:r>
          </a:p>
        </p:txBody>
      </p:sp>
      <p:sp>
        <p:nvSpPr>
          <p:cNvPr id="13" name="Rectangle 12"/>
          <p:cNvSpPr/>
          <p:nvPr/>
        </p:nvSpPr>
        <p:spPr>
          <a:xfrm>
            <a:off x="1124712" y="3273552"/>
            <a:ext cx="2606040" cy="219456"/>
          </a:xfrm>
          <a:prstGeom prst="rect">
            <a:avLst/>
          </a:prstGeom>
          <a:solidFill>
            <a:srgbClr val="E5EA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4712" y="3273552"/>
            <a:ext cx="45720" cy="219456"/>
          </a:xfrm>
          <a:prstGeom prst="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24712" y="3703320"/>
            <a:ext cx="2560320" cy="274320"/>
          </a:xfrm>
          <a:prstGeom prst="rect">
            <a:avLst/>
          </a:prstGeom>
          <a:noFill/>
        </p:spPr>
        <p:txBody>
          <a:bodyPr wrap="square" lIns="0" rIns="0" tIns="0" bIns="0" anchor="t">
            <a:normAutofit/>
          </a:bodyPr>
          <a:lstStyle/>
          <a:p>
            <a:pPr algn="l">
              <a:lnSpc>
                <a:spcPct val="108000"/>
              </a:lnSpc>
              <a:spcBef>
                <a:spcPts val="0"/>
              </a:spcBef>
              <a:spcAft>
                <a:spcPts val="0"/>
              </a:spcAft>
            </a:pPr>
            <a:r>
              <a:rPr sz="1200" b="1" i="0">
                <a:solidFill>
                  <a:srgbClr val="1B2740"/>
                </a:solidFill>
                <a:latin typeface="Aptos"/>
              </a:rPr>
              <a:t>On-time: 0%</a:t>
            </a:r>
          </a:p>
        </p:txBody>
      </p:sp>
      <p:sp>
        <p:nvSpPr>
          <p:cNvPr id="16" name="Rounded Rectangle 15"/>
          <p:cNvSpPr/>
          <p:nvPr/>
        </p:nvSpPr>
        <p:spPr>
          <a:xfrm>
            <a:off x="4599432" y="1920240"/>
            <a:ext cx="3246120" cy="288036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709160" y="2084832"/>
            <a:ext cx="64008" cy="2551176"/>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10328" y="2075688"/>
            <a:ext cx="2770632"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MEDIUM / 50%</a:t>
            </a:r>
          </a:p>
        </p:txBody>
      </p:sp>
      <p:sp>
        <p:nvSpPr>
          <p:cNvPr id="19" name="TextBox 18"/>
          <p:cNvSpPr txBox="1"/>
          <p:nvPr/>
        </p:nvSpPr>
        <p:spPr>
          <a:xfrm>
            <a:off x="4910328" y="2468880"/>
            <a:ext cx="2770632" cy="2185415"/>
          </a:xfrm>
          <a:prstGeom prst="rect">
            <a:avLst/>
          </a:prstGeom>
          <a:noFill/>
        </p:spPr>
        <p:txBody>
          <a:bodyPr wrap="square" lIns="0" rIns="0" tIns="0" bIns="0" anchor="t">
            <a:normAutofit/>
          </a:bodyPr>
          <a:lstStyle/>
          <a:p>
            <a:pPr algn="l">
              <a:lnSpc>
                <a:spcPct val="108000"/>
              </a:lnSpc>
              <a:spcBef>
                <a:spcPts val="0"/>
              </a:spcBef>
              <a:spcAft>
                <a:spcPts val="0"/>
              </a:spcAft>
            </a:pPr>
            <a:r>
              <a:rPr sz="1200" b="0" i="0">
                <a:solidFill>
                  <a:srgbClr val="5E6B84"/>
                </a:solidFill>
                <a:latin typeface="Aptos"/>
              </a:rPr>
              <a:t>Half the cycle on</a:t>
            </a:r>
          </a:p>
        </p:txBody>
      </p:sp>
      <p:sp>
        <p:nvSpPr>
          <p:cNvPr id="20" name="Rectangle 19"/>
          <p:cNvSpPr/>
          <p:nvPr/>
        </p:nvSpPr>
        <p:spPr>
          <a:xfrm>
            <a:off x="4919472" y="3273552"/>
            <a:ext cx="2606040" cy="219456"/>
          </a:xfrm>
          <a:prstGeom prst="rect">
            <a:avLst/>
          </a:prstGeom>
          <a:solidFill>
            <a:srgbClr val="E5EA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19472" y="3273552"/>
            <a:ext cx="1303020" cy="219456"/>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19472" y="3703320"/>
            <a:ext cx="2560320" cy="274320"/>
          </a:xfrm>
          <a:prstGeom prst="rect">
            <a:avLst/>
          </a:prstGeom>
          <a:noFill/>
        </p:spPr>
        <p:txBody>
          <a:bodyPr wrap="square" lIns="0" rIns="0" tIns="0" bIns="0" anchor="t">
            <a:normAutofit/>
          </a:bodyPr>
          <a:lstStyle/>
          <a:p>
            <a:pPr algn="l">
              <a:lnSpc>
                <a:spcPct val="108000"/>
              </a:lnSpc>
              <a:spcBef>
                <a:spcPts val="0"/>
              </a:spcBef>
              <a:spcAft>
                <a:spcPts val="0"/>
              </a:spcAft>
            </a:pPr>
            <a:r>
              <a:rPr sz="1200" b="1" i="0">
                <a:solidFill>
                  <a:srgbClr val="1B2740"/>
                </a:solidFill>
                <a:latin typeface="Aptos"/>
              </a:rPr>
              <a:t>On-time: 50%</a:t>
            </a:r>
          </a:p>
        </p:txBody>
      </p:sp>
      <p:sp>
        <p:nvSpPr>
          <p:cNvPr id="23" name="Rounded Rectangle 22"/>
          <p:cNvSpPr/>
          <p:nvPr/>
        </p:nvSpPr>
        <p:spPr>
          <a:xfrm>
            <a:off x="8394192" y="1920240"/>
            <a:ext cx="3246120" cy="288036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503920" y="2084832"/>
            <a:ext cx="64008" cy="2551176"/>
          </a:xfrm>
          <a:prstGeom prst="round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05088" y="2075688"/>
            <a:ext cx="2770632"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HIGH / 100%</a:t>
            </a:r>
          </a:p>
        </p:txBody>
      </p:sp>
      <p:sp>
        <p:nvSpPr>
          <p:cNvPr id="26" name="TextBox 25"/>
          <p:cNvSpPr txBox="1"/>
          <p:nvPr/>
        </p:nvSpPr>
        <p:spPr>
          <a:xfrm>
            <a:off x="8705088" y="2468880"/>
            <a:ext cx="2770632" cy="2185415"/>
          </a:xfrm>
          <a:prstGeom prst="rect">
            <a:avLst/>
          </a:prstGeom>
          <a:noFill/>
        </p:spPr>
        <p:txBody>
          <a:bodyPr wrap="square" lIns="0" rIns="0" tIns="0" bIns="0" anchor="t">
            <a:normAutofit/>
          </a:bodyPr>
          <a:lstStyle/>
          <a:p>
            <a:pPr algn="l">
              <a:lnSpc>
                <a:spcPct val="108000"/>
              </a:lnSpc>
              <a:spcBef>
                <a:spcPts val="0"/>
              </a:spcBef>
              <a:spcAft>
                <a:spcPts val="0"/>
              </a:spcAft>
            </a:pPr>
            <a:r>
              <a:rPr sz="1200" b="0" i="0">
                <a:solidFill>
                  <a:srgbClr val="5E6B84"/>
                </a:solidFill>
                <a:latin typeface="Aptos"/>
              </a:rPr>
              <a:t>Always on</a:t>
            </a:r>
          </a:p>
        </p:txBody>
      </p:sp>
      <p:sp>
        <p:nvSpPr>
          <p:cNvPr id="27" name="Rectangle 26"/>
          <p:cNvSpPr/>
          <p:nvPr/>
        </p:nvSpPr>
        <p:spPr>
          <a:xfrm>
            <a:off x="8714232" y="3273552"/>
            <a:ext cx="2606040" cy="219456"/>
          </a:xfrm>
          <a:prstGeom prst="rect">
            <a:avLst/>
          </a:prstGeom>
          <a:solidFill>
            <a:srgbClr val="E5EA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714232" y="3273552"/>
            <a:ext cx="2606040" cy="219456"/>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14232" y="3703320"/>
            <a:ext cx="2560320" cy="274320"/>
          </a:xfrm>
          <a:prstGeom prst="rect">
            <a:avLst/>
          </a:prstGeom>
          <a:noFill/>
        </p:spPr>
        <p:txBody>
          <a:bodyPr wrap="square" lIns="0" rIns="0" tIns="0" bIns="0" anchor="t">
            <a:normAutofit/>
          </a:bodyPr>
          <a:lstStyle/>
          <a:p>
            <a:pPr algn="l">
              <a:lnSpc>
                <a:spcPct val="108000"/>
              </a:lnSpc>
              <a:spcBef>
                <a:spcPts val="0"/>
              </a:spcBef>
              <a:spcAft>
                <a:spcPts val="0"/>
              </a:spcAft>
            </a:pPr>
            <a:r>
              <a:rPr sz="1200" b="1" i="0">
                <a:solidFill>
                  <a:srgbClr val="1B2740"/>
                </a:solidFill>
                <a:latin typeface="Aptos"/>
              </a:rPr>
              <a:t>On-time: 100%</a:t>
            </a:r>
          </a:p>
        </p:txBody>
      </p:sp>
      <p:sp>
        <p:nvSpPr>
          <p:cNvPr id="30" name="TextBox 29"/>
          <p:cNvSpPr txBox="1"/>
          <p:nvPr/>
        </p:nvSpPr>
        <p:spPr>
          <a:xfrm>
            <a:off x="822960" y="5285232"/>
            <a:ext cx="10515600" cy="493776"/>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Used in the project page for brightness dimming and motor-speed control. Real hardware may need a suitable motor driver or circuit.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362456" cy="256032"/>
          </a:xfrm>
          <a:prstGeom prst="roundRect">
            <a:avLst/>
          </a:prstGeom>
          <a:solidFill>
            <a:srgbClr val="FF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143000"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23856F"/>
                </a:solidFill>
                <a:latin typeface="Aptos"/>
              </a:rPr>
              <a:t>KEY CONCEPT</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Buttons need logic, not just wiring</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A dependable user interface detects a real press, changes a saved state, and produces a predictable action.</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43</a:t>
            </a:r>
          </a:p>
        </p:txBody>
      </p:sp>
      <p:sp>
        <p:nvSpPr>
          <p:cNvPr id="9" name="Rounded Rectangle 8"/>
          <p:cNvSpPr/>
          <p:nvPr/>
        </p:nvSpPr>
        <p:spPr>
          <a:xfrm>
            <a:off x="658368" y="2084831"/>
            <a:ext cx="2523744" cy="210312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8096" y="2249424"/>
            <a:ext cx="64008" cy="1773936"/>
          </a:xfrm>
          <a:prstGeom prst="round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240279"/>
            <a:ext cx="2048255"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1  Detect</a:t>
            </a:r>
          </a:p>
        </p:txBody>
      </p:sp>
      <p:sp>
        <p:nvSpPr>
          <p:cNvPr id="12" name="TextBox 11"/>
          <p:cNvSpPr txBox="1"/>
          <p:nvPr/>
        </p:nvSpPr>
        <p:spPr>
          <a:xfrm>
            <a:off x="969264" y="2633472"/>
            <a:ext cx="2048255" cy="1408176"/>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Read the input pin and check whether the button is pressed.</a:t>
            </a:r>
          </a:p>
        </p:txBody>
      </p:sp>
      <p:sp>
        <p:nvSpPr>
          <p:cNvPr id="13" name="TextBox 12"/>
          <p:cNvSpPr txBox="1"/>
          <p:nvPr/>
        </p:nvSpPr>
        <p:spPr>
          <a:xfrm>
            <a:off x="3200400" y="2816352"/>
            <a:ext cx="256032" cy="365760"/>
          </a:xfrm>
          <a:prstGeom prst="rect">
            <a:avLst/>
          </a:prstGeom>
          <a:noFill/>
        </p:spPr>
        <p:txBody>
          <a:bodyPr wrap="square" lIns="0" rIns="0" tIns="0" bIns="0" anchor="t">
            <a:normAutofit/>
          </a:bodyPr>
          <a:lstStyle/>
          <a:p>
            <a:pPr algn="ctr">
              <a:lnSpc>
                <a:spcPct val="108000"/>
              </a:lnSpc>
              <a:spcBef>
                <a:spcPts val="0"/>
              </a:spcBef>
              <a:spcAft>
                <a:spcPts val="0"/>
              </a:spcAft>
            </a:pPr>
            <a:r>
              <a:rPr sz="2200" b="1" i="0">
                <a:solidFill>
                  <a:srgbClr val="8B96AA"/>
                </a:solidFill>
                <a:latin typeface="Aptos"/>
              </a:rPr>
              <a:t>→</a:t>
            </a:r>
          </a:p>
        </p:txBody>
      </p:sp>
      <p:sp>
        <p:nvSpPr>
          <p:cNvPr id="14" name="Rounded Rectangle 13"/>
          <p:cNvSpPr/>
          <p:nvPr/>
        </p:nvSpPr>
        <p:spPr>
          <a:xfrm>
            <a:off x="3538728" y="2084831"/>
            <a:ext cx="2523744" cy="210312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48456" y="2249424"/>
            <a:ext cx="64008" cy="1773936"/>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9624" y="2240279"/>
            <a:ext cx="2048255"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2  Debounce</a:t>
            </a:r>
          </a:p>
        </p:txBody>
      </p:sp>
      <p:sp>
        <p:nvSpPr>
          <p:cNvPr id="17" name="TextBox 16"/>
          <p:cNvSpPr txBox="1"/>
          <p:nvPr/>
        </p:nvSpPr>
        <p:spPr>
          <a:xfrm>
            <a:off x="3849624" y="2633472"/>
            <a:ext cx="2048255" cy="1408176"/>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Ignore extremely rapid changes that may come from the physical switch.</a:t>
            </a:r>
          </a:p>
        </p:txBody>
      </p:sp>
      <p:sp>
        <p:nvSpPr>
          <p:cNvPr id="18" name="TextBox 17"/>
          <p:cNvSpPr txBox="1"/>
          <p:nvPr/>
        </p:nvSpPr>
        <p:spPr>
          <a:xfrm>
            <a:off x="6080760" y="2816352"/>
            <a:ext cx="256032" cy="365760"/>
          </a:xfrm>
          <a:prstGeom prst="rect">
            <a:avLst/>
          </a:prstGeom>
          <a:noFill/>
        </p:spPr>
        <p:txBody>
          <a:bodyPr wrap="square" lIns="0" rIns="0" tIns="0" bIns="0" anchor="t">
            <a:normAutofit/>
          </a:bodyPr>
          <a:lstStyle/>
          <a:p>
            <a:pPr algn="ctr">
              <a:lnSpc>
                <a:spcPct val="108000"/>
              </a:lnSpc>
              <a:spcBef>
                <a:spcPts val="0"/>
              </a:spcBef>
              <a:spcAft>
                <a:spcPts val="0"/>
              </a:spcAft>
            </a:pPr>
            <a:r>
              <a:rPr sz="2200" b="1" i="0">
                <a:solidFill>
                  <a:srgbClr val="8B96AA"/>
                </a:solidFill>
                <a:latin typeface="Aptos"/>
              </a:rPr>
              <a:t>→</a:t>
            </a:r>
          </a:p>
        </p:txBody>
      </p:sp>
      <p:sp>
        <p:nvSpPr>
          <p:cNvPr id="19" name="Rounded Rectangle 18"/>
          <p:cNvSpPr/>
          <p:nvPr/>
        </p:nvSpPr>
        <p:spPr>
          <a:xfrm>
            <a:off x="6419088" y="2084831"/>
            <a:ext cx="2523744" cy="210312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28816" y="2249424"/>
            <a:ext cx="64008" cy="1773936"/>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9983" y="2240279"/>
            <a:ext cx="2048255"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3  Update state</a:t>
            </a:r>
          </a:p>
        </p:txBody>
      </p:sp>
      <p:sp>
        <p:nvSpPr>
          <p:cNvPr id="22" name="TextBox 21"/>
          <p:cNvSpPr txBox="1"/>
          <p:nvPr/>
        </p:nvSpPr>
        <p:spPr>
          <a:xfrm>
            <a:off x="6729983" y="2633472"/>
            <a:ext cx="2048255" cy="1408176"/>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Change ON to OFF, or OFF to ON, only once per press.</a:t>
            </a:r>
          </a:p>
        </p:txBody>
      </p:sp>
      <p:sp>
        <p:nvSpPr>
          <p:cNvPr id="23" name="TextBox 22"/>
          <p:cNvSpPr txBox="1"/>
          <p:nvPr/>
        </p:nvSpPr>
        <p:spPr>
          <a:xfrm>
            <a:off x="8961119" y="2816352"/>
            <a:ext cx="256032" cy="365760"/>
          </a:xfrm>
          <a:prstGeom prst="rect">
            <a:avLst/>
          </a:prstGeom>
          <a:noFill/>
        </p:spPr>
        <p:txBody>
          <a:bodyPr wrap="square" lIns="0" rIns="0" tIns="0" bIns="0" anchor="t">
            <a:normAutofit/>
          </a:bodyPr>
          <a:lstStyle/>
          <a:p>
            <a:pPr algn="ctr">
              <a:lnSpc>
                <a:spcPct val="108000"/>
              </a:lnSpc>
              <a:spcBef>
                <a:spcPts val="0"/>
              </a:spcBef>
              <a:spcAft>
                <a:spcPts val="0"/>
              </a:spcAft>
            </a:pPr>
            <a:r>
              <a:rPr sz="2200" b="1" i="0">
                <a:solidFill>
                  <a:srgbClr val="8B96AA"/>
                </a:solidFill>
                <a:latin typeface="Aptos"/>
              </a:rPr>
              <a:t>→</a:t>
            </a:r>
          </a:p>
        </p:txBody>
      </p:sp>
      <p:sp>
        <p:nvSpPr>
          <p:cNvPr id="24" name="Rounded Rectangle 23"/>
          <p:cNvSpPr/>
          <p:nvPr/>
        </p:nvSpPr>
        <p:spPr>
          <a:xfrm>
            <a:off x="9299448" y="2084831"/>
            <a:ext cx="2523744" cy="210312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409176" y="2249424"/>
            <a:ext cx="64008" cy="1773936"/>
          </a:xfrm>
          <a:prstGeom prst="round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10344" y="2240279"/>
            <a:ext cx="2048255"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4  Show the result</a:t>
            </a:r>
          </a:p>
        </p:txBody>
      </p:sp>
      <p:sp>
        <p:nvSpPr>
          <p:cNvPr id="27" name="TextBox 26"/>
          <p:cNvSpPr txBox="1"/>
          <p:nvPr/>
        </p:nvSpPr>
        <p:spPr>
          <a:xfrm>
            <a:off x="9610344" y="2633472"/>
            <a:ext cx="2048255" cy="1408176"/>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Update an LED, screen, or recorded event so the user sees what happened.</a:t>
            </a:r>
          </a:p>
        </p:txBody>
      </p:sp>
      <p:sp>
        <p:nvSpPr>
          <p:cNvPr id="28" name="Rounded Rectangle 27"/>
          <p:cNvSpPr/>
          <p:nvPr/>
        </p:nvSpPr>
        <p:spPr>
          <a:xfrm>
            <a:off x="950976" y="4617720"/>
            <a:ext cx="10149840" cy="96012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60704" y="4782312"/>
            <a:ext cx="64008" cy="630936"/>
          </a:xfrm>
          <a:prstGeom prst="roundRect">
            <a:avLst/>
          </a:prstGeom>
          <a:solidFill>
            <a:srgbClr val="2385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61872" y="4773168"/>
            <a:ext cx="9674352"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State machine</a:t>
            </a:r>
          </a:p>
        </p:txBody>
      </p:sp>
      <p:sp>
        <p:nvSpPr>
          <p:cNvPr id="31" name="TextBox 30"/>
          <p:cNvSpPr txBox="1"/>
          <p:nvPr/>
        </p:nvSpPr>
        <p:spPr>
          <a:xfrm>
            <a:off x="1261872" y="5166359"/>
            <a:ext cx="9674352" cy="265176"/>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A simple rule table can define what each input means in each state. This makes manual override, toggles, and stop modes easier to test.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362456" cy="256032"/>
          </a:xfrm>
          <a:prstGeom prst="roundRect">
            <a:avLst/>
          </a:prstGeom>
          <a:solidFill>
            <a:srgbClr val="FFF4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143000"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E9A23B"/>
                </a:solidFill>
                <a:latin typeface="Aptos"/>
              </a:rPr>
              <a:t>KEY CONCEPT</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Thresholds turn readings into decisions</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A numeric sensor reading becomes useful when the program has a clear rule for interpreting it.</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44</a:t>
            </a:r>
          </a:p>
        </p:txBody>
      </p:sp>
      <p:sp>
        <p:nvSpPr>
          <p:cNvPr id="9" name="Rounded Rectangle 8"/>
          <p:cNvSpPr/>
          <p:nvPr/>
        </p:nvSpPr>
        <p:spPr>
          <a:xfrm>
            <a:off x="713232" y="1920240"/>
            <a:ext cx="3337560" cy="237744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2084832"/>
            <a:ext cx="64008" cy="2048256"/>
          </a:xfrm>
          <a:prstGeom prst="round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075688"/>
            <a:ext cx="2862072" cy="356616"/>
          </a:xfrm>
          <a:prstGeom prst="rect">
            <a:avLst/>
          </a:prstGeom>
          <a:noFill/>
        </p:spPr>
        <p:txBody>
          <a:bodyPr wrap="square" lIns="0" rIns="0" tIns="0" bIns="0" anchor="t">
            <a:normAutofit/>
          </a:bodyPr>
          <a:lstStyle/>
          <a:p>
            <a:pPr algn="l">
              <a:lnSpc>
                <a:spcPct val="108000"/>
              </a:lnSpc>
              <a:spcBef>
                <a:spcPts val="0"/>
              </a:spcBef>
              <a:spcAft>
                <a:spcPts val="0"/>
              </a:spcAft>
            </a:pPr>
            <a:r>
              <a:rPr sz="1500" b="1" i="0">
                <a:solidFill>
                  <a:srgbClr val="1B2740"/>
                </a:solidFill>
                <a:latin typeface="Aptos"/>
              </a:rPr>
              <a:t>Read a value</a:t>
            </a:r>
          </a:p>
        </p:txBody>
      </p:sp>
      <p:sp>
        <p:nvSpPr>
          <p:cNvPr id="12" name="TextBox 11"/>
          <p:cNvSpPr txBox="1"/>
          <p:nvPr/>
        </p:nvSpPr>
        <p:spPr>
          <a:xfrm>
            <a:off x="1024128" y="2468880"/>
            <a:ext cx="2862072" cy="1682496"/>
          </a:xfrm>
          <a:prstGeom prst="rect">
            <a:avLst/>
          </a:prstGeom>
          <a:noFill/>
        </p:spPr>
        <p:txBody>
          <a:bodyPr wrap="square" lIns="0" rIns="0" tIns="0" bIns="0" anchor="t">
            <a:normAutofit/>
          </a:bodyPr>
          <a:lstStyle/>
          <a:p>
            <a:pPr algn="l">
              <a:lnSpc>
                <a:spcPct val="108000"/>
              </a:lnSpc>
              <a:spcBef>
                <a:spcPts val="0"/>
              </a:spcBef>
              <a:spcAft>
                <a:spcPts val="0"/>
              </a:spcAft>
            </a:pPr>
            <a:r>
              <a:rPr sz="1200" b="0" i="0">
                <a:solidFill>
                  <a:srgbClr val="5E6B84"/>
                </a:solidFill>
                <a:latin typeface="Aptos"/>
              </a:rPr>
              <a:t>Example: a light sensor returns a reading. The program checks whether it is below a chosen “dark” threshold.</a:t>
            </a:r>
          </a:p>
        </p:txBody>
      </p:sp>
      <p:sp>
        <p:nvSpPr>
          <p:cNvPr id="13" name="TextBox 12"/>
          <p:cNvSpPr txBox="1"/>
          <p:nvPr/>
        </p:nvSpPr>
        <p:spPr>
          <a:xfrm>
            <a:off x="4050791" y="2788920"/>
            <a:ext cx="347472" cy="384048"/>
          </a:xfrm>
          <a:prstGeom prst="rect">
            <a:avLst/>
          </a:prstGeom>
          <a:noFill/>
        </p:spPr>
        <p:txBody>
          <a:bodyPr wrap="square" lIns="0" rIns="0" tIns="0" bIns="0" anchor="t">
            <a:normAutofit/>
          </a:bodyPr>
          <a:lstStyle/>
          <a:p>
            <a:pPr algn="ctr">
              <a:lnSpc>
                <a:spcPct val="108000"/>
              </a:lnSpc>
              <a:spcBef>
                <a:spcPts val="0"/>
              </a:spcBef>
              <a:spcAft>
                <a:spcPts val="0"/>
              </a:spcAft>
            </a:pPr>
            <a:r>
              <a:rPr sz="2400" b="1" i="0">
                <a:solidFill>
                  <a:srgbClr val="8B96AA"/>
                </a:solidFill>
                <a:latin typeface="Aptos"/>
              </a:rPr>
              <a:t>→</a:t>
            </a:r>
          </a:p>
        </p:txBody>
      </p:sp>
      <p:sp>
        <p:nvSpPr>
          <p:cNvPr id="14" name="Rounded Rectangle 13"/>
          <p:cNvSpPr/>
          <p:nvPr/>
        </p:nvSpPr>
        <p:spPr>
          <a:xfrm>
            <a:off x="4434840" y="1920240"/>
            <a:ext cx="3337560" cy="237744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44568" y="2084832"/>
            <a:ext cx="64008" cy="2048256"/>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45736" y="2075688"/>
            <a:ext cx="2862072" cy="356616"/>
          </a:xfrm>
          <a:prstGeom prst="rect">
            <a:avLst/>
          </a:prstGeom>
          <a:noFill/>
        </p:spPr>
        <p:txBody>
          <a:bodyPr wrap="square" lIns="0" rIns="0" tIns="0" bIns="0" anchor="t">
            <a:normAutofit/>
          </a:bodyPr>
          <a:lstStyle/>
          <a:p>
            <a:pPr algn="l">
              <a:lnSpc>
                <a:spcPct val="108000"/>
              </a:lnSpc>
              <a:spcBef>
                <a:spcPts val="0"/>
              </a:spcBef>
              <a:spcAft>
                <a:spcPts val="0"/>
              </a:spcAft>
            </a:pPr>
            <a:r>
              <a:rPr sz="1500" b="1" i="0">
                <a:solidFill>
                  <a:srgbClr val="1B2740"/>
                </a:solidFill>
                <a:latin typeface="Aptos"/>
              </a:rPr>
              <a:t>Apply a rule</a:t>
            </a:r>
          </a:p>
        </p:txBody>
      </p:sp>
      <p:sp>
        <p:nvSpPr>
          <p:cNvPr id="17" name="TextBox 16"/>
          <p:cNvSpPr txBox="1"/>
          <p:nvPr/>
        </p:nvSpPr>
        <p:spPr>
          <a:xfrm>
            <a:off x="4745736" y="2468880"/>
            <a:ext cx="2862072" cy="1682496"/>
          </a:xfrm>
          <a:prstGeom prst="rect">
            <a:avLst/>
          </a:prstGeom>
          <a:noFill/>
        </p:spPr>
        <p:txBody>
          <a:bodyPr wrap="square" lIns="0" rIns="0" tIns="0" bIns="0" anchor="t">
            <a:normAutofit/>
          </a:bodyPr>
          <a:lstStyle/>
          <a:p>
            <a:pPr algn="l">
              <a:lnSpc>
                <a:spcPct val="108000"/>
              </a:lnSpc>
              <a:spcBef>
                <a:spcPts val="0"/>
              </a:spcBef>
              <a:spcAft>
                <a:spcPts val="0"/>
              </a:spcAft>
            </a:pPr>
            <a:r>
              <a:rPr sz="1200" b="0" i="0">
                <a:solidFill>
                  <a:srgbClr val="5E6B84"/>
                </a:solidFill>
                <a:latin typeface="Aptos"/>
              </a:rPr>
              <a:t>If the reading is below the threshold, request the lamp to turn on. Otherwise, request it to turn off.</a:t>
            </a:r>
          </a:p>
        </p:txBody>
      </p:sp>
      <p:sp>
        <p:nvSpPr>
          <p:cNvPr id="18" name="TextBox 17"/>
          <p:cNvSpPr txBox="1"/>
          <p:nvPr/>
        </p:nvSpPr>
        <p:spPr>
          <a:xfrm>
            <a:off x="7781544" y="2788920"/>
            <a:ext cx="347472" cy="384048"/>
          </a:xfrm>
          <a:prstGeom prst="rect">
            <a:avLst/>
          </a:prstGeom>
          <a:noFill/>
        </p:spPr>
        <p:txBody>
          <a:bodyPr wrap="square" lIns="0" rIns="0" tIns="0" bIns="0" anchor="t">
            <a:normAutofit/>
          </a:bodyPr>
          <a:lstStyle/>
          <a:p>
            <a:pPr algn="ctr">
              <a:lnSpc>
                <a:spcPct val="108000"/>
              </a:lnSpc>
              <a:spcBef>
                <a:spcPts val="0"/>
              </a:spcBef>
              <a:spcAft>
                <a:spcPts val="0"/>
              </a:spcAft>
            </a:pPr>
            <a:r>
              <a:rPr sz="2400" b="1" i="0">
                <a:solidFill>
                  <a:srgbClr val="8B96AA"/>
                </a:solidFill>
                <a:latin typeface="Aptos"/>
              </a:rPr>
              <a:t>→</a:t>
            </a:r>
          </a:p>
        </p:txBody>
      </p:sp>
      <p:sp>
        <p:nvSpPr>
          <p:cNvPr id="19" name="Rounded Rectangle 18"/>
          <p:cNvSpPr/>
          <p:nvPr/>
        </p:nvSpPr>
        <p:spPr>
          <a:xfrm>
            <a:off x="8165592" y="1920240"/>
            <a:ext cx="3337560" cy="237744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75319" y="2084832"/>
            <a:ext cx="64008" cy="2048256"/>
          </a:xfrm>
          <a:prstGeom prst="round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76488" y="2075688"/>
            <a:ext cx="2862072" cy="356616"/>
          </a:xfrm>
          <a:prstGeom prst="rect">
            <a:avLst/>
          </a:prstGeom>
          <a:noFill/>
        </p:spPr>
        <p:txBody>
          <a:bodyPr wrap="square" lIns="0" rIns="0" tIns="0" bIns="0" anchor="t">
            <a:normAutofit/>
          </a:bodyPr>
          <a:lstStyle/>
          <a:p>
            <a:pPr algn="l">
              <a:lnSpc>
                <a:spcPct val="108000"/>
              </a:lnSpc>
              <a:spcBef>
                <a:spcPts val="0"/>
              </a:spcBef>
              <a:spcAft>
                <a:spcPts val="0"/>
              </a:spcAft>
            </a:pPr>
            <a:r>
              <a:rPr sz="1500" b="1" i="0">
                <a:solidFill>
                  <a:srgbClr val="1B2740"/>
                </a:solidFill>
                <a:latin typeface="Aptos"/>
              </a:rPr>
              <a:t>Give feedback</a:t>
            </a:r>
          </a:p>
        </p:txBody>
      </p:sp>
      <p:sp>
        <p:nvSpPr>
          <p:cNvPr id="22" name="TextBox 21"/>
          <p:cNvSpPr txBox="1"/>
          <p:nvPr/>
        </p:nvSpPr>
        <p:spPr>
          <a:xfrm>
            <a:off x="8476488" y="2468880"/>
            <a:ext cx="2862072" cy="1682496"/>
          </a:xfrm>
          <a:prstGeom prst="rect">
            <a:avLst/>
          </a:prstGeom>
          <a:noFill/>
        </p:spPr>
        <p:txBody>
          <a:bodyPr wrap="square" lIns="0" rIns="0" tIns="0" bIns="0" anchor="t">
            <a:normAutofit/>
          </a:bodyPr>
          <a:lstStyle/>
          <a:p>
            <a:pPr algn="l">
              <a:lnSpc>
                <a:spcPct val="108000"/>
              </a:lnSpc>
              <a:spcBef>
                <a:spcPts val="0"/>
              </a:spcBef>
              <a:spcAft>
                <a:spcPts val="0"/>
              </a:spcAft>
            </a:pPr>
            <a:r>
              <a:rPr sz="1200" b="0" i="0">
                <a:solidFill>
                  <a:srgbClr val="5E6B84"/>
                </a:solidFill>
                <a:latin typeface="Aptos"/>
              </a:rPr>
              <a:t>Update the LED or display. If required, add an alert and record the value for later review.</a:t>
            </a:r>
          </a:p>
        </p:txBody>
      </p:sp>
      <p:sp>
        <p:nvSpPr>
          <p:cNvPr id="23" name="Rounded Rectangle 22"/>
          <p:cNvSpPr/>
          <p:nvPr/>
        </p:nvSpPr>
        <p:spPr>
          <a:xfrm>
            <a:off x="1005840" y="4754880"/>
            <a:ext cx="10058400" cy="86868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115568" y="4919472"/>
            <a:ext cx="64008" cy="539496"/>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16736" y="4910328"/>
            <a:ext cx="9582912"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Design tip</a:t>
            </a:r>
          </a:p>
        </p:txBody>
      </p:sp>
      <p:sp>
        <p:nvSpPr>
          <p:cNvPr id="26" name="TextBox 25"/>
          <p:cNvSpPr txBox="1"/>
          <p:nvPr/>
        </p:nvSpPr>
        <p:spPr>
          <a:xfrm>
            <a:off x="1316736" y="5303520"/>
            <a:ext cx="9582912" cy="256032"/>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For real devices, test values near the threshold and avoid switching states repeatedly when a reading fluctuates.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362456" cy="256032"/>
          </a:xfrm>
          <a:prstGeom prst="roundRect">
            <a:avLst/>
          </a:prstGeom>
          <a:solidFill>
            <a:srgbClr val="FF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143000"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E67896"/>
                </a:solidFill>
                <a:latin typeface="Aptos"/>
              </a:rPr>
              <a:t>KEY CONCEPT</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Displays and logs answer different questions</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A display shows what is happening now; a log helps explain what happened earlier.</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45</a:t>
            </a:r>
          </a:p>
        </p:txBody>
      </p:sp>
      <p:sp>
        <p:nvSpPr>
          <p:cNvPr id="9" name="Rounded Rectangle 8"/>
          <p:cNvSpPr/>
          <p:nvPr/>
        </p:nvSpPr>
        <p:spPr>
          <a:xfrm>
            <a:off x="749808" y="1938528"/>
            <a:ext cx="5102352" cy="246888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59536" y="2103120"/>
            <a:ext cx="64008" cy="2139696"/>
          </a:xfrm>
          <a:prstGeom prst="roundRect">
            <a:avLst/>
          </a:prstGeom>
          <a:solidFill>
            <a:srgbClr val="E67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2093976"/>
            <a:ext cx="4626864" cy="356616"/>
          </a:xfrm>
          <a:prstGeom prst="rect">
            <a:avLst/>
          </a:prstGeom>
          <a:noFill/>
        </p:spPr>
        <p:txBody>
          <a:bodyPr wrap="square" lIns="0" rIns="0" tIns="0" bIns="0" anchor="t">
            <a:normAutofit/>
          </a:bodyPr>
          <a:lstStyle/>
          <a:p>
            <a:pPr algn="l">
              <a:lnSpc>
                <a:spcPct val="108000"/>
              </a:lnSpc>
              <a:spcBef>
                <a:spcPts val="0"/>
              </a:spcBef>
              <a:spcAft>
                <a:spcPts val="0"/>
              </a:spcAft>
            </a:pPr>
            <a:r>
              <a:rPr sz="1600" b="1" i="0">
                <a:solidFill>
                  <a:srgbClr val="1B2740"/>
                </a:solidFill>
                <a:latin typeface="Aptos"/>
              </a:rPr>
              <a:t>Live display</a:t>
            </a:r>
          </a:p>
        </p:txBody>
      </p:sp>
      <p:sp>
        <p:nvSpPr>
          <p:cNvPr id="12" name="TextBox 11"/>
          <p:cNvSpPr txBox="1"/>
          <p:nvPr/>
        </p:nvSpPr>
        <p:spPr>
          <a:xfrm>
            <a:off x="1060704" y="2487168"/>
            <a:ext cx="4626864" cy="1773936"/>
          </a:xfrm>
          <a:prstGeom prst="rect">
            <a:avLst/>
          </a:prstGeom>
          <a:noFill/>
        </p:spPr>
        <p:txBody>
          <a:bodyPr wrap="square" lIns="0" rIns="0" tIns="0" bIns="0" anchor="t">
            <a:normAutofit/>
          </a:bodyPr>
          <a:lstStyle/>
          <a:p>
            <a:pPr algn="l">
              <a:lnSpc>
                <a:spcPct val="108000"/>
              </a:lnSpc>
              <a:spcBef>
                <a:spcPts val="0"/>
              </a:spcBef>
              <a:spcAft>
                <a:spcPts val="300"/>
              </a:spcAft>
            </a:pPr>
            <a:r>
              <a:rPr sz="1200" b="0" i="0">
                <a:solidFill>
                  <a:srgbClr val="5E6B84"/>
                </a:solidFill>
                <a:latin typeface="Aptos"/>
              </a:rPr>
              <a:t>• Current temperature and humidity</a:t>
            </a:r>
          </a:p>
          <a:p>
            <a:pPr algn="l">
              <a:lnSpc>
                <a:spcPct val="108000"/>
              </a:lnSpc>
              <a:spcBef>
                <a:spcPts val="0"/>
              </a:spcBef>
              <a:spcAft>
                <a:spcPts val="300"/>
              </a:spcAft>
            </a:pPr>
            <a:r>
              <a:rPr sz="1200" b="0" i="0">
                <a:solidFill>
                  <a:srgbClr val="5E6B84"/>
                </a:solidFill>
                <a:latin typeface="Aptos"/>
              </a:rPr>
              <a:t>• Current light level or device state</a:t>
            </a:r>
          </a:p>
          <a:p>
            <a:pPr algn="l">
              <a:lnSpc>
                <a:spcPct val="108000"/>
              </a:lnSpc>
              <a:spcBef>
                <a:spcPts val="0"/>
              </a:spcBef>
              <a:spcAft>
                <a:spcPts val="300"/>
              </a:spcAft>
            </a:pPr>
            <a:r>
              <a:rPr sz="1200" b="0" i="0">
                <a:solidFill>
                  <a:srgbClr val="5E6B84"/>
                </a:solidFill>
                <a:latin typeface="Aptos"/>
              </a:rPr>
              <a:t>• Clear status label: OK / CHECK</a:t>
            </a:r>
          </a:p>
          <a:p>
            <a:pPr algn="l">
              <a:lnSpc>
                <a:spcPct val="108000"/>
              </a:lnSpc>
              <a:spcBef>
                <a:spcPts val="0"/>
              </a:spcBef>
              <a:spcAft>
                <a:spcPts val="300"/>
              </a:spcAft>
            </a:pPr>
            <a:r>
              <a:rPr sz="1200" b="0" i="0">
                <a:solidFill>
                  <a:srgbClr val="5E6B84"/>
                </a:solidFill>
                <a:latin typeface="Aptos"/>
              </a:rPr>
              <a:t>• Short warning when a rule is triggered</a:t>
            </a:r>
          </a:p>
        </p:txBody>
      </p:sp>
      <p:sp>
        <p:nvSpPr>
          <p:cNvPr id="13" name="Rounded Rectangle 12"/>
          <p:cNvSpPr/>
          <p:nvPr/>
        </p:nvSpPr>
        <p:spPr>
          <a:xfrm>
            <a:off x="6236208" y="1938528"/>
            <a:ext cx="5102352" cy="246888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45936" y="2103120"/>
            <a:ext cx="64008" cy="2139696"/>
          </a:xfrm>
          <a:prstGeom prst="round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47104" y="2093976"/>
            <a:ext cx="4626864" cy="356616"/>
          </a:xfrm>
          <a:prstGeom prst="rect">
            <a:avLst/>
          </a:prstGeom>
          <a:noFill/>
        </p:spPr>
        <p:txBody>
          <a:bodyPr wrap="square" lIns="0" rIns="0" tIns="0" bIns="0" anchor="t">
            <a:normAutofit/>
          </a:bodyPr>
          <a:lstStyle/>
          <a:p>
            <a:pPr algn="l">
              <a:lnSpc>
                <a:spcPct val="108000"/>
              </a:lnSpc>
              <a:spcBef>
                <a:spcPts val="0"/>
              </a:spcBef>
              <a:spcAft>
                <a:spcPts val="0"/>
              </a:spcAft>
            </a:pPr>
            <a:r>
              <a:rPr sz="1600" b="1" i="0">
                <a:solidFill>
                  <a:srgbClr val="1B2740"/>
                </a:solidFill>
                <a:latin typeface="Aptos"/>
              </a:rPr>
              <a:t>Data log</a:t>
            </a:r>
          </a:p>
        </p:txBody>
      </p:sp>
      <p:sp>
        <p:nvSpPr>
          <p:cNvPr id="16" name="TextBox 15"/>
          <p:cNvSpPr txBox="1"/>
          <p:nvPr/>
        </p:nvSpPr>
        <p:spPr>
          <a:xfrm>
            <a:off x="6547104" y="2487168"/>
            <a:ext cx="4626864" cy="1773936"/>
          </a:xfrm>
          <a:prstGeom prst="rect">
            <a:avLst/>
          </a:prstGeom>
          <a:noFill/>
        </p:spPr>
        <p:txBody>
          <a:bodyPr wrap="square" lIns="0" rIns="0" tIns="0" bIns="0" anchor="t">
            <a:normAutofit/>
          </a:bodyPr>
          <a:lstStyle/>
          <a:p>
            <a:pPr algn="l">
              <a:lnSpc>
                <a:spcPct val="108000"/>
              </a:lnSpc>
              <a:spcBef>
                <a:spcPts val="0"/>
              </a:spcBef>
              <a:spcAft>
                <a:spcPts val="300"/>
              </a:spcAft>
            </a:pPr>
            <a:r>
              <a:rPr sz="1200" b="0" i="0">
                <a:solidFill>
                  <a:srgbClr val="5E6B84"/>
                </a:solidFill>
                <a:latin typeface="Aptos"/>
              </a:rPr>
              <a:t>• Keep repeated readings over time</a:t>
            </a:r>
          </a:p>
          <a:p>
            <a:pPr algn="l">
              <a:lnSpc>
                <a:spcPct val="108000"/>
              </a:lnSpc>
              <a:spcBef>
                <a:spcPts val="0"/>
              </a:spcBef>
              <a:spcAft>
                <a:spcPts val="300"/>
              </a:spcAft>
            </a:pPr>
            <a:r>
              <a:rPr sz="1200" b="0" i="0">
                <a:solidFill>
                  <a:srgbClr val="5E6B84"/>
                </a:solidFill>
                <a:latin typeface="Aptos"/>
              </a:rPr>
              <a:t>• Add a timestamp or sample number</a:t>
            </a:r>
          </a:p>
          <a:p>
            <a:pPr algn="l">
              <a:lnSpc>
                <a:spcPct val="108000"/>
              </a:lnSpc>
              <a:spcBef>
                <a:spcPts val="0"/>
              </a:spcBef>
              <a:spcAft>
                <a:spcPts val="300"/>
              </a:spcAft>
            </a:pPr>
            <a:r>
              <a:rPr sz="1200" b="0" i="0">
                <a:solidFill>
                  <a:srgbClr val="5E6B84"/>
                </a:solidFill>
                <a:latin typeface="Aptos"/>
              </a:rPr>
              <a:t>• Save values for a later review</a:t>
            </a:r>
          </a:p>
          <a:p>
            <a:pPr algn="l">
              <a:lnSpc>
                <a:spcPct val="108000"/>
              </a:lnSpc>
              <a:spcBef>
                <a:spcPts val="0"/>
              </a:spcBef>
              <a:spcAft>
                <a:spcPts val="300"/>
              </a:spcAft>
            </a:pPr>
            <a:r>
              <a:rPr sz="1200" b="0" i="0">
                <a:solidFill>
                  <a:srgbClr val="5E6B84"/>
                </a:solidFill>
                <a:latin typeface="Aptos"/>
              </a:rPr>
              <a:t>• Look for trends, spikes, or missing data</a:t>
            </a:r>
          </a:p>
        </p:txBody>
      </p:sp>
      <p:sp>
        <p:nvSpPr>
          <p:cNvPr id="17" name="TextBox 16"/>
          <p:cNvSpPr txBox="1"/>
          <p:nvPr/>
        </p:nvSpPr>
        <p:spPr>
          <a:xfrm>
            <a:off x="1078992" y="4983480"/>
            <a:ext cx="10058400" cy="347472"/>
          </a:xfrm>
          <a:prstGeom prst="rect">
            <a:avLst/>
          </a:prstGeom>
          <a:noFill/>
        </p:spPr>
        <p:txBody>
          <a:bodyPr wrap="square" lIns="0" rIns="0" tIns="0" bIns="0" anchor="t">
            <a:normAutofit/>
          </a:bodyPr>
          <a:lstStyle/>
          <a:p>
            <a:pPr algn="ctr">
              <a:lnSpc>
                <a:spcPct val="108000"/>
              </a:lnSpc>
              <a:spcBef>
                <a:spcPts val="0"/>
              </a:spcBef>
              <a:spcAft>
                <a:spcPts val="0"/>
              </a:spcAft>
            </a:pPr>
            <a:r>
              <a:rPr sz="1400" b="1" i="0">
                <a:solidFill>
                  <a:srgbClr val="1B2740"/>
                </a:solidFill>
                <a:latin typeface="Aptos"/>
              </a:rPr>
              <a:t>Keep the display simple and make saved data easy to interpret.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143000" cy="256032"/>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923544"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5676F5"/>
                </a:solidFill>
                <a:latin typeface="Aptos"/>
              </a:rPr>
              <a:t>PRACTICE</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Simulate before building</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The mini-project page links four Wokwi examples. A simulator lets you test the idea and code before using physical components.</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46</a:t>
            </a:r>
          </a:p>
        </p:txBody>
      </p:sp>
      <p:sp>
        <p:nvSpPr>
          <p:cNvPr id="9" name="Rounded Rectangle 8"/>
          <p:cNvSpPr/>
          <p:nvPr/>
        </p:nvSpPr>
        <p:spPr>
          <a:xfrm>
            <a:off x="731520" y="1965960"/>
            <a:ext cx="5193792" cy="123444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41248" y="2130552"/>
            <a:ext cx="64008" cy="905256"/>
          </a:xfrm>
          <a:prstGeom prst="round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2121408"/>
            <a:ext cx="4718304"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Task 01  ·  Output control</a:t>
            </a:r>
          </a:p>
        </p:txBody>
      </p:sp>
      <p:sp>
        <p:nvSpPr>
          <p:cNvPr id="12" name="TextBox 11"/>
          <p:cNvSpPr txBox="1"/>
          <p:nvPr/>
        </p:nvSpPr>
        <p:spPr>
          <a:xfrm>
            <a:off x="1042416" y="2514600"/>
            <a:ext cx="4718304" cy="539496"/>
          </a:xfrm>
          <a:prstGeom prst="rect">
            <a:avLst/>
          </a:prstGeom>
          <a:noFill/>
        </p:spPr>
        <p:txBody>
          <a:bodyPr wrap="square" lIns="0" rIns="0" tIns="0" bIns="0" anchor="t">
            <a:normAutofit/>
          </a:bodyPr>
          <a:lstStyle/>
          <a:p>
            <a:pPr algn="l">
              <a:lnSpc>
                <a:spcPct val="108000"/>
              </a:lnSpc>
              <a:spcBef>
                <a:spcPts val="0"/>
              </a:spcBef>
              <a:spcAft>
                <a:spcPts val="0"/>
              </a:spcAft>
            </a:pPr>
            <a:r>
              <a:rPr sz="1080" b="0" i="0">
                <a:solidFill>
                  <a:srgbClr val="5E6B84"/>
                </a:solidFill>
                <a:latin typeface="Aptos"/>
              </a:rPr>
              <a:t>Try the traffic-light or status-indicator idea.</a:t>
            </a:r>
          </a:p>
        </p:txBody>
      </p:sp>
      <p:sp>
        <p:nvSpPr>
          <p:cNvPr id="13" name="TextBox 12"/>
          <p:cNvSpPr txBox="1"/>
          <p:nvPr/>
        </p:nvSpPr>
        <p:spPr>
          <a:xfrm>
            <a:off x="1060704" y="2898648"/>
            <a:ext cx="4480560" cy="182880"/>
          </a:xfrm>
          <a:prstGeom prst="rect">
            <a:avLst/>
          </a:prstGeom>
          <a:noFill/>
        </p:spPr>
        <p:txBody>
          <a:bodyPr wrap="square" lIns="0" rIns="0" tIns="0" bIns="0" anchor="t">
            <a:normAutofit/>
          </a:bodyPr>
          <a:lstStyle/>
          <a:p>
            <a:pPr algn="l">
              <a:lnSpc>
                <a:spcPct val="108000"/>
              </a:lnSpc>
              <a:spcBef>
                <a:spcPts val="0"/>
              </a:spcBef>
              <a:spcAft>
                <a:spcPts val="0"/>
              </a:spcAft>
            </a:pPr>
            <a:r>
              <a:rPr sz="900" b="1" i="0">
                <a:solidFill>
                  <a:srgbClr val="5676F5"/>
                </a:solidFill>
                <a:latin typeface="Aptos"/>
                <a:hlinkClick r:id="rId2"/>
              </a:rPr>
              <a:t>Open Wokwi simulator ↗</a:t>
            </a:r>
          </a:p>
        </p:txBody>
      </p:sp>
      <p:sp>
        <p:nvSpPr>
          <p:cNvPr id="14" name="Rounded Rectangle 13"/>
          <p:cNvSpPr/>
          <p:nvPr/>
        </p:nvSpPr>
        <p:spPr>
          <a:xfrm>
            <a:off x="6291072" y="1965960"/>
            <a:ext cx="5193792" cy="123444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0" y="2130552"/>
            <a:ext cx="64008" cy="905256"/>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1968" y="2121408"/>
            <a:ext cx="4718304"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Task 02  ·  Dynamic output</a:t>
            </a:r>
          </a:p>
        </p:txBody>
      </p:sp>
      <p:sp>
        <p:nvSpPr>
          <p:cNvPr id="17" name="TextBox 16"/>
          <p:cNvSpPr txBox="1"/>
          <p:nvPr/>
        </p:nvSpPr>
        <p:spPr>
          <a:xfrm>
            <a:off x="6601968" y="2514600"/>
            <a:ext cx="4718304" cy="539496"/>
          </a:xfrm>
          <a:prstGeom prst="rect">
            <a:avLst/>
          </a:prstGeom>
          <a:noFill/>
        </p:spPr>
        <p:txBody>
          <a:bodyPr wrap="square" lIns="0" rIns="0" tIns="0" bIns="0" anchor="t">
            <a:normAutofit/>
          </a:bodyPr>
          <a:lstStyle/>
          <a:p>
            <a:pPr algn="l">
              <a:lnSpc>
                <a:spcPct val="108000"/>
              </a:lnSpc>
              <a:spcBef>
                <a:spcPts val="0"/>
              </a:spcBef>
              <a:spcAft>
                <a:spcPts val="0"/>
              </a:spcAft>
            </a:pPr>
            <a:r>
              <a:rPr sz="1080" b="0" i="0">
                <a:solidFill>
                  <a:srgbClr val="5E6B84"/>
                </a:solidFill>
                <a:latin typeface="Aptos"/>
              </a:rPr>
              <a:t>Explore brightness or speed control.</a:t>
            </a:r>
          </a:p>
        </p:txBody>
      </p:sp>
      <p:sp>
        <p:nvSpPr>
          <p:cNvPr id="18" name="TextBox 17"/>
          <p:cNvSpPr txBox="1"/>
          <p:nvPr/>
        </p:nvSpPr>
        <p:spPr>
          <a:xfrm>
            <a:off x="6620256" y="2898648"/>
            <a:ext cx="4480560" cy="182880"/>
          </a:xfrm>
          <a:prstGeom prst="rect">
            <a:avLst/>
          </a:prstGeom>
          <a:noFill/>
        </p:spPr>
        <p:txBody>
          <a:bodyPr wrap="square" lIns="0" rIns="0" tIns="0" bIns="0" anchor="t">
            <a:normAutofit/>
          </a:bodyPr>
          <a:lstStyle/>
          <a:p>
            <a:pPr algn="l">
              <a:lnSpc>
                <a:spcPct val="108000"/>
              </a:lnSpc>
              <a:spcBef>
                <a:spcPts val="0"/>
              </a:spcBef>
              <a:spcAft>
                <a:spcPts val="0"/>
              </a:spcAft>
            </a:pPr>
            <a:r>
              <a:rPr sz="900" b="1" i="0">
                <a:solidFill>
                  <a:srgbClr val="5676F5"/>
                </a:solidFill>
                <a:latin typeface="Aptos"/>
                <a:hlinkClick r:id="rId3"/>
              </a:rPr>
              <a:t>Open Wokwi simulator ↗</a:t>
            </a:r>
          </a:p>
        </p:txBody>
      </p:sp>
      <p:sp>
        <p:nvSpPr>
          <p:cNvPr id="19" name="Rounded Rectangle 18"/>
          <p:cNvSpPr/>
          <p:nvPr/>
        </p:nvSpPr>
        <p:spPr>
          <a:xfrm>
            <a:off x="731520" y="3520439"/>
            <a:ext cx="5193792" cy="123444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41248" y="3685031"/>
            <a:ext cx="64008" cy="905256"/>
          </a:xfrm>
          <a:prstGeom prst="roundRect">
            <a:avLst/>
          </a:prstGeom>
          <a:solidFill>
            <a:srgbClr val="2385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2416" y="3675887"/>
            <a:ext cx="4718304"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Task 03  ·  Button logic</a:t>
            </a:r>
          </a:p>
        </p:txBody>
      </p:sp>
      <p:sp>
        <p:nvSpPr>
          <p:cNvPr id="22" name="TextBox 21"/>
          <p:cNvSpPr txBox="1"/>
          <p:nvPr/>
        </p:nvSpPr>
        <p:spPr>
          <a:xfrm>
            <a:off x="1042416" y="4069079"/>
            <a:ext cx="4718304" cy="539496"/>
          </a:xfrm>
          <a:prstGeom prst="rect">
            <a:avLst/>
          </a:prstGeom>
          <a:noFill/>
        </p:spPr>
        <p:txBody>
          <a:bodyPr wrap="square" lIns="0" rIns="0" tIns="0" bIns="0" anchor="t">
            <a:normAutofit/>
          </a:bodyPr>
          <a:lstStyle/>
          <a:p>
            <a:pPr algn="l">
              <a:lnSpc>
                <a:spcPct val="108000"/>
              </a:lnSpc>
              <a:spcBef>
                <a:spcPts val="0"/>
              </a:spcBef>
              <a:spcAft>
                <a:spcPts val="0"/>
              </a:spcAft>
            </a:pPr>
            <a:r>
              <a:rPr sz="1080" b="0" i="0">
                <a:solidFill>
                  <a:srgbClr val="5E6B84"/>
                </a:solidFill>
                <a:latin typeface="Aptos"/>
              </a:rPr>
              <a:t>Test button presses and toggling.</a:t>
            </a:r>
          </a:p>
        </p:txBody>
      </p:sp>
      <p:sp>
        <p:nvSpPr>
          <p:cNvPr id="23" name="TextBox 22"/>
          <p:cNvSpPr txBox="1"/>
          <p:nvPr/>
        </p:nvSpPr>
        <p:spPr>
          <a:xfrm>
            <a:off x="1060704" y="4453127"/>
            <a:ext cx="4480560" cy="182880"/>
          </a:xfrm>
          <a:prstGeom prst="rect">
            <a:avLst/>
          </a:prstGeom>
          <a:noFill/>
        </p:spPr>
        <p:txBody>
          <a:bodyPr wrap="square" lIns="0" rIns="0" tIns="0" bIns="0" anchor="t">
            <a:normAutofit/>
          </a:bodyPr>
          <a:lstStyle/>
          <a:p>
            <a:pPr algn="l">
              <a:lnSpc>
                <a:spcPct val="108000"/>
              </a:lnSpc>
              <a:spcBef>
                <a:spcPts val="0"/>
              </a:spcBef>
              <a:spcAft>
                <a:spcPts val="0"/>
              </a:spcAft>
            </a:pPr>
            <a:r>
              <a:rPr sz="900" b="1" i="0">
                <a:solidFill>
                  <a:srgbClr val="5676F5"/>
                </a:solidFill>
                <a:latin typeface="Aptos"/>
                <a:hlinkClick r:id="rId4"/>
              </a:rPr>
              <a:t>Open Wokwi simulator ↗</a:t>
            </a:r>
          </a:p>
        </p:txBody>
      </p:sp>
      <p:sp>
        <p:nvSpPr>
          <p:cNvPr id="24" name="Rounded Rectangle 23"/>
          <p:cNvSpPr/>
          <p:nvPr/>
        </p:nvSpPr>
        <p:spPr>
          <a:xfrm>
            <a:off x="6291072" y="3520439"/>
            <a:ext cx="5193792" cy="123444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00800" y="3685031"/>
            <a:ext cx="64008" cy="905256"/>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01968" y="3675887"/>
            <a:ext cx="4718304" cy="356616"/>
          </a:xfrm>
          <a:prstGeom prst="rect">
            <a:avLst/>
          </a:prstGeom>
          <a:noFill/>
        </p:spPr>
        <p:txBody>
          <a:bodyPr wrap="square" lIns="0" rIns="0" tIns="0" bIns="0" anchor="t">
            <a:normAutofit/>
          </a:bodyPr>
          <a:lstStyle/>
          <a:p>
            <a:pPr algn="l">
              <a:lnSpc>
                <a:spcPct val="108000"/>
              </a:lnSpc>
              <a:spcBef>
                <a:spcPts val="0"/>
              </a:spcBef>
              <a:spcAft>
                <a:spcPts val="0"/>
              </a:spcAft>
            </a:pPr>
            <a:r>
              <a:rPr sz="1350" b="1" i="0">
                <a:solidFill>
                  <a:srgbClr val="1B2740"/>
                </a:solidFill>
                <a:latin typeface="Aptos"/>
              </a:rPr>
              <a:t>Task 06  ·  Sensing node</a:t>
            </a:r>
          </a:p>
        </p:txBody>
      </p:sp>
      <p:sp>
        <p:nvSpPr>
          <p:cNvPr id="27" name="TextBox 26"/>
          <p:cNvSpPr txBox="1"/>
          <p:nvPr/>
        </p:nvSpPr>
        <p:spPr>
          <a:xfrm>
            <a:off x="6601968" y="4069079"/>
            <a:ext cx="4718304" cy="539496"/>
          </a:xfrm>
          <a:prstGeom prst="rect">
            <a:avLst/>
          </a:prstGeom>
          <a:noFill/>
        </p:spPr>
        <p:txBody>
          <a:bodyPr wrap="square" lIns="0" rIns="0" tIns="0" bIns="0" anchor="t">
            <a:normAutofit/>
          </a:bodyPr>
          <a:lstStyle/>
          <a:p>
            <a:pPr algn="l">
              <a:lnSpc>
                <a:spcPct val="108000"/>
              </a:lnSpc>
              <a:spcBef>
                <a:spcPts val="0"/>
              </a:spcBef>
              <a:spcAft>
                <a:spcPts val="0"/>
              </a:spcAft>
            </a:pPr>
            <a:r>
              <a:rPr sz="1080" b="0" i="0">
                <a:solidFill>
                  <a:srgbClr val="5E6B84"/>
                </a:solidFill>
                <a:latin typeface="Aptos"/>
              </a:rPr>
              <a:t>Explore a light/presence sensing pattern.</a:t>
            </a:r>
          </a:p>
        </p:txBody>
      </p:sp>
      <p:sp>
        <p:nvSpPr>
          <p:cNvPr id="28" name="TextBox 27"/>
          <p:cNvSpPr txBox="1"/>
          <p:nvPr/>
        </p:nvSpPr>
        <p:spPr>
          <a:xfrm>
            <a:off x="6620256" y="4453127"/>
            <a:ext cx="4480560" cy="182880"/>
          </a:xfrm>
          <a:prstGeom prst="rect">
            <a:avLst/>
          </a:prstGeom>
          <a:noFill/>
        </p:spPr>
        <p:txBody>
          <a:bodyPr wrap="square" lIns="0" rIns="0" tIns="0" bIns="0" anchor="t">
            <a:normAutofit/>
          </a:bodyPr>
          <a:lstStyle/>
          <a:p>
            <a:pPr algn="l">
              <a:lnSpc>
                <a:spcPct val="108000"/>
              </a:lnSpc>
              <a:spcBef>
                <a:spcPts val="0"/>
              </a:spcBef>
              <a:spcAft>
                <a:spcPts val="0"/>
              </a:spcAft>
            </a:pPr>
            <a:r>
              <a:rPr sz="900" b="1" i="0">
                <a:solidFill>
                  <a:srgbClr val="5676F5"/>
                </a:solidFill>
                <a:latin typeface="Aptos"/>
                <a:hlinkClick r:id="rId5"/>
              </a:rPr>
              <a:t>Open Wokwi simulator ↗</a:t>
            </a:r>
          </a:p>
        </p:txBody>
      </p:sp>
      <p:sp>
        <p:nvSpPr>
          <p:cNvPr id="29" name="TextBox 28"/>
          <p:cNvSpPr txBox="1"/>
          <p:nvPr/>
        </p:nvSpPr>
        <p:spPr>
          <a:xfrm>
            <a:off x="914400" y="5358384"/>
            <a:ext cx="10058400" cy="256032"/>
          </a:xfrm>
          <a:prstGeom prst="rect">
            <a:avLst/>
          </a:prstGeom>
          <a:noFill/>
        </p:spPr>
        <p:txBody>
          <a:bodyPr wrap="square" lIns="0" rIns="0" tIns="0" bIns="0" anchor="t">
            <a:normAutofit/>
          </a:bodyPr>
          <a:lstStyle/>
          <a:p>
            <a:pPr algn="l">
              <a:lnSpc>
                <a:spcPct val="108000"/>
              </a:lnSpc>
              <a:spcBef>
                <a:spcPts val="0"/>
              </a:spcBef>
              <a:spcAft>
                <a:spcPts val="0"/>
              </a:spcAft>
            </a:pPr>
            <a:r>
              <a:rPr sz="1000" b="0" i="1">
                <a:solidFill>
                  <a:srgbClr val="8B96AA"/>
                </a:solidFill>
                <a:latin typeface="Aptos"/>
              </a:rPr>
              <a:t>Wokwi links are supplied by the ENV MONITOR mini-project page.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527048" cy="256032"/>
          </a:xfrm>
          <a:prstGeom prst="roundRect">
            <a:avLst/>
          </a:prstGeom>
          <a:solidFill>
            <a:srgbClr val="E6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307592"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21B6A8"/>
                </a:solidFill>
                <a:latin typeface="Aptos"/>
              </a:rPr>
              <a:t>EXAMPLE BUILD</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Project walkthrough: smart street lamp</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Combines environment sensing (Task 06), output control (Task 01), and optional dimming (Task 02).</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47</a:t>
            </a:r>
          </a:p>
        </p:txBody>
      </p:sp>
      <p:sp>
        <p:nvSpPr>
          <p:cNvPr id="9" name="Rounded Rectangle 8"/>
          <p:cNvSpPr/>
          <p:nvPr/>
        </p:nvSpPr>
        <p:spPr>
          <a:xfrm>
            <a:off x="786384" y="2057400"/>
            <a:ext cx="3218688" cy="155448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96112" y="2221992"/>
            <a:ext cx="64008" cy="1225295"/>
          </a:xfrm>
          <a:prstGeom prst="round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212848"/>
            <a:ext cx="2743200"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SENSE</a:t>
            </a:r>
          </a:p>
        </p:txBody>
      </p:sp>
      <p:sp>
        <p:nvSpPr>
          <p:cNvPr id="12" name="TextBox 11"/>
          <p:cNvSpPr txBox="1"/>
          <p:nvPr/>
        </p:nvSpPr>
        <p:spPr>
          <a:xfrm>
            <a:off x="1097280" y="2606040"/>
            <a:ext cx="2743200" cy="859536"/>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Read LDR or light-level sensor</a:t>
            </a:r>
          </a:p>
        </p:txBody>
      </p:sp>
      <p:sp>
        <p:nvSpPr>
          <p:cNvPr id="13" name="TextBox 12"/>
          <p:cNvSpPr txBox="1"/>
          <p:nvPr/>
        </p:nvSpPr>
        <p:spPr>
          <a:xfrm>
            <a:off x="4059936" y="2633472"/>
            <a:ext cx="384048" cy="384048"/>
          </a:xfrm>
          <a:prstGeom prst="rect">
            <a:avLst/>
          </a:prstGeom>
          <a:noFill/>
        </p:spPr>
        <p:txBody>
          <a:bodyPr wrap="square" lIns="0" rIns="0" tIns="0" bIns="0" anchor="t">
            <a:normAutofit/>
          </a:bodyPr>
          <a:lstStyle/>
          <a:p>
            <a:pPr algn="ctr">
              <a:lnSpc>
                <a:spcPct val="108000"/>
              </a:lnSpc>
              <a:spcBef>
                <a:spcPts val="0"/>
              </a:spcBef>
              <a:spcAft>
                <a:spcPts val="0"/>
              </a:spcAft>
            </a:pPr>
            <a:r>
              <a:rPr sz="2300" b="1" i="0">
                <a:solidFill>
                  <a:srgbClr val="8B96AA"/>
                </a:solidFill>
                <a:latin typeface="Aptos"/>
              </a:rPr>
              <a:t>→</a:t>
            </a:r>
          </a:p>
        </p:txBody>
      </p:sp>
      <p:sp>
        <p:nvSpPr>
          <p:cNvPr id="14" name="Rounded Rectangle 13"/>
          <p:cNvSpPr/>
          <p:nvPr/>
        </p:nvSpPr>
        <p:spPr>
          <a:xfrm>
            <a:off x="4608576" y="2057400"/>
            <a:ext cx="3218688" cy="155448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718304" y="2221992"/>
            <a:ext cx="64008" cy="1225295"/>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19472" y="2212848"/>
            <a:ext cx="2743200"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DECIDE</a:t>
            </a:r>
          </a:p>
        </p:txBody>
      </p:sp>
      <p:sp>
        <p:nvSpPr>
          <p:cNvPr id="17" name="TextBox 16"/>
          <p:cNvSpPr txBox="1"/>
          <p:nvPr/>
        </p:nvSpPr>
        <p:spPr>
          <a:xfrm>
            <a:off x="4919472" y="2606040"/>
            <a:ext cx="2743200" cy="859536"/>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Compare reading with threshold</a:t>
            </a:r>
          </a:p>
        </p:txBody>
      </p:sp>
      <p:sp>
        <p:nvSpPr>
          <p:cNvPr id="18" name="TextBox 17"/>
          <p:cNvSpPr txBox="1"/>
          <p:nvPr/>
        </p:nvSpPr>
        <p:spPr>
          <a:xfrm>
            <a:off x="7882128" y="2633472"/>
            <a:ext cx="384048" cy="384048"/>
          </a:xfrm>
          <a:prstGeom prst="rect">
            <a:avLst/>
          </a:prstGeom>
          <a:noFill/>
        </p:spPr>
        <p:txBody>
          <a:bodyPr wrap="square" lIns="0" rIns="0" tIns="0" bIns="0" anchor="t">
            <a:normAutofit/>
          </a:bodyPr>
          <a:lstStyle/>
          <a:p>
            <a:pPr algn="ctr">
              <a:lnSpc>
                <a:spcPct val="108000"/>
              </a:lnSpc>
              <a:spcBef>
                <a:spcPts val="0"/>
              </a:spcBef>
              <a:spcAft>
                <a:spcPts val="0"/>
              </a:spcAft>
            </a:pPr>
            <a:r>
              <a:rPr sz="2300" b="1" i="0">
                <a:solidFill>
                  <a:srgbClr val="8B96AA"/>
                </a:solidFill>
                <a:latin typeface="Aptos"/>
              </a:rPr>
              <a:t>→</a:t>
            </a:r>
          </a:p>
        </p:txBody>
      </p:sp>
      <p:sp>
        <p:nvSpPr>
          <p:cNvPr id="19" name="Rounded Rectangle 18"/>
          <p:cNvSpPr/>
          <p:nvPr/>
        </p:nvSpPr>
        <p:spPr>
          <a:xfrm>
            <a:off x="8430767" y="2057400"/>
            <a:ext cx="3218688" cy="155448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540495" y="2221992"/>
            <a:ext cx="64008" cy="1225295"/>
          </a:xfrm>
          <a:prstGeom prst="round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41663" y="2212848"/>
            <a:ext cx="2743200"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CONTROL</a:t>
            </a:r>
          </a:p>
        </p:txBody>
      </p:sp>
      <p:sp>
        <p:nvSpPr>
          <p:cNvPr id="22" name="TextBox 21"/>
          <p:cNvSpPr txBox="1"/>
          <p:nvPr/>
        </p:nvSpPr>
        <p:spPr>
          <a:xfrm>
            <a:off x="8741663" y="2606040"/>
            <a:ext cx="2743200" cy="859536"/>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Turn LED on/off or set brightness</a:t>
            </a:r>
          </a:p>
        </p:txBody>
      </p:sp>
      <p:sp>
        <p:nvSpPr>
          <p:cNvPr id="23" name="Rounded Rectangle 22"/>
          <p:cNvSpPr/>
          <p:nvPr/>
        </p:nvSpPr>
        <p:spPr>
          <a:xfrm>
            <a:off x="877824" y="4069080"/>
            <a:ext cx="4983480" cy="114300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87552" y="4233672"/>
            <a:ext cx="64008" cy="813816"/>
          </a:xfrm>
          <a:prstGeom prst="round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8720" y="4224528"/>
            <a:ext cx="4507992"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First version</a:t>
            </a:r>
          </a:p>
        </p:txBody>
      </p:sp>
      <p:sp>
        <p:nvSpPr>
          <p:cNvPr id="26" name="TextBox 25"/>
          <p:cNvSpPr txBox="1"/>
          <p:nvPr/>
        </p:nvSpPr>
        <p:spPr>
          <a:xfrm>
            <a:off x="1188720" y="4617720"/>
            <a:ext cx="4507992" cy="448056"/>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Use a simulated sensor value and switch one LED when it is dark.</a:t>
            </a:r>
          </a:p>
        </p:txBody>
      </p:sp>
      <p:sp>
        <p:nvSpPr>
          <p:cNvPr id="27" name="Rounded Rectangle 26"/>
          <p:cNvSpPr/>
          <p:nvPr/>
        </p:nvSpPr>
        <p:spPr>
          <a:xfrm>
            <a:off x="6172200" y="4069080"/>
            <a:ext cx="4983480" cy="114300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281928" y="4233672"/>
            <a:ext cx="64008" cy="813816"/>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83096" y="4224528"/>
            <a:ext cx="4507992"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Improve later</a:t>
            </a:r>
          </a:p>
        </p:txBody>
      </p:sp>
      <p:sp>
        <p:nvSpPr>
          <p:cNvPr id="30" name="TextBox 29"/>
          <p:cNvSpPr txBox="1"/>
          <p:nvPr/>
        </p:nvSpPr>
        <p:spPr>
          <a:xfrm>
            <a:off x="6483096" y="4617720"/>
            <a:ext cx="4507992" cy="448056"/>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Add brightness adjustment, a status display, or a log of light readings.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527048" cy="256032"/>
          </a:xfrm>
          <a:prstGeom prst="roundRect">
            <a:avLst/>
          </a:prstGeom>
          <a:solidFill>
            <a:srgbClr val="FFF4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307592"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E9A23B"/>
                </a:solidFill>
                <a:latin typeface="Aptos"/>
              </a:rPr>
              <a:t>EXAMPLE BUILD</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Project walkthrough: room environment monitor</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Combines parameter monitoring (Task 07), an information display (Task 05), and an alert (Task 04).</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48</a:t>
            </a:r>
          </a:p>
        </p:txBody>
      </p:sp>
      <p:sp>
        <p:nvSpPr>
          <p:cNvPr id="9" name="Oval 8"/>
          <p:cNvSpPr/>
          <p:nvPr/>
        </p:nvSpPr>
        <p:spPr>
          <a:xfrm>
            <a:off x="1453895" y="2029968"/>
            <a:ext cx="512064" cy="512064"/>
          </a:xfrm>
          <a:prstGeom prst="ellipse">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53895" y="2139696"/>
            <a:ext cx="512064" cy="164592"/>
          </a:xfrm>
          <a:prstGeom prst="rect">
            <a:avLst/>
          </a:prstGeom>
          <a:noFill/>
        </p:spPr>
        <p:txBody>
          <a:bodyPr wrap="square" lIns="0" rIns="0" tIns="0" bIns="0" anchor="ctr">
            <a:normAutofit/>
          </a:bodyPr>
          <a:lstStyle/>
          <a:p>
            <a:pPr algn="ctr">
              <a:lnSpc>
                <a:spcPct val="108000"/>
              </a:lnSpc>
              <a:spcBef>
                <a:spcPts val="0"/>
              </a:spcBef>
              <a:spcAft>
                <a:spcPts val="0"/>
              </a:spcAft>
            </a:pPr>
            <a:r>
              <a:rPr sz="1200" b="1" i="0">
                <a:solidFill>
                  <a:srgbClr val="FFFFFF"/>
                </a:solidFill>
                <a:latin typeface="Aptos"/>
              </a:rPr>
              <a:t>1</a:t>
            </a:r>
          </a:p>
        </p:txBody>
      </p:sp>
      <p:sp>
        <p:nvSpPr>
          <p:cNvPr id="11" name="Rounded Rectangle 10"/>
          <p:cNvSpPr/>
          <p:nvPr/>
        </p:nvSpPr>
        <p:spPr>
          <a:xfrm>
            <a:off x="685800" y="2697480"/>
            <a:ext cx="2148840" cy="160020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5528" y="2862072"/>
            <a:ext cx="64008" cy="1271016"/>
          </a:xfrm>
          <a:prstGeom prst="round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2852928"/>
            <a:ext cx="1673352"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Read</a:t>
            </a:r>
          </a:p>
        </p:txBody>
      </p:sp>
      <p:sp>
        <p:nvSpPr>
          <p:cNvPr id="14" name="TextBox 13"/>
          <p:cNvSpPr txBox="1"/>
          <p:nvPr/>
        </p:nvSpPr>
        <p:spPr>
          <a:xfrm>
            <a:off x="996696" y="3246120"/>
            <a:ext cx="1673352" cy="905255"/>
          </a:xfrm>
          <a:prstGeom prst="rect">
            <a:avLst/>
          </a:prstGeom>
          <a:noFill/>
        </p:spPr>
        <p:txBody>
          <a:bodyPr wrap="square" lIns="0" rIns="0" tIns="0" bIns="0" anchor="t">
            <a:normAutofit/>
          </a:bodyPr>
          <a:lstStyle/>
          <a:p>
            <a:pPr algn="l">
              <a:lnSpc>
                <a:spcPct val="108000"/>
              </a:lnSpc>
              <a:spcBef>
                <a:spcPts val="0"/>
              </a:spcBef>
              <a:spcAft>
                <a:spcPts val="0"/>
              </a:spcAft>
            </a:pPr>
            <a:r>
              <a:rPr sz="1050" b="0" i="0">
                <a:solidFill>
                  <a:srgbClr val="5E6B84"/>
                </a:solidFill>
                <a:latin typeface="Aptos"/>
              </a:rPr>
              <a:t>Get a temperature and humidity sample.</a:t>
            </a:r>
          </a:p>
        </p:txBody>
      </p:sp>
      <p:sp>
        <p:nvSpPr>
          <p:cNvPr id="15" name="Oval 14"/>
          <p:cNvSpPr/>
          <p:nvPr/>
        </p:nvSpPr>
        <p:spPr>
          <a:xfrm>
            <a:off x="4315968" y="2029968"/>
            <a:ext cx="512064" cy="512064"/>
          </a:xfrm>
          <a:prstGeom prst="ellipse">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15968" y="2139696"/>
            <a:ext cx="512064" cy="164592"/>
          </a:xfrm>
          <a:prstGeom prst="rect">
            <a:avLst/>
          </a:prstGeom>
          <a:noFill/>
        </p:spPr>
        <p:txBody>
          <a:bodyPr wrap="square" lIns="0" rIns="0" tIns="0" bIns="0" anchor="ctr">
            <a:normAutofit/>
          </a:bodyPr>
          <a:lstStyle/>
          <a:p>
            <a:pPr algn="ctr">
              <a:lnSpc>
                <a:spcPct val="108000"/>
              </a:lnSpc>
              <a:spcBef>
                <a:spcPts val="0"/>
              </a:spcBef>
              <a:spcAft>
                <a:spcPts val="0"/>
              </a:spcAft>
            </a:pPr>
            <a:r>
              <a:rPr sz="1200" b="1" i="0">
                <a:solidFill>
                  <a:srgbClr val="FFFFFF"/>
                </a:solidFill>
                <a:latin typeface="Aptos"/>
              </a:rPr>
              <a:t>2</a:t>
            </a:r>
          </a:p>
        </p:txBody>
      </p:sp>
      <p:sp>
        <p:nvSpPr>
          <p:cNvPr id="17" name="Rounded Rectangle 16"/>
          <p:cNvSpPr/>
          <p:nvPr/>
        </p:nvSpPr>
        <p:spPr>
          <a:xfrm>
            <a:off x="3547872" y="2697480"/>
            <a:ext cx="2148840" cy="160020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657600" y="2862072"/>
            <a:ext cx="64008" cy="1271016"/>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58768" y="2852928"/>
            <a:ext cx="1673352"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Check</a:t>
            </a:r>
          </a:p>
        </p:txBody>
      </p:sp>
      <p:sp>
        <p:nvSpPr>
          <p:cNvPr id="20" name="TextBox 19"/>
          <p:cNvSpPr txBox="1"/>
          <p:nvPr/>
        </p:nvSpPr>
        <p:spPr>
          <a:xfrm>
            <a:off x="3858768" y="3246120"/>
            <a:ext cx="1673352" cy="905255"/>
          </a:xfrm>
          <a:prstGeom prst="rect">
            <a:avLst/>
          </a:prstGeom>
          <a:noFill/>
        </p:spPr>
        <p:txBody>
          <a:bodyPr wrap="square" lIns="0" rIns="0" tIns="0" bIns="0" anchor="t">
            <a:normAutofit/>
          </a:bodyPr>
          <a:lstStyle/>
          <a:p>
            <a:pPr algn="l">
              <a:lnSpc>
                <a:spcPct val="108000"/>
              </a:lnSpc>
              <a:spcBef>
                <a:spcPts val="0"/>
              </a:spcBef>
              <a:spcAft>
                <a:spcPts val="0"/>
              </a:spcAft>
            </a:pPr>
            <a:r>
              <a:rPr sz="1050" b="0" i="0">
                <a:solidFill>
                  <a:srgbClr val="5E6B84"/>
                </a:solidFill>
                <a:latin typeface="Aptos"/>
              </a:rPr>
              <a:t>Compare the sample with the prototype’s chosen ranges.</a:t>
            </a:r>
          </a:p>
        </p:txBody>
      </p:sp>
      <p:sp>
        <p:nvSpPr>
          <p:cNvPr id="21" name="Oval 20"/>
          <p:cNvSpPr/>
          <p:nvPr/>
        </p:nvSpPr>
        <p:spPr>
          <a:xfrm>
            <a:off x="7178040" y="2029968"/>
            <a:ext cx="512064" cy="512064"/>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78040" y="2139696"/>
            <a:ext cx="512064" cy="164592"/>
          </a:xfrm>
          <a:prstGeom prst="rect">
            <a:avLst/>
          </a:prstGeom>
          <a:noFill/>
        </p:spPr>
        <p:txBody>
          <a:bodyPr wrap="square" lIns="0" rIns="0" tIns="0" bIns="0" anchor="ctr">
            <a:normAutofit/>
          </a:bodyPr>
          <a:lstStyle/>
          <a:p>
            <a:pPr algn="ctr">
              <a:lnSpc>
                <a:spcPct val="108000"/>
              </a:lnSpc>
              <a:spcBef>
                <a:spcPts val="0"/>
              </a:spcBef>
              <a:spcAft>
                <a:spcPts val="0"/>
              </a:spcAft>
            </a:pPr>
            <a:r>
              <a:rPr sz="1200" b="1" i="0">
                <a:solidFill>
                  <a:srgbClr val="FFFFFF"/>
                </a:solidFill>
                <a:latin typeface="Aptos"/>
              </a:rPr>
              <a:t>3</a:t>
            </a:r>
          </a:p>
        </p:txBody>
      </p:sp>
      <p:sp>
        <p:nvSpPr>
          <p:cNvPr id="23" name="Rounded Rectangle 22"/>
          <p:cNvSpPr/>
          <p:nvPr/>
        </p:nvSpPr>
        <p:spPr>
          <a:xfrm>
            <a:off x="6409944" y="2697480"/>
            <a:ext cx="2148840" cy="160020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519672" y="2862072"/>
            <a:ext cx="64008" cy="1271016"/>
          </a:xfrm>
          <a:prstGeom prst="round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0840" y="2852928"/>
            <a:ext cx="1673352"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Display</a:t>
            </a:r>
          </a:p>
        </p:txBody>
      </p:sp>
      <p:sp>
        <p:nvSpPr>
          <p:cNvPr id="26" name="TextBox 25"/>
          <p:cNvSpPr txBox="1"/>
          <p:nvPr/>
        </p:nvSpPr>
        <p:spPr>
          <a:xfrm>
            <a:off x="6720840" y="3246120"/>
            <a:ext cx="1673352" cy="905255"/>
          </a:xfrm>
          <a:prstGeom prst="rect">
            <a:avLst/>
          </a:prstGeom>
          <a:noFill/>
        </p:spPr>
        <p:txBody>
          <a:bodyPr wrap="square" lIns="0" rIns="0" tIns="0" bIns="0" anchor="t">
            <a:normAutofit/>
          </a:bodyPr>
          <a:lstStyle/>
          <a:p>
            <a:pPr algn="l">
              <a:lnSpc>
                <a:spcPct val="108000"/>
              </a:lnSpc>
              <a:spcBef>
                <a:spcPts val="0"/>
              </a:spcBef>
              <a:spcAft>
                <a:spcPts val="0"/>
              </a:spcAft>
            </a:pPr>
            <a:r>
              <a:rPr sz="1050" b="0" i="0">
                <a:solidFill>
                  <a:srgbClr val="5E6B84"/>
                </a:solidFill>
                <a:latin typeface="Aptos"/>
              </a:rPr>
              <a:t>Show the numbers and a simple status message.</a:t>
            </a:r>
          </a:p>
        </p:txBody>
      </p:sp>
      <p:sp>
        <p:nvSpPr>
          <p:cNvPr id="27" name="Oval 26"/>
          <p:cNvSpPr/>
          <p:nvPr/>
        </p:nvSpPr>
        <p:spPr>
          <a:xfrm>
            <a:off x="10040112" y="2029968"/>
            <a:ext cx="512064" cy="512064"/>
          </a:xfrm>
          <a:prstGeom prst="ellipse">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40112" y="2139696"/>
            <a:ext cx="512064" cy="164592"/>
          </a:xfrm>
          <a:prstGeom prst="rect">
            <a:avLst/>
          </a:prstGeom>
          <a:noFill/>
        </p:spPr>
        <p:txBody>
          <a:bodyPr wrap="square" lIns="0" rIns="0" tIns="0" bIns="0" anchor="ctr">
            <a:normAutofit/>
          </a:bodyPr>
          <a:lstStyle/>
          <a:p>
            <a:pPr algn="ctr">
              <a:lnSpc>
                <a:spcPct val="108000"/>
              </a:lnSpc>
              <a:spcBef>
                <a:spcPts val="0"/>
              </a:spcBef>
              <a:spcAft>
                <a:spcPts val="0"/>
              </a:spcAft>
            </a:pPr>
            <a:r>
              <a:rPr sz="1200" b="1" i="0">
                <a:solidFill>
                  <a:srgbClr val="FFFFFF"/>
                </a:solidFill>
                <a:latin typeface="Aptos"/>
              </a:rPr>
              <a:t>4</a:t>
            </a:r>
          </a:p>
        </p:txBody>
      </p:sp>
      <p:sp>
        <p:nvSpPr>
          <p:cNvPr id="29" name="Rounded Rectangle 28"/>
          <p:cNvSpPr/>
          <p:nvPr/>
        </p:nvSpPr>
        <p:spPr>
          <a:xfrm>
            <a:off x="9272016" y="2697480"/>
            <a:ext cx="2148840" cy="160020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381744" y="2862072"/>
            <a:ext cx="64008" cy="1271016"/>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82912" y="2852928"/>
            <a:ext cx="1673352" cy="356616"/>
          </a:xfrm>
          <a:prstGeom prst="rect">
            <a:avLst/>
          </a:prstGeom>
          <a:noFill/>
        </p:spPr>
        <p:txBody>
          <a:bodyPr wrap="square" lIns="0" rIns="0" tIns="0" bIns="0" anchor="t">
            <a:normAutofit/>
          </a:bodyPr>
          <a:lstStyle/>
          <a:p>
            <a:pPr algn="l">
              <a:lnSpc>
                <a:spcPct val="108000"/>
              </a:lnSpc>
              <a:spcBef>
                <a:spcPts val="0"/>
              </a:spcBef>
              <a:spcAft>
                <a:spcPts val="0"/>
              </a:spcAft>
            </a:pPr>
            <a:r>
              <a:rPr sz="1400" b="1" i="0">
                <a:solidFill>
                  <a:srgbClr val="1B2740"/>
                </a:solidFill>
                <a:latin typeface="Aptos"/>
              </a:rPr>
              <a:t>Record / alert</a:t>
            </a:r>
          </a:p>
        </p:txBody>
      </p:sp>
      <p:sp>
        <p:nvSpPr>
          <p:cNvPr id="32" name="TextBox 31"/>
          <p:cNvSpPr txBox="1"/>
          <p:nvPr/>
        </p:nvSpPr>
        <p:spPr>
          <a:xfrm>
            <a:off x="9582912" y="3246120"/>
            <a:ext cx="1673352" cy="905255"/>
          </a:xfrm>
          <a:prstGeom prst="rect">
            <a:avLst/>
          </a:prstGeom>
          <a:noFill/>
        </p:spPr>
        <p:txBody>
          <a:bodyPr wrap="square" lIns="0" rIns="0" tIns="0" bIns="0" anchor="t">
            <a:normAutofit/>
          </a:bodyPr>
          <a:lstStyle/>
          <a:p>
            <a:pPr algn="l">
              <a:lnSpc>
                <a:spcPct val="108000"/>
              </a:lnSpc>
              <a:spcBef>
                <a:spcPts val="0"/>
              </a:spcBef>
              <a:spcAft>
                <a:spcPts val="0"/>
              </a:spcAft>
            </a:pPr>
            <a:r>
              <a:rPr sz="1050" b="0" i="0">
                <a:solidFill>
                  <a:srgbClr val="5E6B84"/>
                </a:solidFill>
                <a:latin typeface="Aptos"/>
              </a:rPr>
              <a:t>Log the sample or signal when a rule is met.</a:t>
            </a:r>
          </a:p>
        </p:txBody>
      </p:sp>
      <p:sp>
        <p:nvSpPr>
          <p:cNvPr id="33" name="Rounded Rectangle 32"/>
          <p:cNvSpPr/>
          <p:nvPr/>
        </p:nvSpPr>
        <p:spPr>
          <a:xfrm>
            <a:off x="914400" y="4800600"/>
            <a:ext cx="10241280" cy="73152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24128" y="4965192"/>
            <a:ext cx="64008" cy="402336"/>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25296" y="4956048"/>
            <a:ext cx="9765792" cy="356616"/>
          </a:xfrm>
          <a:prstGeom prst="rect">
            <a:avLst/>
          </a:prstGeom>
          <a:noFill/>
        </p:spPr>
        <p:txBody>
          <a:bodyPr wrap="square" lIns="0" rIns="0" tIns="0" bIns="0" anchor="t">
            <a:normAutofit/>
          </a:bodyPr>
          <a:lstStyle/>
          <a:p>
            <a:pPr algn="l">
              <a:lnSpc>
                <a:spcPct val="108000"/>
              </a:lnSpc>
              <a:spcBef>
                <a:spcPts val="0"/>
              </a:spcBef>
              <a:spcAft>
                <a:spcPts val="0"/>
              </a:spcAft>
            </a:pPr>
            <a:r>
              <a:rPr sz="1300" b="1" i="0">
                <a:solidFill>
                  <a:srgbClr val="1B2740"/>
                </a:solidFill>
                <a:latin typeface="Aptos"/>
              </a:rPr>
              <a:t>Keep in mind</a:t>
            </a:r>
          </a:p>
        </p:txBody>
      </p:sp>
      <p:sp>
        <p:nvSpPr>
          <p:cNvPr id="36" name="TextBox 35"/>
          <p:cNvSpPr txBox="1"/>
          <p:nvPr/>
        </p:nvSpPr>
        <p:spPr>
          <a:xfrm>
            <a:off x="1225296" y="5349240"/>
            <a:ext cx="9765792" cy="256032"/>
          </a:xfrm>
          <a:prstGeom prst="rect">
            <a:avLst/>
          </a:prstGeom>
          <a:noFill/>
        </p:spPr>
        <p:txBody>
          <a:bodyPr wrap="square" lIns="0" rIns="0" tIns="0" bIns="0" anchor="t">
            <a:normAutofit/>
          </a:bodyPr>
          <a:lstStyle/>
          <a:p>
            <a:pPr algn="l">
              <a:lnSpc>
                <a:spcPct val="108000"/>
              </a:lnSpc>
              <a:spcBef>
                <a:spcPts val="0"/>
              </a:spcBef>
              <a:spcAft>
                <a:spcPts val="0"/>
              </a:spcAft>
            </a:pPr>
            <a:r>
              <a:rPr sz="1060" b="0" i="0">
                <a:solidFill>
                  <a:srgbClr val="5E6B84"/>
                </a:solidFill>
                <a:latin typeface="Aptos"/>
              </a:rPr>
              <a:t>Thresholds are project settings, not universal health or safety limits. Test the sensor and messages before relying on the prototype.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527048" cy="256032"/>
          </a:xfrm>
          <a:prstGeom prst="roundRect">
            <a:avLst/>
          </a:prstGeom>
          <a:solidFill>
            <a:srgbClr val="FF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307592"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23856F"/>
                </a:solidFill>
                <a:latin typeface="Aptos"/>
              </a:rPr>
              <a:t>EXAMPLE BUILD</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Project walkthrough: one-button toggle</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A small but useful exercise for understanding inputs, state, and output.</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49</a:t>
            </a:r>
          </a:p>
        </p:txBody>
      </p:sp>
      <p:sp>
        <p:nvSpPr>
          <p:cNvPr id="9" name="Rounded Rectangle 8"/>
          <p:cNvSpPr/>
          <p:nvPr/>
        </p:nvSpPr>
        <p:spPr>
          <a:xfrm>
            <a:off x="749808" y="1956816"/>
            <a:ext cx="3246120" cy="201168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59536" y="2121408"/>
            <a:ext cx="64008" cy="1682496"/>
          </a:xfrm>
          <a:prstGeom prst="round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2112264"/>
            <a:ext cx="2770632" cy="356616"/>
          </a:xfrm>
          <a:prstGeom prst="rect">
            <a:avLst/>
          </a:prstGeom>
          <a:noFill/>
        </p:spPr>
        <p:txBody>
          <a:bodyPr wrap="square" lIns="0" rIns="0" tIns="0" bIns="0" anchor="t">
            <a:normAutofit/>
          </a:bodyPr>
          <a:lstStyle/>
          <a:p>
            <a:pPr algn="l">
              <a:lnSpc>
                <a:spcPct val="108000"/>
              </a:lnSpc>
              <a:spcBef>
                <a:spcPts val="0"/>
              </a:spcBef>
              <a:spcAft>
                <a:spcPts val="0"/>
              </a:spcAft>
            </a:pPr>
            <a:r>
              <a:rPr sz="1500" b="1" i="0">
                <a:solidFill>
                  <a:srgbClr val="1B2740"/>
                </a:solidFill>
                <a:latin typeface="Aptos"/>
              </a:rPr>
              <a:t>Input</a:t>
            </a:r>
          </a:p>
        </p:txBody>
      </p:sp>
      <p:sp>
        <p:nvSpPr>
          <p:cNvPr id="12" name="TextBox 11"/>
          <p:cNvSpPr txBox="1"/>
          <p:nvPr/>
        </p:nvSpPr>
        <p:spPr>
          <a:xfrm>
            <a:off x="1060704" y="2505456"/>
            <a:ext cx="2770632" cy="1316735"/>
          </a:xfrm>
          <a:prstGeom prst="rect">
            <a:avLst/>
          </a:prstGeom>
          <a:noFill/>
        </p:spPr>
        <p:txBody>
          <a:bodyPr wrap="square" lIns="0" rIns="0" tIns="0" bIns="0" anchor="t">
            <a:normAutofit/>
          </a:bodyPr>
          <a:lstStyle/>
          <a:p>
            <a:pPr algn="l">
              <a:lnSpc>
                <a:spcPct val="108000"/>
              </a:lnSpc>
              <a:spcBef>
                <a:spcPts val="0"/>
              </a:spcBef>
              <a:spcAft>
                <a:spcPts val="0"/>
              </a:spcAft>
            </a:pPr>
            <a:r>
              <a:rPr sz="1200" b="0" i="0">
                <a:solidFill>
                  <a:srgbClr val="5E6B84"/>
                </a:solidFill>
                <a:latin typeface="Aptos"/>
              </a:rPr>
              <a:t>A button produces a press event. Debounce the input so one press is counted once.</a:t>
            </a:r>
          </a:p>
        </p:txBody>
      </p:sp>
      <p:sp>
        <p:nvSpPr>
          <p:cNvPr id="13" name="TextBox 12"/>
          <p:cNvSpPr txBox="1"/>
          <p:nvPr/>
        </p:nvSpPr>
        <p:spPr>
          <a:xfrm>
            <a:off x="4059936" y="2743200"/>
            <a:ext cx="310896" cy="347472"/>
          </a:xfrm>
          <a:prstGeom prst="rect">
            <a:avLst/>
          </a:prstGeom>
          <a:noFill/>
        </p:spPr>
        <p:txBody>
          <a:bodyPr wrap="square" lIns="0" rIns="0" tIns="0" bIns="0" anchor="t">
            <a:normAutofit/>
          </a:bodyPr>
          <a:lstStyle/>
          <a:p>
            <a:pPr algn="ctr">
              <a:lnSpc>
                <a:spcPct val="108000"/>
              </a:lnSpc>
              <a:spcBef>
                <a:spcPts val="0"/>
              </a:spcBef>
              <a:spcAft>
                <a:spcPts val="0"/>
              </a:spcAft>
            </a:pPr>
            <a:r>
              <a:rPr sz="2200" b="1" i="0">
                <a:solidFill>
                  <a:srgbClr val="8B96AA"/>
                </a:solidFill>
                <a:latin typeface="Aptos"/>
              </a:rPr>
              <a:t>→</a:t>
            </a:r>
          </a:p>
        </p:txBody>
      </p:sp>
      <p:sp>
        <p:nvSpPr>
          <p:cNvPr id="14" name="Rounded Rectangle 13"/>
          <p:cNvSpPr/>
          <p:nvPr/>
        </p:nvSpPr>
        <p:spPr>
          <a:xfrm>
            <a:off x="4443984" y="1956816"/>
            <a:ext cx="3246120" cy="201168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53712" y="2121408"/>
            <a:ext cx="64008" cy="1682496"/>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0" y="2112264"/>
            <a:ext cx="2770632" cy="356616"/>
          </a:xfrm>
          <a:prstGeom prst="rect">
            <a:avLst/>
          </a:prstGeom>
          <a:noFill/>
        </p:spPr>
        <p:txBody>
          <a:bodyPr wrap="square" lIns="0" rIns="0" tIns="0" bIns="0" anchor="t">
            <a:normAutofit/>
          </a:bodyPr>
          <a:lstStyle/>
          <a:p>
            <a:pPr algn="l">
              <a:lnSpc>
                <a:spcPct val="108000"/>
              </a:lnSpc>
              <a:spcBef>
                <a:spcPts val="0"/>
              </a:spcBef>
              <a:spcAft>
                <a:spcPts val="0"/>
              </a:spcAft>
            </a:pPr>
            <a:r>
              <a:rPr sz="1500" b="1" i="0">
                <a:solidFill>
                  <a:srgbClr val="1B2740"/>
                </a:solidFill>
                <a:latin typeface="Aptos"/>
              </a:rPr>
              <a:t>State</a:t>
            </a:r>
          </a:p>
        </p:txBody>
      </p:sp>
      <p:sp>
        <p:nvSpPr>
          <p:cNvPr id="17" name="TextBox 16"/>
          <p:cNvSpPr txBox="1"/>
          <p:nvPr/>
        </p:nvSpPr>
        <p:spPr>
          <a:xfrm>
            <a:off x="4754880" y="2505456"/>
            <a:ext cx="2770632" cy="1316735"/>
          </a:xfrm>
          <a:prstGeom prst="rect">
            <a:avLst/>
          </a:prstGeom>
          <a:noFill/>
        </p:spPr>
        <p:txBody>
          <a:bodyPr wrap="square" lIns="0" rIns="0" tIns="0" bIns="0" anchor="t">
            <a:normAutofit/>
          </a:bodyPr>
          <a:lstStyle/>
          <a:p>
            <a:pPr algn="l">
              <a:lnSpc>
                <a:spcPct val="108000"/>
              </a:lnSpc>
              <a:spcBef>
                <a:spcPts val="0"/>
              </a:spcBef>
              <a:spcAft>
                <a:spcPts val="0"/>
              </a:spcAft>
            </a:pPr>
            <a:r>
              <a:rPr sz="1200" b="0" i="0">
                <a:solidFill>
                  <a:srgbClr val="5E6B84"/>
                </a:solidFill>
                <a:latin typeface="Aptos"/>
              </a:rPr>
              <a:t>If state is OFF, change it to ON. If state is ON, change it to OFF.</a:t>
            </a:r>
          </a:p>
        </p:txBody>
      </p:sp>
      <p:sp>
        <p:nvSpPr>
          <p:cNvPr id="18" name="TextBox 17"/>
          <p:cNvSpPr txBox="1"/>
          <p:nvPr/>
        </p:nvSpPr>
        <p:spPr>
          <a:xfrm>
            <a:off x="7763256" y="2743200"/>
            <a:ext cx="310896" cy="347472"/>
          </a:xfrm>
          <a:prstGeom prst="rect">
            <a:avLst/>
          </a:prstGeom>
          <a:noFill/>
        </p:spPr>
        <p:txBody>
          <a:bodyPr wrap="square" lIns="0" rIns="0" tIns="0" bIns="0" anchor="t">
            <a:normAutofit/>
          </a:bodyPr>
          <a:lstStyle/>
          <a:p>
            <a:pPr algn="ctr">
              <a:lnSpc>
                <a:spcPct val="108000"/>
              </a:lnSpc>
              <a:spcBef>
                <a:spcPts val="0"/>
              </a:spcBef>
              <a:spcAft>
                <a:spcPts val="0"/>
              </a:spcAft>
            </a:pPr>
            <a:r>
              <a:rPr sz="2200" b="1" i="0">
                <a:solidFill>
                  <a:srgbClr val="8B96AA"/>
                </a:solidFill>
                <a:latin typeface="Aptos"/>
              </a:rPr>
              <a:t>→</a:t>
            </a:r>
          </a:p>
        </p:txBody>
      </p:sp>
      <p:sp>
        <p:nvSpPr>
          <p:cNvPr id="19" name="Rounded Rectangle 18"/>
          <p:cNvSpPr/>
          <p:nvPr/>
        </p:nvSpPr>
        <p:spPr>
          <a:xfrm>
            <a:off x="8147304" y="1956816"/>
            <a:ext cx="3246120" cy="201168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57031" y="2121408"/>
            <a:ext cx="64008" cy="1682496"/>
          </a:xfrm>
          <a:prstGeom prst="round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2112264"/>
            <a:ext cx="2770632" cy="356616"/>
          </a:xfrm>
          <a:prstGeom prst="rect">
            <a:avLst/>
          </a:prstGeom>
          <a:noFill/>
        </p:spPr>
        <p:txBody>
          <a:bodyPr wrap="square" lIns="0" rIns="0" tIns="0" bIns="0" anchor="t">
            <a:normAutofit/>
          </a:bodyPr>
          <a:lstStyle/>
          <a:p>
            <a:pPr algn="l">
              <a:lnSpc>
                <a:spcPct val="108000"/>
              </a:lnSpc>
              <a:spcBef>
                <a:spcPts val="0"/>
              </a:spcBef>
              <a:spcAft>
                <a:spcPts val="0"/>
              </a:spcAft>
            </a:pPr>
            <a:r>
              <a:rPr sz="1500" b="1" i="0">
                <a:solidFill>
                  <a:srgbClr val="1B2740"/>
                </a:solidFill>
                <a:latin typeface="Aptos"/>
              </a:rPr>
              <a:t>Output</a:t>
            </a:r>
          </a:p>
        </p:txBody>
      </p:sp>
      <p:sp>
        <p:nvSpPr>
          <p:cNvPr id="22" name="TextBox 21"/>
          <p:cNvSpPr txBox="1"/>
          <p:nvPr/>
        </p:nvSpPr>
        <p:spPr>
          <a:xfrm>
            <a:off x="8458200" y="2505456"/>
            <a:ext cx="2770632" cy="1316735"/>
          </a:xfrm>
          <a:prstGeom prst="rect">
            <a:avLst/>
          </a:prstGeom>
          <a:noFill/>
        </p:spPr>
        <p:txBody>
          <a:bodyPr wrap="square" lIns="0" rIns="0" tIns="0" bIns="0" anchor="t">
            <a:normAutofit/>
          </a:bodyPr>
          <a:lstStyle/>
          <a:p>
            <a:pPr algn="l">
              <a:lnSpc>
                <a:spcPct val="108000"/>
              </a:lnSpc>
              <a:spcBef>
                <a:spcPts val="0"/>
              </a:spcBef>
              <a:spcAft>
                <a:spcPts val="0"/>
              </a:spcAft>
            </a:pPr>
            <a:r>
              <a:rPr sz="1200" b="0" i="0">
                <a:solidFill>
                  <a:srgbClr val="5E6B84"/>
                </a:solidFill>
                <a:latin typeface="Aptos"/>
              </a:rPr>
              <a:t>Turn the LED on or off to match the saved state.</a:t>
            </a:r>
          </a:p>
        </p:txBody>
      </p:sp>
      <p:sp>
        <p:nvSpPr>
          <p:cNvPr id="23" name="TextBox 22"/>
          <p:cNvSpPr txBox="1"/>
          <p:nvPr/>
        </p:nvSpPr>
        <p:spPr>
          <a:xfrm>
            <a:off x="960120" y="4800600"/>
            <a:ext cx="10241280" cy="548640"/>
          </a:xfrm>
          <a:prstGeom prst="rect">
            <a:avLst/>
          </a:prstGeom>
          <a:noFill/>
        </p:spPr>
        <p:txBody>
          <a:bodyPr wrap="square" lIns="0" rIns="0" tIns="0" bIns="0" anchor="t">
            <a:normAutofit/>
          </a:bodyPr>
          <a:lstStyle/>
          <a:p>
            <a:pPr algn="ctr">
              <a:lnSpc>
                <a:spcPct val="108000"/>
              </a:lnSpc>
              <a:spcBef>
                <a:spcPts val="0"/>
              </a:spcBef>
              <a:spcAft>
                <a:spcPts val="0"/>
              </a:spcAft>
            </a:pPr>
            <a:r>
              <a:rPr sz="1200" b="1" i="0">
                <a:solidFill>
                  <a:srgbClr val="1B2740"/>
                </a:solidFill>
                <a:latin typeface="Aptos"/>
              </a:rPr>
              <a:t>Test: press once, hold the button, release it, then press again. Each press should create only one state change.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143000" cy="256032"/>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923544"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5676F5"/>
                </a:solidFill>
                <a:latin typeface="Aptos"/>
              </a:rPr>
              <a:t>TESTING</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A simple checklist for any mini project</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A working demo is not just code that runs once; it should behave predictably with different inputs.</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50</a:t>
            </a:r>
          </a:p>
        </p:txBody>
      </p:sp>
      <p:sp>
        <p:nvSpPr>
          <p:cNvPr id="9" name="Rounded Rectangle 8"/>
          <p:cNvSpPr/>
          <p:nvPr/>
        </p:nvSpPr>
        <p:spPr>
          <a:xfrm>
            <a:off x="685800" y="1847088"/>
            <a:ext cx="5257800" cy="105156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95528" y="2011680"/>
            <a:ext cx="64008" cy="722375"/>
          </a:xfrm>
          <a:prstGeom prst="round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2002536"/>
            <a:ext cx="4782312" cy="356616"/>
          </a:xfrm>
          <a:prstGeom prst="rect">
            <a:avLst/>
          </a:prstGeom>
          <a:noFill/>
        </p:spPr>
        <p:txBody>
          <a:bodyPr wrap="square" lIns="0" rIns="0" tIns="0" bIns="0" anchor="t">
            <a:normAutofit/>
          </a:bodyPr>
          <a:lstStyle/>
          <a:p>
            <a:pPr algn="l">
              <a:lnSpc>
                <a:spcPct val="108000"/>
              </a:lnSpc>
              <a:spcBef>
                <a:spcPts val="0"/>
              </a:spcBef>
              <a:spcAft>
                <a:spcPts val="0"/>
              </a:spcAft>
            </a:pPr>
            <a:r>
              <a:rPr sz="1300" b="1" i="0">
                <a:solidFill>
                  <a:srgbClr val="1B2740"/>
                </a:solidFill>
                <a:latin typeface="Aptos"/>
              </a:rPr>
              <a:t>Normal case</a:t>
            </a:r>
          </a:p>
        </p:txBody>
      </p:sp>
      <p:sp>
        <p:nvSpPr>
          <p:cNvPr id="12" name="TextBox 11"/>
          <p:cNvSpPr txBox="1"/>
          <p:nvPr/>
        </p:nvSpPr>
        <p:spPr>
          <a:xfrm>
            <a:off x="996696" y="2395728"/>
            <a:ext cx="4782312" cy="356615"/>
          </a:xfrm>
          <a:prstGeom prst="rect">
            <a:avLst/>
          </a:prstGeom>
          <a:noFill/>
        </p:spPr>
        <p:txBody>
          <a:bodyPr wrap="square" lIns="0" rIns="0" tIns="0" bIns="0" anchor="t">
            <a:normAutofit/>
          </a:bodyPr>
          <a:lstStyle/>
          <a:p>
            <a:pPr algn="l">
              <a:lnSpc>
                <a:spcPct val="108000"/>
              </a:lnSpc>
              <a:spcBef>
                <a:spcPts val="0"/>
              </a:spcBef>
              <a:spcAft>
                <a:spcPts val="0"/>
              </a:spcAft>
            </a:pPr>
            <a:r>
              <a:rPr sz="1070" b="0" i="0">
                <a:solidFill>
                  <a:srgbClr val="5E6B84"/>
                </a:solidFill>
                <a:latin typeface="Aptos"/>
              </a:rPr>
              <a:t>Does the project behave correctly for an ordinary input?</a:t>
            </a:r>
          </a:p>
        </p:txBody>
      </p:sp>
      <p:sp>
        <p:nvSpPr>
          <p:cNvPr id="13" name="Rounded Rectangle 12"/>
          <p:cNvSpPr/>
          <p:nvPr/>
        </p:nvSpPr>
        <p:spPr>
          <a:xfrm>
            <a:off x="6263640" y="1847088"/>
            <a:ext cx="5257800" cy="105156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73368" y="2011680"/>
            <a:ext cx="64008" cy="722375"/>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74536" y="2002536"/>
            <a:ext cx="4782312" cy="356616"/>
          </a:xfrm>
          <a:prstGeom prst="rect">
            <a:avLst/>
          </a:prstGeom>
          <a:noFill/>
        </p:spPr>
        <p:txBody>
          <a:bodyPr wrap="square" lIns="0" rIns="0" tIns="0" bIns="0" anchor="t">
            <a:normAutofit/>
          </a:bodyPr>
          <a:lstStyle/>
          <a:p>
            <a:pPr algn="l">
              <a:lnSpc>
                <a:spcPct val="108000"/>
              </a:lnSpc>
              <a:spcBef>
                <a:spcPts val="0"/>
              </a:spcBef>
              <a:spcAft>
                <a:spcPts val="0"/>
              </a:spcAft>
            </a:pPr>
            <a:r>
              <a:rPr sz="1300" b="1" i="0">
                <a:solidFill>
                  <a:srgbClr val="1B2740"/>
                </a:solidFill>
                <a:latin typeface="Aptos"/>
              </a:rPr>
              <a:t>Boundary case</a:t>
            </a:r>
          </a:p>
        </p:txBody>
      </p:sp>
      <p:sp>
        <p:nvSpPr>
          <p:cNvPr id="16" name="TextBox 15"/>
          <p:cNvSpPr txBox="1"/>
          <p:nvPr/>
        </p:nvSpPr>
        <p:spPr>
          <a:xfrm>
            <a:off x="6574536" y="2395728"/>
            <a:ext cx="4782312" cy="356615"/>
          </a:xfrm>
          <a:prstGeom prst="rect">
            <a:avLst/>
          </a:prstGeom>
          <a:noFill/>
        </p:spPr>
        <p:txBody>
          <a:bodyPr wrap="square" lIns="0" rIns="0" tIns="0" bIns="0" anchor="t">
            <a:normAutofit/>
          </a:bodyPr>
          <a:lstStyle/>
          <a:p>
            <a:pPr algn="l">
              <a:lnSpc>
                <a:spcPct val="108000"/>
              </a:lnSpc>
              <a:spcBef>
                <a:spcPts val="0"/>
              </a:spcBef>
              <a:spcAft>
                <a:spcPts val="0"/>
              </a:spcAft>
            </a:pPr>
            <a:r>
              <a:rPr sz="1070" b="0" i="0">
                <a:solidFill>
                  <a:srgbClr val="5E6B84"/>
                </a:solidFill>
                <a:latin typeface="Aptos"/>
              </a:rPr>
              <a:t>What happens just below, at, and above a threshold?</a:t>
            </a:r>
          </a:p>
        </p:txBody>
      </p:sp>
      <p:sp>
        <p:nvSpPr>
          <p:cNvPr id="17" name="Rounded Rectangle 16"/>
          <p:cNvSpPr/>
          <p:nvPr/>
        </p:nvSpPr>
        <p:spPr>
          <a:xfrm>
            <a:off x="685800" y="3145536"/>
            <a:ext cx="5257800" cy="105156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95528" y="3310128"/>
            <a:ext cx="64008" cy="722375"/>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 y="3300984"/>
            <a:ext cx="4782312" cy="356616"/>
          </a:xfrm>
          <a:prstGeom prst="rect">
            <a:avLst/>
          </a:prstGeom>
          <a:noFill/>
        </p:spPr>
        <p:txBody>
          <a:bodyPr wrap="square" lIns="0" rIns="0" tIns="0" bIns="0" anchor="t">
            <a:normAutofit/>
          </a:bodyPr>
          <a:lstStyle/>
          <a:p>
            <a:pPr algn="l">
              <a:lnSpc>
                <a:spcPct val="108000"/>
              </a:lnSpc>
              <a:spcBef>
                <a:spcPts val="0"/>
              </a:spcBef>
              <a:spcAft>
                <a:spcPts val="0"/>
              </a:spcAft>
            </a:pPr>
            <a:r>
              <a:rPr sz="1300" b="1" i="0">
                <a:solidFill>
                  <a:srgbClr val="1B2740"/>
                </a:solidFill>
                <a:latin typeface="Aptos"/>
              </a:rPr>
              <a:t>Repeated input</a:t>
            </a:r>
          </a:p>
        </p:txBody>
      </p:sp>
      <p:sp>
        <p:nvSpPr>
          <p:cNvPr id="20" name="TextBox 19"/>
          <p:cNvSpPr txBox="1"/>
          <p:nvPr/>
        </p:nvSpPr>
        <p:spPr>
          <a:xfrm>
            <a:off x="996696" y="3694176"/>
            <a:ext cx="4782312" cy="356615"/>
          </a:xfrm>
          <a:prstGeom prst="rect">
            <a:avLst/>
          </a:prstGeom>
          <a:noFill/>
        </p:spPr>
        <p:txBody>
          <a:bodyPr wrap="square" lIns="0" rIns="0" tIns="0" bIns="0" anchor="t">
            <a:normAutofit/>
          </a:bodyPr>
          <a:lstStyle/>
          <a:p>
            <a:pPr algn="l">
              <a:lnSpc>
                <a:spcPct val="108000"/>
              </a:lnSpc>
              <a:spcBef>
                <a:spcPts val="0"/>
              </a:spcBef>
              <a:spcAft>
                <a:spcPts val="0"/>
              </a:spcAft>
            </a:pPr>
            <a:r>
              <a:rPr sz="1070" b="0" i="0">
                <a:solidFill>
                  <a:srgbClr val="5E6B84"/>
                </a:solidFill>
                <a:latin typeface="Aptos"/>
              </a:rPr>
              <a:t>Does pressing a button repeatedly create the expected result?</a:t>
            </a:r>
          </a:p>
        </p:txBody>
      </p:sp>
      <p:sp>
        <p:nvSpPr>
          <p:cNvPr id="21" name="Rounded Rectangle 20"/>
          <p:cNvSpPr/>
          <p:nvPr/>
        </p:nvSpPr>
        <p:spPr>
          <a:xfrm>
            <a:off x="6263640" y="3145536"/>
            <a:ext cx="5257800" cy="105156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373368" y="3310128"/>
            <a:ext cx="64008" cy="722375"/>
          </a:xfrm>
          <a:prstGeom prst="roundRect">
            <a:avLst/>
          </a:prstGeom>
          <a:solidFill>
            <a:srgbClr val="E67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74536" y="3300984"/>
            <a:ext cx="4782312" cy="356616"/>
          </a:xfrm>
          <a:prstGeom prst="rect">
            <a:avLst/>
          </a:prstGeom>
          <a:noFill/>
        </p:spPr>
        <p:txBody>
          <a:bodyPr wrap="square" lIns="0" rIns="0" tIns="0" bIns="0" anchor="t">
            <a:normAutofit/>
          </a:bodyPr>
          <a:lstStyle/>
          <a:p>
            <a:pPr algn="l">
              <a:lnSpc>
                <a:spcPct val="108000"/>
              </a:lnSpc>
              <a:spcBef>
                <a:spcPts val="0"/>
              </a:spcBef>
              <a:spcAft>
                <a:spcPts val="0"/>
              </a:spcAft>
            </a:pPr>
            <a:r>
              <a:rPr sz="1300" b="1" i="0">
                <a:solidFill>
                  <a:srgbClr val="1B2740"/>
                </a:solidFill>
                <a:latin typeface="Aptos"/>
              </a:rPr>
              <a:t>Missing or strange data</a:t>
            </a:r>
          </a:p>
        </p:txBody>
      </p:sp>
      <p:sp>
        <p:nvSpPr>
          <p:cNvPr id="24" name="TextBox 23"/>
          <p:cNvSpPr txBox="1"/>
          <p:nvPr/>
        </p:nvSpPr>
        <p:spPr>
          <a:xfrm>
            <a:off x="6574536" y="3694176"/>
            <a:ext cx="4782312" cy="356615"/>
          </a:xfrm>
          <a:prstGeom prst="rect">
            <a:avLst/>
          </a:prstGeom>
          <a:noFill/>
        </p:spPr>
        <p:txBody>
          <a:bodyPr wrap="square" lIns="0" rIns="0" tIns="0" bIns="0" anchor="t">
            <a:normAutofit/>
          </a:bodyPr>
          <a:lstStyle/>
          <a:p>
            <a:pPr algn="l">
              <a:lnSpc>
                <a:spcPct val="108000"/>
              </a:lnSpc>
              <a:spcBef>
                <a:spcPts val="0"/>
              </a:spcBef>
              <a:spcAft>
                <a:spcPts val="0"/>
              </a:spcAft>
            </a:pPr>
            <a:r>
              <a:rPr sz="1070" b="0" i="0">
                <a:solidFill>
                  <a:srgbClr val="5E6B84"/>
                </a:solidFill>
                <a:latin typeface="Aptos"/>
              </a:rPr>
              <a:t>What happens if a sensor value is missing or unexpected?</a:t>
            </a:r>
          </a:p>
        </p:txBody>
      </p:sp>
      <p:sp>
        <p:nvSpPr>
          <p:cNvPr id="25" name="Rounded Rectangle 24"/>
          <p:cNvSpPr/>
          <p:nvPr/>
        </p:nvSpPr>
        <p:spPr>
          <a:xfrm>
            <a:off x="685800" y="4443983"/>
            <a:ext cx="5257800" cy="105156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95528" y="4608575"/>
            <a:ext cx="64008" cy="722375"/>
          </a:xfrm>
          <a:prstGeom prst="round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6696" y="4599431"/>
            <a:ext cx="4782312" cy="356616"/>
          </a:xfrm>
          <a:prstGeom prst="rect">
            <a:avLst/>
          </a:prstGeom>
          <a:noFill/>
        </p:spPr>
        <p:txBody>
          <a:bodyPr wrap="square" lIns="0" rIns="0" tIns="0" bIns="0" anchor="t">
            <a:normAutofit/>
          </a:bodyPr>
          <a:lstStyle/>
          <a:p>
            <a:pPr algn="l">
              <a:lnSpc>
                <a:spcPct val="108000"/>
              </a:lnSpc>
              <a:spcBef>
                <a:spcPts val="0"/>
              </a:spcBef>
              <a:spcAft>
                <a:spcPts val="0"/>
              </a:spcAft>
            </a:pPr>
            <a:r>
              <a:rPr sz="1300" b="1" i="0">
                <a:solidFill>
                  <a:srgbClr val="1B2740"/>
                </a:solidFill>
                <a:latin typeface="Aptos"/>
              </a:rPr>
              <a:t>Clear feedback</a:t>
            </a:r>
          </a:p>
        </p:txBody>
      </p:sp>
      <p:sp>
        <p:nvSpPr>
          <p:cNvPr id="28" name="TextBox 27"/>
          <p:cNvSpPr txBox="1"/>
          <p:nvPr/>
        </p:nvSpPr>
        <p:spPr>
          <a:xfrm>
            <a:off x="996696" y="4992623"/>
            <a:ext cx="4782312" cy="356616"/>
          </a:xfrm>
          <a:prstGeom prst="rect">
            <a:avLst/>
          </a:prstGeom>
          <a:noFill/>
        </p:spPr>
        <p:txBody>
          <a:bodyPr wrap="square" lIns="0" rIns="0" tIns="0" bIns="0" anchor="t">
            <a:normAutofit/>
          </a:bodyPr>
          <a:lstStyle/>
          <a:p>
            <a:pPr algn="l">
              <a:lnSpc>
                <a:spcPct val="108000"/>
              </a:lnSpc>
              <a:spcBef>
                <a:spcPts val="0"/>
              </a:spcBef>
              <a:spcAft>
                <a:spcPts val="0"/>
              </a:spcAft>
            </a:pPr>
            <a:r>
              <a:rPr sz="1070" b="0" i="0">
                <a:solidFill>
                  <a:srgbClr val="5E6B84"/>
                </a:solidFill>
                <a:latin typeface="Aptos"/>
              </a:rPr>
              <a:t>Can another person tell what the current state means?</a:t>
            </a:r>
          </a:p>
        </p:txBody>
      </p:sp>
      <p:sp>
        <p:nvSpPr>
          <p:cNvPr id="29" name="Rounded Rectangle 28"/>
          <p:cNvSpPr/>
          <p:nvPr/>
        </p:nvSpPr>
        <p:spPr>
          <a:xfrm>
            <a:off x="6263640" y="4443983"/>
            <a:ext cx="5257800" cy="105156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73368" y="4608575"/>
            <a:ext cx="64008" cy="722375"/>
          </a:xfrm>
          <a:prstGeom prst="roundRect">
            <a:avLst/>
          </a:prstGeom>
          <a:solidFill>
            <a:srgbClr val="2385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74536" y="4599431"/>
            <a:ext cx="4782312" cy="356616"/>
          </a:xfrm>
          <a:prstGeom prst="rect">
            <a:avLst/>
          </a:prstGeom>
          <a:noFill/>
        </p:spPr>
        <p:txBody>
          <a:bodyPr wrap="square" lIns="0" rIns="0" tIns="0" bIns="0" anchor="t">
            <a:normAutofit/>
          </a:bodyPr>
          <a:lstStyle/>
          <a:p>
            <a:pPr algn="l">
              <a:lnSpc>
                <a:spcPct val="108000"/>
              </a:lnSpc>
              <a:spcBef>
                <a:spcPts val="0"/>
              </a:spcBef>
              <a:spcAft>
                <a:spcPts val="0"/>
              </a:spcAft>
            </a:pPr>
            <a:r>
              <a:rPr sz="1300" b="1" i="0">
                <a:solidFill>
                  <a:srgbClr val="1B2740"/>
                </a:solidFill>
                <a:latin typeface="Aptos"/>
              </a:rPr>
              <a:t>Document results</a:t>
            </a:r>
          </a:p>
        </p:txBody>
      </p:sp>
      <p:sp>
        <p:nvSpPr>
          <p:cNvPr id="32" name="TextBox 31"/>
          <p:cNvSpPr txBox="1"/>
          <p:nvPr/>
        </p:nvSpPr>
        <p:spPr>
          <a:xfrm>
            <a:off x="6574536" y="4992623"/>
            <a:ext cx="4782312" cy="356616"/>
          </a:xfrm>
          <a:prstGeom prst="rect">
            <a:avLst/>
          </a:prstGeom>
          <a:noFill/>
        </p:spPr>
        <p:txBody>
          <a:bodyPr wrap="square" lIns="0" rIns="0" tIns="0" bIns="0" anchor="t">
            <a:normAutofit/>
          </a:bodyPr>
          <a:lstStyle/>
          <a:p>
            <a:pPr algn="l">
              <a:lnSpc>
                <a:spcPct val="108000"/>
              </a:lnSpc>
              <a:spcBef>
                <a:spcPts val="0"/>
              </a:spcBef>
              <a:spcAft>
                <a:spcPts val="0"/>
              </a:spcAft>
            </a:pPr>
            <a:r>
              <a:rPr sz="1070" b="0" i="0">
                <a:solidFill>
                  <a:srgbClr val="5E6B84"/>
                </a:solidFill>
                <a:latin typeface="Aptos"/>
              </a:rPr>
              <a:t>Record test steps, expected behavior, actual behavior, and any fix.</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143000" cy="256032"/>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923544"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5676F5"/>
                </a:solidFill>
                <a:latin typeface="Aptos"/>
              </a:rPr>
              <a:t>COMPARE</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AI projects and embedded projects</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They look different, but each turns input into a result through a repeatable process.</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51</a:t>
            </a:r>
          </a:p>
        </p:txBody>
      </p:sp>
      <p:sp>
        <p:nvSpPr>
          <p:cNvPr id="9" name="Rectangle 8"/>
          <p:cNvSpPr/>
          <p:nvPr/>
        </p:nvSpPr>
        <p:spPr>
          <a:xfrm>
            <a:off x="749808" y="1901952"/>
            <a:ext cx="2057400" cy="502920"/>
          </a:xfrm>
          <a:prstGeom prst="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048256"/>
            <a:ext cx="1837943" cy="201168"/>
          </a:xfrm>
          <a:prstGeom prst="rect">
            <a:avLst/>
          </a:prstGeom>
          <a:noFill/>
        </p:spPr>
        <p:txBody>
          <a:bodyPr wrap="square" lIns="0" rIns="0" tIns="0" bIns="0" anchor="t">
            <a:normAutofit/>
          </a:bodyPr>
          <a:lstStyle/>
          <a:p>
            <a:pPr algn="l">
              <a:lnSpc>
                <a:spcPct val="108000"/>
              </a:lnSpc>
              <a:spcBef>
                <a:spcPts val="0"/>
              </a:spcBef>
              <a:spcAft>
                <a:spcPts val="0"/>
              </a:spcAft>
            </a:pPr>
            <a:r>
              <a:rPr sz="950" b="1" i="0">
                <a:solidFill>
                  <a:srgbClr val="FFFFFF"/>
                </a:solidFill>
                <a:latin typeface="Aptos"/>
              </a:rPr>
              <a:t>QUESTION</a:t>
            </a:r>
          </a:p>
        </p:txBody>
      </p:sp>
      <p:sp>
        <p:nvSpPr>
          <p:cNvPr id="11" name="Rectangle 10"/>
          <p:cNvSpPr/>
          <p:nvPr/>
        </p:nvSpPr>
        <p:spPr>
          <a:xfrm>
            <a:off x="2807208" y="1901952"/>
            <a:ext cx="4279392" cy="502920"/>
          </a:xfrm>
          <a:prstGeom prst="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16936" y="2048256"/>
            <a:ext cx="4059935" cy="201168"/>
          </a:xfrm>
          <a:prstGeom prst="rect">
            <a:avLst/>
          </a:prstGeom>
          <a:noFill/>
        </p:spPr>
        <p:txBody>
          <a:bodyPr wrap="square" lIns="0" rIns="0" tIns="0" bIns="0" anchor="t">
            <a:normAutofit/>
          </a:bodyPr>
          <a:lstStyle/>
          <a:p>
            <a:pPr algn="l">
              <a:lnSpc>
                <a:spcPct val="108000"/>
              </a:lnSpc>
              <a:spcBef>
                <a:spcPts val="0"/>
              </a:spcBef>
              <a:spcAft>
                <a:spcPts val="0"/>
              </a:spcAft>
            </a:pPr>
            <a:r>
              <a:rPr sz="950" b="1" i="0">
                <a:solidFill>
                  <a:srgbClr val="FFFFFF"/>
                </a:solidFill>
                <a:latin typeface="Aptos"/>
              </a:rPr>
              <a:t>AI APPLICATIONS</a:t>
            </a:r>
          </a:p>
        </p:txBody>
      </p:sp>
      <p:sp>
        <p:nvSpPr>
          <p:cNvPr id="13" name="Rectangle 12"/>
          <p:cNvSpPr/>
          <p:nvPr/>
        </p:nvSpPr>
        <p:spPr>
          <a:xfrm>
            <a:off x="7086600" y="1901952"/>
            <a:ext cx="4279392" cy="502920"/>
          </a:xfrm>
          <a:prstGeom prst="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96328" y="2048256"/>
            <a:ext cx="4059935" cy="201168"/>
          </a:xfrm>
          <a:prstGeom prst="rect">
            <a:avLst/>
          </a:prstGeom>
          <a:noFill/>
        </p:spPr>
        <p:txBody>
          <a:bodyPr wrap="square" lIns="0" rIns="0" tIns="0" bIns="0" anchor="t">
            <a:normAutofit/>
          </a:bodyPr>
          <a:lstStyle/>
          <a:p>
            <a:pPr algn="l">
              <a:lnSpc>
                <a:spcPct val="108000"/>
              </a:lnSpc>
              <a:spcBef>
                <a:spcPts val="0"/>
              </a:spcBef>
              <a:spcAft>
                <a:spcPts val="0"/>
              </a:spcAft>
            </a:pPr>
            <a:r>
              <a:rPr sz="950" b="1" i="0">
                <a:solidFill>
                  <a:srgbClr val="FFFFFF"/>
                </a:solidFill>
                <a:latin typeface="Aptos"/>
              </a:rPr>
              <a:t>ROBOTICS / EMBEDDED</a:t>
            </a:r>
          </a:p>
        </p:txBody>
      </p:sp>
      <p:sp>
        <p:nvSpPr>
          <p:cNvPr id="15" name="Rectangle 14"/>
          <p:cNvSpPr/>
          <p:nvPr/>
        </p:nvSpPr>
        <p:spPr>
          <a:xfrm>
            <a:off x="749808" y="2404872"/>
            <a:ext cx="2057400" cy="685800"/>
          </a:xfrm>
          <a:prstGeom prst="rect">
            <a:avLst/>
          </a:prstGeom>
          <a:solidFill>
            <a:srgbClr val="EEF2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2523744"/>
            <a:ext cx="1837943" cy="521208"/>
          </a:xfrm>
          <a:prstGeom prst="rect">
            <a:avLst/>
          </a:prstGeom>
          <a:noFill/>
        </p:spPr>
        <p:txBody>
          <a:bodyPr wrap="square" lIns="0" rIns="0" tIns="0" bIns="0" anchor="t">
            <a:normAutofit/>
          </a:bodyPr>
          <a:lstStyle/>
          <a:p>
            <a:pPr algn="l">
              <a:lnSpc>
                <a:spcPct val="108000"/>
              </a:lnSpc>
              <a:spcBef>
                <a:spcPts val="0"/>
              </a:spcBef>
              <a:spcAft>
                <a:spcPts val="0"/>
              </a:spcAft>
            </a:pPr>
            <a:r>
              <a:rPr sz="1040" b="1" i="0">
                <a:solidFill>
                  <a:srgbClr val="1B2740"/>
                </a:solidFill>
                <a:latin typeface="Aptos"/>
              </a:rPr>
              <a:t>Input</a:t>
            </a:r>
          </a:p>
        </p:txBody>
      </p:sp>
      <p:sp>
        <p:nvSpPr>
          <p:cNvPr id="17" name="Rectangle 16"/>
          <p:cNvSpPr/>
          <p:nvPr/>
        </p:nvSpPr>
        <p:spPr>
          <a:xfrm>
            <a:off x="2807208" y="2404872"/>
            <a:ext cx="4279392" cy="685800"/>
          </a:xfrm>
          <a:prstGeom prst="rect">
            <a:avLst/>
          </a:prstGeom>
          <a:solidFill>
            <a:srgbClr val="EEF2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16936" y="2523744"/>
            <a:ext cx="4059935" cy="521208"/>
          </a:xfrm>
          <a:prstGeom prst="rect">
            <a:avLst/>
          </a:prstGeom>
          <a:noFill/>
        </p:spPr>
        <p:txBody>
          <a:bodyPr wrap="square" lIns="0" rIns="0" tIns="0" bIns="0" anchor="t">
            <a:normAutofit/>
          </a:bodyPr>
          <a:lstStyle/>
          <a:p>
            <a:pPr algn="l">
              <a:lnSpc>
                <a:spcPct val="108000"/>
              </a:lnSpc>
              <a:spcBef>
                <a:spcPts val="0"/>
              </a:spcBef>
              <a:spcAft>
                <a:spcPts val="0"/>
              </a:spcAft>
            </a:pPr>
            <a:r>
              <a:rPr sz="1040" b="0" i="0">
                <a:solidFill>
                  <a:srgbClr val="5E6B84"/>
                </a:solidFill>
                <a:latin typeface="Aptos"/>
              </a:rPr>
              <a:t>Prompt, topic, image, or player action</a:t>
            </a:r>
          </a:p>
        </p:txBody>
      </p:sp>
      <p:sp>
        <p:nvSpPr>
          <p:cNvPr id="19" name="Rectangle 18"/>
          <p:cNvSpPr/>
          <p:nvPr/>
        </p:nvSpPr>
        <p:spPr>
          <a:xfrm>
            <a:off x="7086600" y="2404872"/>
            <a:ext cx="4279392" cy="685800"/>
          </a:xfrm>
          <a:prstGeom prst="rect">
            <a:avLst/>
          </a:prstGeom>
          <a:solidFill>
            <a:srgbClr val="EEF2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96328" y="2523744"/>
            <a:ext cx="4059935" cy="521208"/>
          </a:xfrm>
          <a:prstGeom prst="rect">
            <a:avLst/>
          </a:prstGeom>
          <a:noFill/>
        </p:spPr>
        <p:txBody>
          <a:bodyPr wrap="square" lIns="0" rIns="0" tIns="0" bIns="0" anchor="t">
            <a:normAutofit/>
          </a:bodyPr>
          <a:lstStyle/>
          <a:p>
            <a:pPr algn="l">
              <a:lnSpc>
                <a:spcPct val="108000"/>
              </a:lnSpc>
              <a:spcBef>
                <a:spcPts val="0"/>
              </a:spcBef>
              <a:spcAft>
                <a:spcPts val="0"/>
              </a:spcAft>
            </a:pPr>
            <a:r>
              <a:rPr sz="1040" b="0" i="0">
                <a:solidFill>
                  <a:srgbClr val="5E6B84"/>
                </a:solidFill>
                <a:latin typeface="Aptos"/>
              </a:rPr>
              <a:t>Sensor reading, button press, or timer</a:t>
            </a:r>
          </a:p>
        </p:txBody>
      </p:sp>
      <p:sp>
        <p:nvSpPr>
          <p:cNvPr id="21" name="Rectangle 20"/>
          <p:cNvSpPr/>
          <p:nvPr/>
        </p:nvSpPr>
        <p:spPr>
          <a:xfrm>
            <a:off x="749808" y="3090672"/>
            <a:ext cx="2057400" cy="685800"/>
          </a:xfrm>
          <a:prstGeom prst="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 y="3209544"/>
            <a:ext cx="1837943" cy="521208"/>
          </a:xfrm>
          <a:prstGeom prst="rect">
            <a:avLst/>
          </a:prstGeom>
          <a:noFill/>
        </p:spPr>
        <p:txBody>
          <a:bodyPr wrap="square" lIns="0" rIns="0" tIns="0" bIns="0" anchor="t">
            <a:normAutofit/>
          </a:bodyPr>
          <a:lstStyle/>
          <a:p>
            <a:pPr algn="l">
              <a:lnSpc>
                <a:spcPct val="108000"/>
              </a:lnSpc>
              <a:spcBef>
                <a:spcPts val="0"/>
              </a:spcBef>
              <a:spcAft>
                <a:spcPts val="0"/>
              </a:spcAft>
            </a:pPr>
            <a:r>
              <a:rPr sz="1040" b="1" i="0">
                <a:solidFill>
                  <a:srgbClr val="1B2740"/>
                </a:solidFill>
                <a:latin typeface="Aptos"/>
              </a:rPr>
              <a:t>Processing</a:t>
            </a:r>
          </a:p>
        </p:txBody>
      </p:sp>
      <p:sp>
        <p:nvSpPr>
          <p:cNvPr id="23" name="Rectangle 22"/>
          <p:cNvSpPr/>
          <p:nvPr/>
        </p:nvSpPr>
        <p:spPr>
          <a:xfrm>
            <a:off x="2807208" y="3090672"/>
            <a:ext cx="4279392" cy="685800"/>
          </a:xfrm>
          <a:prstGeom prst="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16936" y="3209544"/>
            <a:ext cx="4059935" cy="521208"/>
          </a:xfrm>
          <a:prstGeom prst="rect">
            <a:avLst/>
          </a:prstGeom>
          <a:noFill/>
        </p:spPr>
        <p:txBody>
          <a:bodyPr wrap="square" lIns="0" rIns="0" tIns="0" bIns="0" anchor="t">
            <a:normAutofit/>
          </a:bodyPr>
          <a:lstStyle/>
          <a:p>
            <a:pPr algn="l">
              <a:lnSpc>
                <a:spcPct val="108000"/>
              </a:lnSpc>
              <a:spcBef>
                <a:spcPts val="0"/>
              </a:spcBef>
              <a:spcAft>
                <a:spcPts val="0"/>
              </a:spcAft>
            </a:pPr>
            <a:r>
              <a:rPr sz="1040" b="0" i="0">
                <a:solidFill>
                  <a:srgbClr val="5E6B84"/>
                </a:solidFill>
                <a:latin typeface="Aptos"/>
              </a:rPr>
              <a:t>Language model, image logic, memory, or prompt rules</a:t>
            </a:r>
          </a:p>
        </p:txBody>
      </p:sp>
      <p:sp>
        <p:nvSpPr>
          <p:cNvPr id="25" name="Rectangle 24"/>
          <p:cNvSpPr/>
          <p:nvPr/>
        </p:nvSpPr>
        <p:spPr>
          <a:xfrm>
            <a:off x="7086600" y="3090672"/>
            <a:ext cx="4279392" cy="685800"/>
          </a:xfrm>
          <a:prstGeom prst="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96328" y="3209544"/>
            <a:ext cx="4059935" cy="521208"/>
          </a:xfrm>
          <a:prstGeom prst="rect">
            <a:avLst/>
          </a:prstGeom>
          <a:noFill/>
        </p:spPr>
        <p:txBody>
          <a:bodyPr wrap="square" lIns="0" rIns="0" tIns="0" bIns="0" anchor="t">
            <a:normAutofit/>
          </a:bodyPr>
          <a:lstStyle/>
          <a:p>
            <a:pPr algn="l">
              <a:lnSpc>
                <a:spcPct val="108000"/>
              </a:lnSpc>
              <a:spcBef>
                <a:spcPts val="0"/>
              </a:spcBef>
              <a:spcAft>
                <a:spcPts val="0"/>
              </a:spcAft>
            </a:pPr>
            <a:r>
              <a:rPr sz="1040" b="0" i="0">
                <a:solidFill>
                  <a:srgbClr val="5E6B84"/>
                </a:solidFill>
                <a:latin typeface="Aptos"/>
              </a:rPr>
              <a:t>Microcontroller logic, thresholds, state machine</a:t>
            </a:r>
          </a:p>
        </p:txBody>
      </p:sp>
      <p:sp>
        <p:nvSpPr>
          <p:cNvPr id="27" name="Rectangle 26"/>
          <p:cNvSpPr/>
          <p:nvPr/>
        </p:nvSpPr>
        <p:spPr>
          <a:xfrm>
            <a:off x="749808" y="3776472"/>
            <a:ext cx="2057400" cy="685800"/>
          </a:xfrm>
          <a:prstGeom prst="rect">
            <a:avLst/>
          </a:prstGeom>
          <a:solidFill>
            <a:srgbClr val="EEF2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9536" y="3895344"/>
            <a:ext cx="1837943" cy="521208"/>
          </a:xfrm>
          <a:prstGeom prst="rect">
            <a:avLst/>
          </a:prstGeom>
          <a:noFill/>
        </p:spPr>
        <p:txBody>
          <a:bodyPr wrap="square" lIns="0" rIns="0" tIns="0" bIns="0" anchor="t">
            <a:normAutofit/>
          </a:bodyPr>
          <a:lstStyle/>
          <a:p>
            <a:pPr algn="l">
              <a:lnSpc>
                <a:spcPct val="108000"/>
              </a:lnSpc>
              <a:spcBef>
                <a:spcPts val="0"/>
              </a:spcBef>
              <a:spcAft>
                <a:spcPts val="0"/>
              </a:spcAft>
            </a:pPr>
            <a:r>
              <a:rPr sz="1040" b="1" i="0">
                <a:solidFill>
                  <a:srgbClr val="1B2740"/>
                </a:solidFill>
                <a:latin typeface="Aptos"/>
              </a:rPr>
              <a:t>Output</a:t>
            </a:r>
          </a:p>
        </p:txBody>
      </p:sp>
      <p:sp>
        <p:nvSpPr>
          <p:cNvPr id="29" name="Rectangle 28"/>
          <p:cNvSpPr/>
          <p:nvPr/>
        </p:nvSpPr>
        <p:spPr>
          <a:xfrm>
            <a:off x="2807208" y="3776472"/>
            <a:ext cx="4279392" cy="685800"/>
          </a:xfrm>
          <a:prstGeom prst="rect">
            <a:avLst/>
          </a:prstGeom>
          <a:solidFill>
            <a:srgbClr val="EEF2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16936" y="3895344"/>
            <a:ext cx="4059935" cy="521208"/>
          </a:xfrm>
          <a:prstGeom prst="rect">
            <a:avLst/>
          </a:prstGeom>
          <a:noFill/>
        </p:spPr>
        <p:txBody>
          <a:bodyPr wrap="square" lIns="0" rIns="0" tIns="0" bIns="0" anchor="t">
            <a:normAutofit/>
          </a:bodyPr>
          <a:lstStyle/>
          <a:p>
            <a:pPr algn="l">
              <a:lnSpc>
                <a:spcPct val="108000"/>
              </a:lnSpc>
              <a:spcBef>
                <a:spcPts val="0"/>
              </a:spcBef>
              <a:spcAft>
                <a:spcPts val="0"/>
              </a:spcAft>
            </a:pPr>
            <a:r>
              <a:rPr sz="1040" b="0" i="0">
                <a:solidFill>
                  <a:srgbClr val="5E6B84"/>
                </a:solidFill>
                <a:latin typeface="Aptos"/>
              </a:rPr>
              <a:t>Story, rap verse, captioned image, voice</a:t>
            </a:r>
          </a:p>
        </p:txBody>
      </p:sp>
      <p:sp>
        <p:nvSpPr>
          <p:cNvPr id="31" name="Rectangle 30"/>
          <p:cNvSpPr/>
          <p:nvPr/>
        </p:nvSpPr>
        <p:spPr>
          <a:xfrm>
            <a:off x="7086600" y="3776472"/>
            <a:ext cx="4279392" cy="685800"/>
          </a:xfrm>
          <a:prstGeom prst="rect">
            <a:avLst/>
          </a:prstGeom>
          <a:solidFill>
            <a:srgbClr val="EEF2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96328" y="3895344"/>
            <a:ext cx="4059935" cy="521208"/>
          </a:xfrm>
          <a:prstGeom prst="rect">
            <a:avLst/>
          </a:prstGeom>
          <a:noFill/>
        </p:spPr>
        <p:txBody>
          <a:bodyPr wrap="square" lIns="0" rIns="0" tIns="0" bIns="0" anchor="t">
            <a:normAutofit/>
          </a:bodyPr>
          <a:lstStyle/>
          <a:p>
            <a:pPr algn="l">
              <a:lnSpc>
                <a:spcPct val="108000"/>
              </a:lnSpc>
              <a:spcBef>
                <a:spcPts val="0"/>
              </a:spcBef>
              <a:spcAft>
                <a:spcPts val="0"/>
              </a:spcAft>
            </a:pPr>
            <a:r>
              <a:rPr sz="1040" b="0" i="0">
                <a:solidFill>
                  <a:srgbClr val="5E6B84"/>
                </a:solidFill>
                <a:latin typeface="Aptos"/>
              </a:rPr>
              <a:t>LED, buzzer, display, motion, saved reading</a:t>
            </a:r>
          </a:p>
        </p:txBody>
      </p:sp>
      <p:sp>
        <p:nvSpPr>
          <p:cNvPr id="33" name="Rectangle 32"/>
          <p:cNvSpPr/>
          <p:nvPr/>
        </p:nvSpPr>
        <p:spPr>
          <a:xfrm>
            <a:off x="749808" y="4462272"/>
            <a:ext cx="2057400" cy="685800"/>
          </a:xfrm>
          <a:prstGeom prst="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536" y="4581144"/>
            <a:ext cx="1837943" cy="521208"/>
          </a:xfrm>
          <a:prstGeom prst="rect">
            <a:avLst/>
          </a:prstGeom>
          <a:noFill/>
        </p:spPr>
        <p:txBody>
          <a:bodyPr wrap="square" lIns="0" rIns="0" tIns="0" bIns="0" anchor="t">
            <a:normAutofit/>
          </a:bodyPr>
          <a:lstStyle/>
          <a:p>
            <a:pPr algn="l">
              <a:lnSpc>
                <a:spcPct val="108000"/>
              </a:lnSpc>
              <a:spcBef>
                <a:spcPts val="0"/>
              </a:spcBef>
              <a:spcAft>
                <a:spcPts val="0"/>
              </a:spcAft>
            </a:pPr>
            <a:r>
              <a:rPr sz="1040" b="1" i="0">
                <a:solidFill>
                  <a:srgbClr val="1B2740"/>
                </a:solidFill>
                <a:latin typeface="Aptos"/>
              </a:rPr>
              <a:t>Main learning</a:t>
            </a:r>
          </a:p>
        </p:txBody>
      </p:sp>
      <p:sp>
        <p:nvSpPr>
          <p:cNvPr id="35" name="Rectangle 34"/>
          <p:cNvSpPr/>
          <p:nvPr/>
        </p:nvSpPr>
        <p:spPr>
          <a:xfrm>
            <a:off x="2807208" y="4462272"/>
            <a:ext cx="4279392" cy="685800"/>
          </a:xfrm>
          <a:prstGeom prst="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16936" y="4581144"/>
            <a:ext cx="4059935" cy="521208"/>
          </a:xfrm>
          <a:prstGeom prst="rect">
            <a:avLst/>
          </a:prstGeom>
          <a:noFill/>
        </p:spPr>
        <p:txBody>
          <a:bodyPr wrap="square" lIns="0" rIns="0" tIns="0" bIns="0" anchor="t">
            <a:normAutofit/>
          </a:bodyPr>
          <a:lstStyle/>
          <a:p>
            <a:pPr algn="l">
              <a:lnSpc>
                <a:spcPct val="108000"/>
              </a:lnSpc>
              <a:spcBef>
                <a:spcPts val="0"/>
              </a:spcBef>
              <a:spcAft>
                <a:spcPts val="0"/>
              </a:spcAft>
            </a:pPr>
            <a:r>
              <a:rPr sz="1040" b="0" i="0">
                <a:solidFill>
                  <a:srgbClr val="5E6B84"/>
                </a:solidFill>
                <a:latin typeface="Aptos"/>
              </a:rPr>
              <a:t>Prompt design, context, APIs, UI, rendering</a:t>
            </a:r>
          </a:p>
        </p:txBody>
      </p:sp>
      <p:sp>
        <p:nvSpPr>
          <p:cNvPr id="37" name="Rectangle 36"/>
          <p:cNvSpPr/>
          <p:nvPr/>
        </p:nvSpPr>
        <p:spPr>
          <a:xfrm>
            <a:off x="7086600" y="4462272"/>
            <a:ext cx="4279392" cy="685800"/>
          </a:xfrm>
          <a:prstGeom prst="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96328" y="4581144"/>
            <a:ext cx="4059935" cy="521208"/>
          </a:xfrm>
          <a:prstGeom prst="rect">
            <a:avLst/>
          </a:prstGeom>
          <a:noFill/>
        </p:spPr>
        <p:txBody>
          <a:bodyPr wrap="square" lIns="0" rIns="0" tIns="0" bIns="0" anchor="t">
            <a:normAutofit/>
          </a:bodyPr>
          <a:lstStyle/>
          <a:p>
            <a:pPr algn="l">
              <a:lnSpc>
                <a:spcPct val="108000"/>
              </a:lnSpc>
              <a:spcBef>
                <a:spcPts val="0"/>
              </a:spcBef>
              <a:spcAft>
                <a:spcPts val="0"/>
              </a:spcAft>
            </a:pPr>
            <a:r>
              <a:rPr sz="1040" b="0" i="0">
                <a:solidFill>
                  <a:srgbClr val="5E6B84"/>
                </a:solidFill>
                <a:latin typeface="Aptos"/>
              </a:rPr>
              <a:t>Sensors, GPIO, PWM, timing, actuation, testing</a:t>
            </a:r>
          </a:p>
        </p:txBody>
      </p:sp>
      <p:sp>
        <p:nvSpPr>
          <p:cNvPr id="39" name="Rectangle 38"/>
          <p:cNvSpPr/>
          <p:nvPr/>
        </p:nvSpPr>
        <p:spPr>
          <a:xfrm>
            <a:off x="749808" y="5148072"/>
            <a:ext cx="2057400" cy="685800"/>
          </a:xfrm>
          <a:prstGeom prst="rect">
            <a:avLst/>
          </a:prstGeom>
          <a:solidFill>
            <a:srgbClr val="EEF2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9536" y="5266944"/>
            <a:ext cx="1837943" cy="521208"/>
          </a:xfrm>
          <a:prstGeom prst="rect">
            <a:avLst/>
          </a:prstGeom>
          <a:noFill/>
        </p:spPr>
        <p:txBody>
          <a:bodyPr wrap="square" lIns="0" rIns="0" tIns="0" bIns="0" anchor="t">
            <a:normAutofit/>
          </a:bodyPr>
          <a:lstStyle/>
          <a:p>
            <a:pPr algn="l">
              <a:lnSpc>
                <a:spcPct val="108000"/>
              </a:lnSpc>
              <a:spcBef>
                <a:spcPts val="0"/>
              </a:spcBef>
              <a:spcAft>
                <a:spcPts val="0"/>
              </a:spcAft>
            </a:pPr>
            <a:r>
              <a:rPr sz="1040" b="1" i="0">
                <a:solidFill>
                  <a:srgbClr val="1B2740"/>
                </a:solidFill>
                <a:latin typeface="Aptos"/>
              </a:rPr>
              <a:t>First prototype</a:t>
            </a:r>
          </a:p>
        </p:txBody>
      </p:sp>
      <p:sp>
        <p:nvSpPr>
          <p:cNvPr id="41" name="Rectangle 40"/>
          <p:cNvSpPr/>
          <p:nvPr/>
        </p:nvSpPr>
        <p:spPr>
          <a:xfrm>
            <a:off x="2807208" y="5148072"/>
            <a:ext cx="4279392" cy="685800"/>
          </a:xfrm>
          <a:prstGeom prst="rect">
            <a:avLst/>
          </a:prstGeom>
          <a:solidFill>
            <a:srgbClr val="EEF2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16936" y="5266944"/>
            <a:ext cx="4059935" cy="521208"/>
          </a:xfrm>
          <a:prstGeom prst="rect">
            <a:avLst/>
          </a:prstGeom>
          <a:noFill/>
        </p:spPr>
        <p:txBody>
          <a:bodyPr wrap="square" lIns="0" rIns="0" tIns="0" bIns="0" anchor="t">
            <a:normAutofit/>
          </a:bodyPr>
          <a:lstStyle/>
          <a:p>
            <a:pPr algn="l">
              <a:lnSpc>
                <a:spcPct val="108000"/>
              </a:lnSpc>
              <a:spcBef>
                <a:spcPts val="0"/>
              </a:spcBef>
              <a:spcAft>
                <a:spcPts val="0"/>
              </a:spcAft>
            </a:pPr>
            <a:r>
              <a:rPr sz="1040" b="0" i="0">
                <a:solidFill>
                  <a:srgbClr val="5E6B84"/>
                </a:solidFill>
                <a:latin typeface="Aptos"/>
              </a:rPr>
              <a:t>A small result page or interactive prompt</a:t>
            </a:r>
          </a:p>
        </p:txBody>
      </p:sp>
      <p:sp>
        <p:nvSpPr>
          <p:cNvPr id="43" name="Rectangle 42"/>
          <p:cNvSpPr/>
          <p:nvPr/>
        </p:nvSpPr>
        <p:spPr>
          <a:xfrm>
            <a:off x="7086600" y="5148072"/>
            <a:ext cx="4279392" cy="685800"/>
          </a:xfrm>
          <a:prstGeom prst="rect">
            <a:avLst/>
          </a:prstGeom>
          <a:solidFill>
            <a:srgbClr val="EEF2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196328" y="5266944"/>
            <a:ext cx="4059935" cy="521208"/>
          </a:xfrm>
          <a:prstGeom prst="rect">
            <a:avLst/>
          </a:prstGeom>
          <a:noFill/>
        </p:spPr>
        <p:txBody>
          <a:bodyPr wrap="square" lIns="0" rIns="0" tIns="0" bIns="0" anchor="t">
            <a:normAutofit/>
          </a:bodyPr>
          <a:lstStyle/>
          <a:p>
            <a:pPr algn="l">
              <a:lnSpc>
                <a:spcPct val="108000"/>
              </a:lnSpc>
              <a:spcBef>
                <a:spcPts val="0"/>
              </a:spcBef>
              <a:spcAft>
                <a:spcPts val="0"/>
              </a:spcAft>
            </a:pPr>
            <a:r>
              <a:rPr sz="1040" b="0" i="0">
                <a:solidFill>
                  <a:srgbClr val="5E6B84"/>
                </a:solidFill>
                <a:latin typeface="Aptos"/>
              </a:rPr>
              <a:t>One input + one rule + one visible output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143000" cy="256032"/>
          </a:xfrm>
          <a:prstGeom prst="roundRect">
            <a:avLst/>
          </a:prstGeom>
          <a:solidFill>
            <a:srgbClr val="F1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923544"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8A70E8"/>
                </a:solidFill>
                <a:latin typeface="Aptos"/>
              </a:rPr>
              <a:t>CHOOSING</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Which project should you start with?</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Choose based on what you want to learn and what you can realistically demonstrate in the time available.</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52</a:t>
            </a:r>
          </a:p>
        </p:txBody>
      </p:sp>
      <p:sp>
        <p:nvSpPr>
          <p:cNvPr id="9" name="Rounded Rectangle 8"/>
          <p:cNvSpPr/>
          <p:nvPr/>
        </p:nvSpPr>
        <p:spPr>
          <a:xfrm>
            <a:off x="694944" y="1856231"/>
            <a:ext cx="5230368" cy="105156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4672" y="2020824"/>
            <a:ext cx="64008" cy="722375"/>
          </a:xfrm>
          <a:prstGeom prst="round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79"/>
            <a:ext cx="4754879" cy="356616"/>
          </a:xfrm>
          <a:prstGeom prst="rect">
            <a:avLst/>
          </a:prstGeom>
          <a:noFill/>
        </p:spPr>
        <p:txBody>
          <a:bodyPr wrap="square" lIns="0" rIns="0" tIns="0" bIns="0" anchor="t">
            <a:normAutofit/>
          </a:bodyPr>
          <a:lstStyle/>
          <a:p>
            <a:pPr algn="l">
              <a:lnSpc>
                <a:spcPct val="108000"/>
              </a:lnSpc>
              <a:spcBef>
                <a:spcPts val="0"/>
              </a:spcBef>
              <a:spcAft>
                <a:spcPts val="0"/>
              </a:spcAft>
            </a:pPr>
            <a:r>
              <a:rPr sz="1250" b="1" i="0">
                <a:solidFill>
                  <a:srgbClr val="1B2740"/>
                </a:solidFill>
                <a:latin typeface="Aptos"/>
              </a:rPr>
              <a:t>I like stories and decision-making</a:t>
            </a:r>
          </a:p>
        </p:txBody>
      </p:sp>
      <p:sp>
        <p:nvSpPr>
          <p:cNvPr id="12" name="TextBox 11"/>
          <p:cNvSpPr txBox="1"/>
          <p:nvPr/>
        </p:nvSpPr>
        <p:spPr>
          <a:xfrm>
            <a:off x="1005840" y="2404872"/>
            <a:ext cx="4754879" cy="356615"/>
          </a:xfrm>
          <a:prstGeom prst="rect">
            <a:avLst/>
          </a:prstGeom>
          <a:noFill/>
        </p:spPr>
        <p:txBody>
          <a:bodyPr wrap="square" lIns="0" rIns="0" tIns="0" bIns="0" anchor="t">
            <a:normAutofit/>
          </a:bodyPr>
          <a:lstStyle/>
          <a:p>
            <a:pPr algn="l">
              <a:lnSpc>
                <a:spcPct val="108000"/>
              </a:lnSpc>
              <a:spcBef>
                <a:spcPts val="0"/>
              </a:spcBef>
              <a:spcAft>
                <a:spcPts val="300"/>
              </a:spcAft>
            </a:pPr>
            <a:r>
              <a:rPr sz="1060" b="0" i="0">
                <a:solidFill>
                  <a:srgbClr val="5E6B84"/>
                </a:solidFill>
                <a:latin typeface="Aptos"/>
              </a:rPr>
              <a:t>AI Dungeon Master</a:t>
            </a:r>
          </a:p>
          <a:p>
            <a:pPr algn="l">
              <a:lnSpc>
                <a:spcPct val="108000"/>
              </a:lnSpc>
              <a:spcBef>
                <a:spcPts val="0"/>
              </a:spcBef>
              <a:spcAft>
                <a:spcPts val="300"/>
              </a:spcAft>
            </a:pPr>
            <a:r>
              <a:rPr sz="1060" b="0" i="0">
                <a:solidFill>
                  <a:srgbClr val="5E6B84"/>
                </a:solidFill>
                <a:latin typeface="Aptos"/>
              </a:rPr>
              <a:t>Practise: Story loop + memory</a:t>
            </a:r>
          </a:p>
        </p:txBody>
      </p:sp>
      <p:sp>
        <p:nvSpPr>
          <p:cNvPr id="13" name="Rounded Rectangle 12"/>
          <p:cNvSpPr/>
          <p:nvPr/>
        </p:nvSpPr>
        <p:spPr>
          <a:xfrm>
            <a:off x="6272783" y="1856231"/>
            <a:ext cx="5230368" cy="105156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82512" y="2020824"/>
            <a:ext cx="64008" cy="722375"/>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79" y="2011679"/>
            <a:ext cx="4754879" cy="356616"/>
          </a:xfrm>
          <a:prstGeom prst="rect">
            <a:avLst/>
          </a:prstGeom>
          <a:noFill/>
        </p:spPr>
        <p:txBody>
          <a:bodyPr wrap="square" lIns="0" rIns="0" tIns="0" bIns="0" anchor="t">
            <a:normAutofit/>
          </a:bodyPr>
          <a:lstStyle/>
          <a:p>
            <a:pPr algn="l">
              <a:lnSpc>
                <a:spcPct val="108000"/>
              </a:lnSpc>
              <a:spcBef>
                <a:spcPts val="0"/>
              </a:spcBef>
              <a:spcAft>
                <a:spcPts val="0"/>
              </a:spcAft>
            </a:pPr>
            <a:r>
              <a:rPr sz="1250" b="1" i="0">
                <a:solidFill>
                  <a:srgbClr val="1B2740"/>
                </a:solidFill>
                <a:latin typeface="Aptos"/>
              </a:rPr>
              <a:t>I like language and sound</a:t>
            </a:r>
          </a:p>
        </p:txBody>
      </p:sp>
      <p:sp>
        <p:nvSpPr>
          <p:cNvPr id="16" name="TextBox 15"/>
          <p:cNvSpPr txBox="1"/>
          <p:nvPr/>
        </p:nvSpPr>
        <p:spPr>
          <a:xfrm>
            <a:off x="6583679" y="2404872"/>
            <a:ext cx="4754879" cy="356615"/>
          </a:xfrm>
          <a:prstGeom prst="rect">
            <a:avLst/>
          </a:prstGeom>
          <a:noFill/>
        </p:spPr>
        <p:txBody>
          <a:bodyPr wrap="square" lIns="0" rIns="0" tIns="0" bIns="0" anchor="t">
            <a:normAutofit/>
          </a:bodyPr>
          <a:lstStyle/>
          <a:p>
            <a:pPr algn="l">
              <a:lnSpc>
                <a:spcPct val="108000"/>
              </a:lnSpc>
              <a:spcBef>
                <a:spcPts val="0"/>
              </a:spcBef>
              <a:spcAft>
                <a:spcPts val="300"/>
              </a:spcAft>
            </a:pPr>
            <a:r>
              <a:rPr sz="1060" b="0" i="0">
                <a:solidFill>
                  <a:srgbClr val="5E6B84"/>
                </a:solidFill>
                <a:latin typeface="Aptos"/>
              </a:rPr>
              <a:t>Rap Battle Generator</a:t>
            </a:r>
          </a:p>
          <a:p>
            <a:pPr algn="l">
              <a:lnSpc>
                <a:spcPct val="108000"/>
              </a:lnSpc>
              <a:spcBef>
                <a:spcPts val="0"/>
              </a:spcBef>
              <a:spcAft>
                <a:spcPts val="300"/>
              </a:spcAft>
            </a:pPr>
            <a:r>
              <a:rPr sz="1060" b="0" i="0">
                <a:solidFill>
                  <a:srgbClr val="5E6B84"/>
                </a:solidFill>
                <a:latin typeface="Aptos"/>
              </a:rPr>
              <a:t>Practise: Prompt + rhyme support + optional voice</a:t>
            </a:r>
          </a:p>
        </p:txBody>
      </p:sp>
      <p:sp>
        <p:nvSpPr>
          <p:cNvPr id="17" name="Rounded Rectangle 16"/>
          <p:cNvSpPr/>
          <p:nvPr/>
        </p:nvSpPr>
        <p:spPr>
          <a:xfrm>
            <a:off x="694944" y="3154679"/>
            <a:ext cx="5230368" cy="105156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4672" y="3319272"/>
            <a:ext cx="64008" cy="722375"/>
          </a:xfrm>
          <a:prstGeom prst="roundRect">
            <a:avLst/>
          </a:prstGeom>
          <a:solidFill>
            <a:srgbClr val="E67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310127"/>
            <a:ext cx="4754879" cy="356616"/>
          </a:xfrm>
          <a:prstGeom prst="rect">
            <a:avLst/>
          </a:prstGeom>
          <a:noFill/>
        </p:spPr>
        <p:txBody>
          <a:bodyPr wrap="square" lIns="0" rIns="0" tIns="0" bIns="0" anchor="t">
            <a:normAutofit/>
          </a:bodyPr>
          <a:lstStyle/>
          <a:p>
            <a:pPr algn="l">
              <a:lnSpc>
                <a:spcPct val="108000"/>
              </a:lnSpc>
              <a:spcBef>
                <a:spcPts val="0"/>
              </a:spcBef>
              <a:spcAft>
                <a:spcPts val="0"/>
              </a:spcAft>
            </a:pPr>
            <a:r>
              <a:rPr sz="1250" b="1" i="0">
                <a:solidFill>
                  <a:srgbClr val="1B2740"/>
                </a:solidFill>
                <a:latin typeface="Aptos"/>
              </a:rPr>
              <a:t>I like images and visual output</a:t>
            </a:r>
          </a:p>
        </p:txBody>
      </p:sp>
      <p:sp>
        <p:nvSpPr>
          <p:cNvPr id="20" name="TextBox 19"/>
          <p:cNvSpPr txBox="1"/>
          <p:nvPr/>
        </p:nvSpPr>
        <p:spPr>
          <a:xfrm>
            <a:off x="1005840" y="3703320"/>
            <a:ext cx="4754879" cy="356615"/>
          </a:xfrm>
          <a:prstGeom prst="rect">
            <a:avLst/>
          </a:prstGeom>
          <a:noFill/>
        </p:spPr>
        <p:txBody>
          <a:bodyPr wrap="square" lIns="0" rIns="0" tIns="0" bIns="0" anchor="t">
            <a:normAutofit/>
          </a:bodyPr>
          <a:lstStyle/>
          <a:p>
            <a:pPr algn="l">
              <a:lnSpc>
                <a:spcPct val="108000"/>
              </a:lnSpc>
              <a:spcBef>
                <a:spcPts val="0"/>
              </a:spcBef>
              <a:spcAft>
                <a:spcPts val="300"/>
              </a:spcAft>
            </a:pPr>
            <a:r>
              <a:rPr sz="1060" b="0" i="0">
                <a:solidFill>
                  <a:srgbClr val="5E6B84"/>
                </a:solidFill>
                <a:latin typeface="Aptos"/>
              </a:rPr>
              <a:t>AI Meme Maker</a:t>
            </a:r>
          </a:p>
          <a:p>
            <a:pPr algn="l">
              <a:lnSpc>
                <a:spcPct val="108000"/>
              </a:lnSpc>
              <a:spcBef>
                <a:spcPts val="0"/>
              </a:spcBef>
              <a:spcAft>
                <a:spcPts val="300"/>
              </a:spcAft>
            </a:pPr>
            <a:r>
              <a:rPr sz="1060" b="0" i="0">
                <a:solidFill>
                  <a:srgbClr val="5E6B84"/>
                </a:solidFill>
                <a:latin typeface="Aptos"/>
              </a:rPr>
              <a:t>Practise: Caption + template + renderer</a:t>
            </a:r>
          </a:p>
        </p:txBody>
      </p:sp>
      <p:sp>
        <p:nvSpPr>
          <p:cNvPr id="21" name="Rounded Rectangle 20"/>
          <p:cNvSpPr/>
          <p:nvPr/>
        </p:nvSpPr>
        <p:spPr>
          <a:xfrm>
            <a:off x="6272783" y="3154679"/>
            <a:ext cx="5230368" cy="105156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382512" y="3319272"/>
            <a:ext cx="64008" cy="722375"/>
          </a:xfrm>
          <a:prstGeom prst="round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79" y="3310127"/>
            <a:ext cx="4754879" cy="356616"/>
          </a:xfrm>
          <a:prstGeom prst="rect">
            <a:avLst/>
          </a:prstGeom>
          <a:noFill/>
        </p:spPr>
        <p:txBody>
          <a:bodyPr wrap="square" lIns="0" rIns="0" tIns="0" bIns="0" anchor="t">
            <a:normAutofit/>
          </a:bodyPr>
          <a:lstStyle/>
          <a:p>
            <a:pPr algn="l">
              <a:lnSpc>
                <a:spcPct val="108000"/>
              </a:lnSpc>
              <a:spcBef>
                <a:spcPts val="0"/>
              </a:spcBef>
              <a:spcAft>
                <a:spcPts val="0"/>
              </a:spcAft>
            </a:pPr>
            <a:r>
              <a:rPr sz="1250" b="1" i="0">
                <a:solidFill>
                  <a:srgbClr val="1B2740"/>
                </a:solidFill>
                <a:latin typeface="Aptos"/>
              </a:rPr>
              <a:t>I want a quick hardware-style demo</a:t>
            </a:r>
          </a:p>
        </p:txBody>
      </p:sp>
      <p:sp>
        <p:nvSpPr>
          <p:cNvPr id="24" name="TextBox 23"/>
          <p:cNvSpPr txBox="1"/>
          <p:nvPr/>
        </p:nvSpPr>
        <p:spPr>
          <a:xfrm>
            <a:off x="6583679" y="3703320"/>
            <a:ext cx="4754879" cy="356615"/>
          </a:xfrm>
          <a:prstGeom prst="rect">
            <a:avLst/>
          </a:prstGeom>
          <a:noFill/>
        </p:spPr>
        <p:txBody>
          <a:bodyPr wrap="square" lIns="0" rIns="0" tIns="0" bIns="0" anchor="t">
            <a:normAutofit/>
          </a:bodyPr>
          <a:lstStyle/>
          <a:p>
            <a:pPr algn="l">
              <a:lnSpc>
                <a:spcPct val="108000"/>
              </a:lnSpc>
              <a:spcBef>
                <a:spcPts val="0"/>
              </a:spcBef>
              <a:spcAft>
                <a:spcPts val="300"/>
              </a:spcAft>
            </a:pPr>
            <a:r>
              <a:rPr sz="1060" b="0" i="0">
                <a:solidFill>
                  <a:srgbClr val="5E6B84"/>
                </a:solidFill>
                <a:latin typeface="Aptos"/>
              </a:rPr>
              <a:t>Button toggle or traffic-light controller</a:t>
            </a:r>
          </a:p>
          <a:p>
            <a:pPr algn="l">
              <a:lnSpc>
                <a:spcPct val="108000"/>
              </a:lnSpc>
              <a:spcBef>
                <a:spcPts val="0"/>
              </a:spcBef>
              <a:spcAft>
                <a:spcPts val="300"/>
              </a:spcAft>
            </a:pPr>
            <a:r>
              <a:rPr sz="1060" b="0" i="0">
                <a:solidFill>
                  <a:srgbClr val="5E6B84"/>
                </a:solidFill>
                <a:latin typeface="Aptos"/>
              </a:rPr>
              <a:t>Practise: Input + state + LED output</a:t>
            </a:r>
          </a:p>
        </p:txBody>
      </p:sp>
      <p:sp>
        <p:nvSpPr>
          <p:cNvPr id="25" name="Rounded Rectangle 24"/>
          <p:cNvSpPr/>
          <p:nvPr/>
        </p:nvSpPr>
        <p:spPr>
          <a:xfrm>
            <a:off x="694944" y="4453127"/>
            <a:ext cx="5230368" cy="105156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04672" y="4617719"/>
            <a:ext cx="64008" cy="722375"/>
          </a:xfrm>
          <a:prstGeom prst="roundRect">
            <a:avLst/>
          </a:prstGeom>
          <a:solidFill>
            <a:srgbClr val="2385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4608575"/>
            <a:ext cx="4754879" cy="356616"/>
          </a:xfrm>
          <a:prstGeom prst="rect">
            <a:avLst/>
          </a:prstGeom>
          <a:noFill/>
        </p:spPr>
        <p:txBody>
          <a:bodyPr wrap="square" lIns="0" rIns="0" tIns="0" bIns="0" anchor="t">
            <a:normAutofit/>
          </a:bodyPr>
          <a:lstStyle/>
          <a:p>
            <a:pPr algn="l">
              <a:lnSpc>
                <a:spcPct val="108000"/>
              </a:lnSpc>
              <a:spcBef>
                <a:spcPts val="0"/>
              </a:spcBef>
              <a:spcAft>
                <a:spcPts val="0"/>
              </a:spcAft>
            </a:pPr>
            <a:r>
              <a:rPr sz="1250" b="1" i="0">
                <a:solidFill>
                  <a:srgbClr val="1B2740"/>
                </a:solidFill>
                <a:latin typeface="Aptos"/>
              </a:rPr>
              <a:t>I like sensors and monitoring</a:t>
            </a:r>
          </a:p>
        </p:txBody>
      </p:sp>
      <p:sp>
        <p:nvSpPr>
          <p:cNvPr id="28" name="TextBox 27"/>
          <p:cNvSpPr txBox="1"/>
          <p:nvPr/>
        </p:nvSpPr>
        <p:spPr>
          <a:xfrm>
            <a:off x="1005840" y="5001767"/>
            <a:ext cx="4754879" cy="356616"/>
          </a:xfrm>
          <a:prstGeom prst="rect">
            <a:avLst/>
          </a:prstGeom>
          <a:noFill/>
        </p:spPr>
        <p:txBody>
          <a:bodyPr wrap="square" lIns="0" rIns="0" tIns="0" bIns="0" anchor="t">
            <a:normAutofit/>
          </a:bodyPr>
          <a:lstStyle/>
          <a:p>
            <a:pPr algn="l">
              <a:lnSpc>
                <a:spcPct val="108000"/>
              </a:lnSpc>
              <a:spcBef>
                <a:spcPts val="0"/>
              </a:spcBef>
              <a:spcAft>
                <a:spcPts val="300"/>
              </a:spcAft>
            </a:pPr>
            <a:r>
              <a:rPr sz="1060" b="0" i="0">
                <a:solidFill>
                  <a:srgbClr val="5E6B84"/>
                </a:solidFill>
                <a:latin typeface="Aptos"/>
              </a:rPr>
              <a:t>Environment sensing / parameter monitor</a:t>
            </a:r>
          </a:p>
          <a:p>
            <a:pPr algn="l">
              <a:lnSpc>
                <a:spcPct val="108000"/>
              </a:lnSpc>
              <a:spcBef>
                <a:spcPts val="0"/>
              </a:spcBef>
              <a:spcAft>
                <a:spcPts val="300"/>
              </a:spcAft>
            </a:pPr>
            <a:r>
              <a:rPr sz="1060" b="0" i="0">
                <a:solidFill>
                  <a:srgbClr val="5E6B84"/>
                </a:solidFill>
                <a:latin typeface="Aptos"/>
              </a:rPr>
              <a:t>Practise: Sensor + thresholds + display or log</a:t>
            </a:r>
          </a:p>
        </p:txBody>
      </p:sp>
      <p:sp>
        <p:nvSpPr>
          <p:cNvPr id="29" name="Rounded Rectangle 28"/>
          <p:cNvSpPr/>
          <p:nvPr/>
        </p:nvSpPr>
        <p:spPr>
          <a:xfrm>
            <a:off x="6272783" y="4453127"/>
            <a:ext cx="5230368" cy="1051560"/>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82512" y="4617719"/>
            <a:ext cx="64008" cy="722375"/>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79" y="4608575"/>
            <a:ext cx="4754879" cy="356616"/>
          </a:xfrm>
          <a:prstGeom prst="rect">
            <a:avLst/>
          </a:prstGeom>
          <a:noFill/>
        </p:spPr>
        <p:txBody>
          <a:bodyPr wrap="square" lIns="0" rIns="0" tIns="0" bIns="0" anchor="t">
            <a:normAutofit/>
          </a:bodyPr>
          <a:lstStyle/>
          <a:p>
            <a:pPr algn="l">
              <a:lnSpc>
                <a:spcPct val="108000"/>
              </a:lnSpc>
              <a:spcBef>
                <a:spcPts val="0"/>
              </a:spcBef>
              <a:spcAft>
                <a:spcPts val="0"/>
              </a:spcAft>
            </a:pPr>
            <a:r>
              <a:rPr sz="1250" b="1" i="0">
                <a:solidFill>
                  <a:srgbClr val="1B2740"/>
                </a:solidFill>
                <a:latin typeface="Aptos"/>
              </a:rPr>
              <a:t>I like movement and robotics</a:t>
            </a:r>
          </a:p>
        </p:txBody>
      </p:sp>
      <p:sp>
        <p:nvSpPr>
          <p:cNvPr id="32" name="TextBox 31"/>
          <p:cNvSpPr txBox="1"/>
          <p:nvPr/>
        </p:nvSpPr>
        <p:spPr>
          <a:xfrm>
            <a:off x="6583679" y="5001767"/>
            <a:ext cx="4754879" cy="356616"/>
          </a:xfrm>
          <a:prstGeom prst="rect">
            <a:avLst/>
          </a:prstGeom>
          <a:noFill/>
        </p:spPr>
        <p:txBody>
          <a:bodyPr wrap="square" lIns="0" rIns="0" tIns="0" bIns="0" anchor="t">
            <a:normAutofit/>
          </a:bodyPr>
          <a:lstStyle/>
          <a:p>
            <a:pPr algn="l">
              <a:lnSpc>
                <a:spcPct val="108000"/>
              </a:lnSpc>
              <a:spcBef>
                <a:spcPts val="0"/>
              </a:spcBef>
              <a:spcAft>
                <a:spcPts val="300"/>
              </a:spcAft>
            </a:pPr>
            <a:r>
              <a:rPr sz="1060" b="0" i="0">
                <a:solidFill>
                  <a:srgbClr val="5E6B84"/>
                </a:solidFill>
                <a:latin typeface="Aptos"/>
              </a:rPr>
              <a:t>Servo or motor actuation</a:t>
            </a:r>
          </a:p>
          <a:p>
            <a:pPr algn="l">
              <a:lnSpc>
                <a:spcPct val="108000"/>
              </a:lnSpc>
              <a:spcBef>
                <a:spcPts val="0"/>
              </a:spcBef>
              <a:spcAft>
                <a:spcPts val="300"/>
              </a:spcAft>
            </a:pPr>
            <a:r>
              <a:rPr sz="1060" b="0" i="0">
                <a:solidFill>
                  <a:srgbClr val="5E6B84"/>
                </a:solidFill>
                <a:latin typeface="Aptos"/>
              </a:rPr>
              <a:t>Practise: Input + position/speed rule + movement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280160" cy="256032"/>
          </a:xfrm>
          <a:prstGeom prst="roundRect">
            <a:avLst/>
          </a:prstGeom>
          <a:solidFill>
            <a:srgbClr val="E6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060704"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21B6A8"/>
                </a:solidFill>
                <a:latin typeface="Aptos"/>
              </a:rPr>
              <a:t>BUILD PLAN</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A repeatable roadmap from idea to demo</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Use the same sequence for a text-based AI app or a sensor-driven embedded project.</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53</a:t>
            </a:r>
          </a:p>
        </p:txBody>
      </p:sp>
      <p:sp>
        <p:nvSpPr>
          <p:cNvPr id="9" name="Oval 8"/>
          <p:cNvSpPr/>
          <p:nvPr/>
        </p:nvSpPr>
        <p:spPr>
          <a:xfrm>
            <a:off x="822960" y="1956816"/>
            <a:ext cx="457200" cy="457200"/>
          </a:xfrm>
          <a:prstGeom prst="ellipse">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075688"/>
            <a:ext cx="457200" cy="164592"/>
          </a:xfrm>
          <a:prstGeom prst="rect">
            <a:avLst/>
          </a:prstGeom>
          <a:noFill/>
        </p:spPr>
        <p:txBody>
          <a:bodyPr wrap="square" lIns="0" rIns="0" tIns="0" bIns="0" anchor="ctr">
            <a:normAutofit/>
          </a:bodyPr>
          <a:lstStyle/>
          <a:p>
            <a:pPr algn="ctr">
              <a:lnSpc>
                <a:spcPct val="108000"/>
              </a:lnSpc>
              <a:spcBef>
                <a:spcPts val="0"/>
              </a:spcBef>
              <a:spcAft>
                <a:spcPts val="0"/>
              </a:spcAft>
            </a:pPr>
            <a:r>
              <a:rPr sz="950" b="1" i="0">
                <a:solidFill>
                  <a:srgbClr val="FFFFFF"/>
                </a:solidFill>
                <a:latin typeface="Aptos"/>
              </a:rPr>
              <a:t>01</a:t>
            </a:r>
          </a:p>
        </p:txBody>
      </p:sp>
      <p:sp>
        <p:nvSpPr>
          <p:cNvPr id="11" name="Rounded Rectangle 10"/>
          <p:cNvSpPr/>
          <p:nvPr/>
        </p:nvSpPr>
        <p:spPr>
          <a:xfrm>
            <a:off x="685800" y="2505456"/>
            <a:ext cx="3337560" cy="841248"/>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5528" y="2670048"/>
            <a:ext cx="64008" cy="512064"/>
          </a:xfrm>
          <a:prstGeom prst="round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2660904"/>
            <a:ext cx="2862072" cy="356616"/>
          </a:xfrm>
          <a:prstGeom prst="rect">
            <a:avLst/>
          </a:prstGeom>
          <a:noFill/>
        </p:spPr>
        <p:txBody>
          <a:bodyPr wrap="square" lIns="0" rIns="0" tIns="0" bIns="0" anchor="t">
            <a:normAutofit/>
          </a:bodyPr>
          <a:lstStyle/>
          <a:p>
            <a:pPr algn="l">
              <a:lnSpc>
                <a:spcPct val="108000"/>
              </a:lnSpc>
              <a:spcBef>
                <a:spcPts val="0"/>
              </a:spcBef>
              <a:spcAft>
                <a:spcPts val="0"/>
              </a:spcAft>
            </a:pPr>
            <a:r>
              <a:rPr sz="1300" b="1" i="0">
                <a:solidFill>
                  <a:srgbClr val="1B2740"/>
                </a:solidFill>
                <a:latin typeface="Aptos"/>
              </a:rPr>
              <a:t>Define</a:t>
            </a:r>
          </a:p>
        </p:txBody>
      </p:sp>
      <p:sp>
        <p:nvSpPr>
          <p:cNvPr id="14" name="TextBox 13"/>
          <p:cNvSpPr txBox="1"/>
          <p:nvPr/>
        </p:nvSpPr>
        <p:spPr>
          <a:xfrm>
            <a:off x="996696" y="3054096"/>
            <a:ext cx="2862072" cy="256032"/>
          </a:xfrm>
          <a:prstGeom prst="rect">
            <a:avLst/>
          </a:prstGeom>
          <a:noFill/>
        </p:spPr>
        <p:txBody>
          <a:bodyPr wrap="square" lIns="0" rIns="0" tIns="0" bIns="0" anchor="t">
            <a:normAutofit/>
          </a:bodyPr>
          <a:lstStyle/>
          <a:p>
            <a:pPr algn="l">
              <a:lnSpc>
                <a:spcPct val="108000"/>
              </a:lnSpc>
              <a:spcBef>
                <a:spcPts val="0"/>
              </a:spcBef>
              <a:spcAft>
                <a:spcPts val="0"/>
              </a:spcAft>
            </a:pPr>
            <a:r>
              <a:rPr sz="969" b="0" i="0">
                <a:solidFill>
                  <a:srgbClr val="5E6B84"/>
                </a:solidFill>
                <a:latin typeface="Aptos"/>
              </a:rPr>
              <a:t>Write one sentence explaining what the project should do.</a:t>
            </a:r>
          </a:p>
        </p:txBody>
      </p:sp>
      <p:sp>
        <p:nvSpPr>
          <p:cNvPr id="15" name="Oval 14"/>
          <p:cNvSpPr/>
          <p:nvPr/>
        </p:nvSpPr>
        <p:spPr>
          <a:xfrm>
            <a:off x="4645152" y="1956816"/>
            <a:ext cx="457200" cy="457200"/>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5152" y="2075688"/>
            <a:ext cx="457200" cy="164592"/>
          </a:xfrm>
          <a:prstGeom prst="rect">
            <a:avLst/>
          </a:prstGeom>
          <a:noFill/>
        </p:spPr>
        <p:txBody>
          <a:bodyPr wrap="square" lIns="0" rIns="0" tIns="0" bIns="0" anchor="ctr">
            <a:normAutofit/>
          </a:bodyPr>
          <a:lstStyle/>
          <a:p>
            <a:pPr algn="ctr">
              <a:lnSpc>
                <a:spcPct val="108000"/>
              </a:lnSpc>
              <a:spcBef>
                <a:spcPts val="0"/>
              </a:spcBef>
              <a:spcAft>
                <a:spcPts val="0"/>
              </a:spcAft>
            </a:pPr>
            <a:r>
              <a:rPr sz="950" b="1" i="0">
                <a:solidFill>
                  <a:srgbClr val="FFFFFF"/>
                </a:solidFill>
                <a:latin typeface="Aptos"/>
              </a:rPr>
              <a:t>02</a:t>
            </a:r>
          </a:p>
        </p:txBody>
      </p:sp>
      <p:sp>
        <p:nvSpPr>
          <p:cNvPr id="17" name="Rounded Rectangle 16"/>
          <p:cNvSpPr/>
          <p:nvPr/>
        </p:nvSpPr>
        <p:spPr>
          <a:xfrm>
            <a:off x="4507992" y="2505456"/>
            <a:ext cx="3337560" cy="841248"/>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617720" y="2670048"/>
            <a:ext cx="64008" cy="512064"/>
          </a:xfrm>
          <a:prstGeom prst="round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18888" y="2660904"/>
            <a:ext cx="2862072" cy="356616"/>
          </a:xfrm>
          <a:prstGeom prst="rect">
            <a:avLst/>
          </a:prstGeom>
          <a:noFill/>
        </p:spPr>
        <p:txBody>
          <a:bodyPr wrap="square" lIns="0" rIns="0" tIns="0" bIns="0" anchor="t">
            <a:normAutofit/>
          </a:bodyPr>
          <a:lstStyle/>
          <a:p>
            <a:pPr algn="l">
              <a:lnSpc>
                <a:spcPct val="108000"/>
              </a:lnSpc>
              <a:spcBef>
                <a:spcPts val="0"/>
              </a:spcBef>
              <a:spcAft>
                <a:spcPts val="0"/>
              </a:spcAft>
            </a:pPr>
            <a:r>
              <a:rPr sz="1300" b="1" i="0">
                <a:solidFill>
                  <a:srgbClr val="1B2740"/>
                </a:solidFill>
                <a:latin typeface="Aptos"/>
              </a:rPr>
              <a:t>Sketch</a:t>
            </a:r>
          </a:p>
        </p:txBody>
      </p:sp>
      <p:sp>
        <p:nvSpPr>
          <p:cNvPr id="20" name="TextBox 19"/>
          <p:cNvSpPr txBox="1"/>
          <p:nvPr/>
        </p:nvSpPr>
        <p:spPr>
          <a:xfrm>
            <a:off x="4818888" y="3054096"/>
            <a:ext cx="2862072" cy="256032"/>
          </a:xfrm>
          <a:prstGeom prst="rect">
            <a:avLst/>
          </a:prstGeom>
          <a:noFill/>
        </p:spPr>
        <p:txBody>
          <a:bodyPr wrap="square" lIns="0" rIns="0" tIns="0" bIns="0" anchor="t">
            <a:normAutofit/>
          </a:bodyPr>
          <a:lstStyle/>
          <a:p>
            <a:pPr algn="l">
              <a:lnSpc>
                <a:spcPct val="108000"/>
              </a:lnSpc>
              <a:spcBef>
                <a:spcPts val="0"/>
              </a:spcBef>
              <a:spcAft>
                <a:spcPts val="0"/>
              </a:spcAft>
            </a:pPr>
            <a:r>
              <a:rPr sz="969" b="0" i="0">
                <a:solidFill>
                  <a:srgbClr val="5E6B84"/>
                </a:solidFill>
                <a:latin typeface="Aptos"/>
              </a:rPr>
              <a:t>Draw the input → processing → output flow.</a:t>
            </a:r>
          </a:p>
        </p:txBody>
      </p:sp>
      <p:sp>
        <p:nvSpPr>
          <p:cNvPr id="21" name="Oval 20"/>
          <p:cNvSpPr/>
          <p:nvPr/>
        </p:nvSpPr>
        <p:spPr>
          <a:xfrm>
            <a:off x="8467344" y="1956816"/>
            <a:ext cx="457200" cy="457200"/>
          </a:xfrm>
          <a:prstGeom prst="ellipse">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67344" y="2075688"/>
            <a:ext cx="457200" cy="164592"/>
          </a:xfrm>
          <a:prstGeom prst="rect">
            <a:avLst/>
          </a:prstGeom>
          <a:noFill/>
        </p:spPr>
        <p:txBody>
          <a:bodyPr wrap="square" lIns="0" rIns="0" tIns="0" bIns="0" anchor="ctr">
            <a:normAutofit/>
          </a:bodyPr>
          <a:lstStyle/>
          <a:p>
            <a:pPr algn="ctr">
              <a:lnSpc>
                <a:spcPct val="108000"/>
              </a:lnSpc>
              <a:spcBef>
                <a:spcPts val="0"/>
              </a:spcBef>
              <a:spcAft>
                <a:spcPts val="0"/>
              </a:spcAft>
            </a:pPr>
            <a:r>
              <a:rPr sz="950" b="1" i="0">
                <a:solidFill>
                  <a:srgbClr val="FFFFFF"/>
                </a:solidFill>
                <a:latin typeface="Aptos"/>
              </a:rPr>
              <a:t>03</a:t>
            </a:r>
          </a:p>
        </p:txBody>
      </p:sp>
      <p:sp>
        <p:nvSpPr>
          <p:cNvPr id="23" name="Rounded Rectangle 22"/>
          <p:cNvSpPr/>
          <p:nvPr/>
        </p:nvSpPr>
        <p:spPr>
          <a:xfrm>
            <a:off x="8330183" y="2505456"/>
            <a:ext cx="3337560" cy="841248"/>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439911" y="2670048"/>
            <a:ext cx="64008" cy="512064"/>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41080" y="2660904"/>
            <a:ext cx="2862072" cy="356616"/>
          </a:xfrm>
          <a:prstGeom prst="rect">
            <a:avLst/>
          </a:prstGeom>
          <a:noFill/>
        </p:spPr>
        <p:txBody>
          <a:bodyPr wrap="square" lIns="0" rIns="0" tIns="0" bIns="0" anchor="t">
            <a:normAutofit/>
          </a:bodyPr>
          <a:lstStyle/>
          <a:p>
            <a:pPr algn="l">
              <a:lnSpc>
                <a:spcPct val="108000"/>
              </a:lnSpc>
              <a:spcBef>
                <a:spcPts val="0"/>
              </a:spcBef>
              <a:spcAft>
                <a:spcPts val="0"/>
              </a:spcAft>
            </a:pPr>
            <a:r>
              <a:rPr sz="1300" b="1" i="0">
                <a:solidFill>
                  <a:srgbClr val="1B2740"/>
                </a:solidFill>
                <a:latin typeface="Aptos"/>
              </a:rPr>
              <a:t>Prototype</a:t>
            </a:r>
          </a:p>
        </p:txBody>
      </p:sp>
      <p:sp>
        <p:nvSpPr>
          <p:cNvPr id="26" name="TextBox 25"/>
          <p:cNvSpPr txBox="1"/>
          <p:nvPr/>
        </p:nvSpPr>
        <p:spPr>
          <a:xfrm>
            <a:off x="8641080" y="3054096"/>
            <a:ext cx="2862072" cy="256032"/>
          </a:xfrm>
          <a:prstGeom prst="rect">
            <a:avLst/>
          </a:prstGeom>
          <a:noFill/>
        </p:spPr>
        <p:txBody>
          <a:bodyPr wrap="square" lIns="0" rIns="0" tIns="0" bIns="0" anchor="t">
            <a:normAutofit/>
          </a:bodyPr>
          <a:lstStyle/>
          <a:p>
            <a:pPr algn="l">
              <a:lnSpc>
                <a:spcPct val="108000"/>
              </a:lnSpc>
              <a:spcBef>
                <a:spcPts val="0"/>
              </a:spcBef>
              <a:spcAft>
                <a:spcPts val="0"/>
              </a:spcAft>
            </a:pPr>
            <a:r>
              <a:rPr sz="969" b="0" i="0">
                <a:solidFill>
                  <a:srgbClr val="5E6B84"/>
                </a:solidFill>
                <a:latin typeface="Aptos"/>
              </a:rPr>
              <a:t>Use a simple UI or simulator to make the core action work.</a:t>
            </a:r>
          </a:p>
        </p:txBody>
      </p:sp>
      <p:sp>
        <p:nvSpPr>
          <p:cNvPr id="27" name="Oval 26"/>
          <p:cNvSpPr/>
          <p:nvPr/>
        </p:nvSpPr>
        <p:spPr>
          <a:xfrm>
            <a:off x="822960" y="3621024"/>
            <a:ext cx="457200" cy="457200"/>
          </a:xfrm>
          <a:prstGeom prst="ellipse">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739896"/>
            <a:ext cx="457200" cy="164592"/>
          </a:xfrm>
          <a:prstGeom prst="rect">
            <a:avLst/>
          </a:prstGeom>
          <a:noFill/>
        </p:spPr>
        <p:txBody>
          <a:bodyPr wrap="square" lIns="0" rIns="0" tIns="0" bIns="0" anchor="ctr">
            <a:normAutofit/>
          </a:bodyPr>
          <a:lstStyle/>
          <a:p>
            <a:pPr algn="ctr">
              <a:lnSpc>
                <a:spcPct val="108000"/>
              </a:lnSpc>
              <a:spcBef>
                <a:spcPts val="0"/>
              </a:spcBef>
              <a:spcAft>
                <a:spcPts val="0"/>
              </a:spcAft>
            </a:pPr>
            <a:r>
              <a:rPr sz="950" b="1" i="0">
                <a:solidFill>
                  <a:srgbClr val="FFFFFF"/>
                </a:solidFill>
                <a:latin typeface="Aptos"/>
              </a:rPr>
              <a:t>04</a:t>
            </a:r>
          </a:p>
        </p:txBody>
      </p:sp>
      <p:sp>
        <p:nvSpPr>
          <p:cNvPr id="29" name="Rounded Rectangle 28"/>
          <p:cNvSpPr/>
          <p:nvPr/>
        </p:nvSpPr>
        <p:spPr>
          <a:xfrm>
            <a:off x="685800" y="4169663"/>
            <a:ext cx="3337560" cy="841248"/>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5528" y="4334255"/>
            <a:ext cx="64008" cy="512064"/>
          </a:xfrm>
          <a:prstGeom prst="roundRect">
            <a:avLst/>
          </a:prstGeom>
          <a:solidFill>
            <a:srgbClr val="E9A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6696" y="4325112"/>
            <a:ext cx="2862072" cy="356616"/>
          </a:xfrm>
          <a:prstGeom prst="rect">
            <a:avLst/>
          </a:prstGeom>
          <a:noFill/>
        </p:spPr>
        <p:txBody>
          <a:bodyPr wrap="square" lIns="0" rIns="0" tIns="0" bIns="0" anchor="t">
            <a:normAutofit/>
          </a:bodyPr>
          <a:lstStyle/>
          <a:p>
            <a:pPr algn="l">
              <a:lnSpc>
                <a:spcPct val="108000"/>
              </a:lnSpc>
              <a:spcBef>
                <a:spcPts val="0"/>
              </a:spcBef>
              <a:spcAft>
                <a:spcPts val="0"/>
              </a:spcAft>
            </a:pPr>
            <a:r>
              <a:rPr sz="1300" b="1" i="0">
                <a:solidFill>
                  <a:srgbClr val="1B2740"/>
                </a:solidFill>
                <a:latin typeface="Aptos"/>
              </a:rPr>
              <a:t>Test</a:t>
            </a:r>
          </a:p>
        </p:txBody>
      </p:sp>
      <p:sp>
        <p:nvSpPr>
          <p:cNvPr id="32" name="TextBox 31"/>
          <p:cNvSpPr txBox="1"/>
          <p:nvPr/>
        </p:nvSpPr>
        <p:spPr>
          <a:xfrm>
            <a:off x="996696" y="4718303"/>
            <a:ext cx="2862072" cy="256032"/>
          </a:xfrm>
          <a:prstGeom prst="rect">
            <a:avLst/>
          </a:prstGeom>
          <a:noFill/>
        </p:spPr>
        <p:txBody>
          <a:bodyPr wrap="square" lIns="0" rIns="0" tIns="0" bIns="0" anchor="t">
            <a:normAutofit/>
          </a:bodyPr>
          <a:lstStyle/>
          <a:p>
            <a:pPr algn="l">
              <a:lnSpc>
                <a:spcPct val="108000"/>
              </a:lnSpc>
              <a:spcBef>
                <a:spcPts val="0"/>
              </a:spcBef>
              <a:spcAft>
                <a:spcPts val="0"/>
              </a:spcAft>
            </a:pPr>
            <a:r>
              <a:rPr sz="969" b="0" i="0">
                <a:solidFill>
                  <a:srgbClr val="5E6B84"/>
                </a:solidFill>
                <a:latin typeface="Aptos"/>
              </a:rPr>
              <a:t>Try normal, repeated, and boundary cases; fix bugs.</a:t>
            </a:r>
          </a:p>
        </p:txBody>
      </p:sp>
      <p:sp>
        <p:nvSpPr>
          <p:cNvPr id="33" name="Oval 32"/>
          <p:cNvSpPr/>
          <p:nvPr/>
        </p:nvSpPr>
        <p:spPr>
          <a:xfrm>
            <a:off x="4645152" y="3621024"/>
            <a:ext cx="457200" cy="457200"/>
          </a:xfrm>
          <a:prstGeom prst="ellipse">
            <a:avLst/>
          </a:prstGeom>
          <a:solidFill>
            <a:srgbClr val="E67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45152" y="3739896"/>
            <a:ext cx="457200" cy="164592"/>
          </a:xfrm>
          <a:prstGeom prst="rect">
            <a:avLst/>
          </a:prstGeom>
          <a:noFill/>
        </p:spPr>
        <p:txBody>
          <a:bodyPr wrap="square" lIns="0" rIns="0" tIns="0" bIns="0" anchor="ctr">
            <a:normAutofit/>
          </a:bodyPr>
          <a:lstStyle/>
          <a:p>
            <a:pPr algn="ctr">
              <a:lnSpc>
                <a:spcPct val="108000"/>
              </a:lnSpc>
              <a:spcBef>
                <a:spcPts val="0"/>
              </a:spcBef>
              <a:spcAft>
                <a:spcPts val="0"/>
              </a:spcAft>
            </a:pPr>
            <a:r>
              <a:rPr sz="950" b="1" i="0">
                <a:solidFill>
                  <a:srgbClr val="FFFFFF"/>
                </a:solidFill>
                <a:latin typeface="Aptos"/>
              </a:rPr>
              <a:t>05</a:t>
            </a:r>
          </a:p>
        </p:txBody>
      </p:sp>
      <p:sp>
        <p:nvSpPr>
          <p:cNvPr id="35" name="Rounded Rectangle 34"/>
          <p:cNvSpPr/>
          <p:nvPr/>
        </p:nvSpPr>
        <p:spPr>
          <a:xfrm>
            <a:off x="4507992" y="4169663"/>
            <a:ext cx="3337560" cy="841248"/>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617720" y="4334255"/>
            <a:ext cx="64008" cy="512064"/>
          </a:xfrm>
          <a:prstGeom prst="roundRect">
            <a:avLst/>
          </a:prstGeom>
          <a:solidFill>
            <a:srgbClr val="E67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18888" y="4325112"/>
            <a:ext cx="2862072" cy="356616"/>
          </a:xfrm>
          <a:prstGeom prst="rect">
            <a:avLst/>
          </a:prstGeom>
          <a:noFill/>
        </p:spPr>
        <p:txBody>
          <a:bodyPr wrap="square" lIns="0" rIns="0" tIns="0" bIns="0" anchor="t">
            <a:normAutofit/>
          </a:bodyPr>
          <a:lstStyle/>
          <a:p>
            <a:pPr algn="l">
              <a:lnSpc>
                <a:spcPct val="108000"/>
              </a:lnSpc>
              <a:spcBef>
                <a:spcPts val="0"/>
              </a:spcBef>
              <a:spcAft>
                <a:spcPts val="0"/>
              </a:spcAft>
            </a:pPr>
            <a:r>
              <a:rPr sz="1300" b="1" i="0">
                <a:solidFill>
                  <a:srgbClr val="1B2740"/>
                </a:solidFill>
                <a:latin typeface="Aptos"/>
              </a:rPr>
              <a:t>Improve</a:t>
            </a:r>
          </a:p>
        </p:txBody>
      </p:sp>
      <p:sp>
        <p:nvSpPr>
          <p:cNvPr id="38" name="TextBox 37"/>
          <p:cNvSpPr txBox="1"/>
          <p:nvPr/>
        </p:nvSpPr>
        <p:spPr>
          <a:xfrm>
            <a:off x="4818888" y="4718303"/>
            <a:ext cx="2862072" cy="256032"/>
          </a:xfrm>
          <a:prstGeom prst="rect">
            <a:avLst/>
          </a:prstGeom>
          <a:noFill/>
        </p:spPr>
        <p:txBody>
          <a:bodyPr wrap="square" lIns="0" rIns="0" tIns="0" bIns="0" anchor="t">
            <a:normAutofit/>
          </a:bodyPr>
          <a:lstStyle/>
          <a:p>
            <a:pPr algn="l">
              <a:lnSpc>
                <a:spcPct val="108000"/>
              </a:lnSpc>
              <a:spcBef>
                <a:spcPts val="0"/>
              </a:spcBef>
              <a:spcAft>
                <a:spcPts val="0"/>
              </a:spcAft>
            </a:pPr>
            <a:r>
              <a:rPr sz="969" b="0" i="0">
                <a:solidFill>
                  <a:srgbClr val="5E6B84"/>
                </a:solidFill>
                <a:latin typeface="Aptos"/>
              </a:rPr>
              <a:t>Add memory, logs, voice, display, or other optional features.</a:t>
            </a:r>
          </a:p>
        </p:txBody>
      </p:sp>
      <p:sp>
        <p:nvSpPr>
          <p:cNvPr id="39" name="Oval 38"/>
          <p:cNvSpPr/>
          <p:nvPr/>
        </p:nvSpPr>
        <p:spPr>
          <a:xfrm>
            <a:off x="8467344" y="3621024"/>
            <a:ext cx="457200" cy="457200"/>
          </a:xfrm>
          <a:prstGeom prst="ellipse">
            <a:avLst/>
          </a:prstGeom>
          <a:solidFill>
            <a:srgbClr val="2385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67344" y="3739896"/>
            <a:ext cx="457200" cy="164592"/>
          </a:xfrm>
          <a:prstGeom prst="rect">
            <a:avLst/>
          </a:prstGeom>
          <a:noFill/>
        </p:spPr>
        <p:txBody>
          <a:bodyPr wrap="square" lIns="0" rIns="0" tIns="0" bIns="0" anchor="ctr">
            <a:normAutofit/>
          </a:bodyPr>
          <a:lstStyle/>
          <a:p>
            <a:pPr algn="ctr">
              <a:lnSpc>
                <a:spcPct val="108000"/>
              </a:lnSpc>
              <a:spcBef>
                <a:spcPts val="0"/>
              </a:spcBef>
              <a:spcAft>
                <a:spcPts val="0"/>
              </a:spcAft>
            </a:pPr>
            <a:r>
              <a:rPr sz="950" b="1" i="0">
                <a:solidFill>
                  <a:srgbClr val="FFFFFF"/>
                </a:solidFill>
                <a:latin typeface="Aptos"/>
              </a:rPr>
              <a:t>06</a:t>
            </a:r>
          </a:p>
        </p:txBody>
      </p:sp>
      <p:sp>
        <p:nvSpPr>
          <p:cNvPr id="41" name="Rounded Rectangle 40"/>
          <p:cNvSpPr/>
          <p:nvPr/>
        </p:nvSpPr>
        <p:spPr>
          <a:xfrm>
            <a:off x="8330183" y="4169663"/>
            <a:ext cx="3337560" cy="841248"/>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439911" y="4334255"/>
            <a:ext cx="64008" cy="512064"/>
          </a:xfrm>
          <a:prstGeom prst="roundRect">
            <a:avLst/>
          </a:prstGeom>
          <a:solidFill>
            <a:srgbClr val="2385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41080" y="4325112"/>
            <a:ext cx="2862072" cy="356616"/>
          </a:xfrm>
          <a:prstGeom prst="rect">
            <a:avLst/>
          </a:prstGeom>
          <a:noFill/>
        </p:spPr>
        <p:txBody>
          <a:bodyPr wrap="square" lIns="0" rIns="0" tIns="0" bIns="0" anchor="t">
            <a:normAutofit/>
          </a:bodyPr>
          <a:lstStyle/>
          <a:p>
            <a:pPr algn="l">
              <a:lnSpc>
                <a:spcPct val="108000"/>
              </a:lnSpc>
              <a:spcBef>
                <a:spcPts val="0"/>
              </a:spcBef>
              <a:spcAft>
                <a:spcPts val="0"/>
              </a:spcAft>
            </a:pPr>
            <a:r>
              <a:rPr sz="1300" b="1" i="0">
                <a:solidFill>
                  <a:srgbClr val="1B2740"/>
                </a:solidFill>
                <a:latin typeface="Aptos"/>
              </a:rPr>
              <a:t>Present</a:t>
            </a:r>
          </a:p>
        </p:txBody>
      </p:sp>
      <p:sp>
        <p:nvSpPr>
          <p:cNvPr id="44" name="TextBox 43"/>
          <p:cNvSpPr txBox="1"/>
          <p:nvPr/>
        </p:nvSpPr>
        <p:spPr>
          <a:xfrm>
            <a:off x="8641080" y="4718303"/>
            <a:ext cx="2862072" cy="256032"/>
          </a:xfrm>
          <a:prstGeom prst="rect">
            <a:avLst/>
          </a:prstGeom>
          <a:noFill/>
        </p:spPr>
        <p:txBody>
          <a:bodyPr wrap="square" lIns="0" rIns="0" tIns="0" bIns="0" anchor="t">
            <a:normAutofit/>
          </a:bodyPr>
          <a:lstStyle/>
          <a:p>
            <a:pPr algn="l">
              <a:lnSpc>
                <a:spcPct val="108000"/>
              </a:lnSpc>
              <a:spcBef>
                <a:spcPts val="0"/>
              </a:spcBef>
              <a:spcAft>
                <a:spcPts val="0"/>
              </a:spcAft>
            </a:pPr>
            <a:r>
              <a:rPr sz="969" b="0" i="0">
                <a:solidFill>
                  <a:srgbClr val="5E6B84"/>
                </a:solidFill>
                <a:latin typeface="Aptos"/>
              </a:rPr>
              <a:t>Show the use case, architecture, demo, and lessons learned.</a:t>
            </a:r>
          </a:p>
        </p:txBody>
      </p:sp>
      <p:sp>
        <p:nvSpPr>
          <p:cNvPr id="45" name="TextBox 44"/>
          <p:cNvSpPr txBox="1"/>
          <p:nvPr/>
        </p:nvSpPr>
        <p:spPr>
          <a:xfrm>
            <a:off x="914400" y="5532120"/>
            <a:ext cx="10058400" cy="292608"/>
          </a:xfrm>
          <a:prstGeom prst="rect">
            <a:avLst/>
          </a:prstGeom>
          <a:noFill/>
        </p:spPr>
        <p:txBody>
          <a:bodyPr wrap="square" lIns="0" rIns="0" tIns="0" bIns="0" anchor="t">
            <a:normAutofit/>
          </a:bodyPr>
          <a:lstStyle/>
          <a:p>
            <a:pPr algn="ctr">
              <a:lnSpc>
                <a:spcPct val="108000"/>
              </a:lnSpc>
              <a:spcBef>
                <a:spcPts val="0"/>
              </a:spcBef>
              <a:spcAft>
                <a:spcPts val="0"/>
              </a:spcAft>
            </a:pPr>
            <a:r>
              <a:rPr sz="1400" b="1" i="0">
                <a:solidFill>
                  <a:srgbClr val="1B2740"/>
                </a:solidFill>
                <a:latin typeface="Aptos"/>
              </a:rPr>
              <a:t>Build the smallest version that works, then add one improvement at a time.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603504" y="274320"/>
            <a:ext cx="1143000" cy="256032"/>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923544" cy="164592"/>
          </a:xfrm>
          <a:prstGeom prst="rect">
            <a:avLst/>
          </a:prstGeom>
          <a:noFill/>
        </p:spPr>
        <p:txBody>
          <a:bodyPr wrap="square" lIns="0" rIns="0" tIns="0" bIns="0" anchor="ctr">
            <a:normAutofit/>
          </a:bodyPr>
          <a:lstStyle/>
          <a:p>
            <a:pPr algn="l">
              <a:lnSpc>
                <a:spcPct val="108000"/>
              </a:lnSpc>
              <a:spcBef>
                <a:spcPts val="0"/>
              </a:spcBef>
              <a:spcAft>
                <a:spcPts val="0"/>
              </a:spcAft>
            </a:pPr>
            <a:r>
              <a:rPr sz="850" b="1" i="0">
                <a:solidFill>
                  <a:srgbClr val="5676F5"/>
                </a:solidFill>
                <a:latin typeface="Aptos"/>
              </a:rPr>
              <a:t>GLOSSARY</a:t>
            </a:r>
          </a:p>
        </p:txBody>
      </p:sp>
      <p:sp>
        <p:nvSpPr>
          <p:cNvPr id="4" name="TextBox 3"/>
          <p:cNvSpPr txBox="1"/>
          <p:nvPr/>
        </p:nvSpPr>
        <p:spPr>
          <a:xfrm>
            <a:off x="594360" y="704088"/>
            <a:ext cx="10972800" cy="566928"/>
          </a:xfrm>
          <a:prstGeom prst="rect">
            <a:avLst/>
          </a:prstGeom>
          <a:noFill/>
        </p:spPr>
        <p:txBody>
          <a:bodyPr wrap="square" lIns="0" rIns="0" tIns="0" bIns="0" anchor="t">
            <a:normAutofit/>
          </a:bodyPr>
          <a:lstStyle/>
          <a:p>
            <a:pPr algn="l">
              <a:lnSpc>
                <a:spcPct val="108000"/>
              </a:lnSpc>
              <a:spcBef>
                <a:spcPts val="0"/>
              </a:spcBef>
              <a:spcAft>
                <a:spcPts val="0"/>
              </a:spcAft>
            </a:pPr>
            <a:r>
              <a:rPr sz="2500" b="1" i="0">
                <a:solidFill>
                  <a:srgbClr val="1B2740"/>
                </a:solidFill>
                <a:latin typeface="Aptos"/>
              </a:rPr>
              <a:t>Beginner glossary: key technical terms</a:t>
            </a:r>
          </a:p>
        </p:txBody>
      </p:sp>
      <p:sp>
        <p:nvSpPr>
          <p:cNvPr id="5" name="TextBox 4"/>
          <p:cNvSpPr txBox="1"/>
          <p:nvPr/>
        </p:nvSpPr>
        <p:spPr>
          <a:xfrm>
            <a:off x="621792" y="1298448"/>
            <a:ext cx="10881360" cy="384048"/>
          </a:xfrm>
          <a:prstGeom prst="rect">
            <a:avLst/>
          </a:prstGeom>
          <a:noFill/>
        </p:spPr>
        <p:txBody>
          <a:bodyPr wrap="square" lIns="0" rIns="0" tIns="0" bIns="0" anchor="t">
            <a:normAutofit/>
          </a:bodyPr>
          <a:lstStyle/>
          <a:p>
            <a:pPr algn="l">
              <a:lnSpc>
                <a:spcPct val="108000"/>
              </a:lnSpc>
              <a:spcBef>
                <a:spcPts val="0"/>
              </a:spcBef>
              <a:spcAft>
                <a:spcPts val="0"/>
              </a:spcAft>
            </a:pPr>
            <a:r>
              <a:rPr sz="1150" b="0" i="0">
                <a:solidFill>
                  <a:srgbClr val="5E6B84"/>
                </a:solidFill>
                <a:latin typeface="Aptos"/>
              </a:rPr>
              <a:t>Learn what each term does in the project; you do not need to memorize every detail immediately.</a:t>
            </a:r>
          </a:p>
        </p:txBody>
      </p:sp>
      <p:sp>
        <p:nvSpPr>
          <p:cNvPr id="6" name="Rectangle 5"/>
          <p:cNvSpPr/>
          <p:nvPr/>
        </p:nvSpPr>
        <p:spPr>
          <a:xfrm>
            <a:off x="594360" y="6336792"/>
            <a:ext cx="10972800" cy="10972"/>
          </a:xfrm>
          <a:prstGeom prst="rect">
            <a:avLst/>
          </a:prstGeom>
          <a:solidFill>
            <a:srgbClr val="DD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46520"/>
            <a:ext cx="8229600" cy="164592"/>
          </a:xfrm>
          <a:prstGeom prst="rect">
            <a:avLst/>
          </a:prstGeom>
          <a:noFill/>
        </p:spPr>
        <p:txBody>
          <a:bodyPr wrap="square" lIns="0" rIns="0" tIns="0" bIns="0" anchor="t">
            <a:spAutoFit/>
          </a:bodyPr>
          <a:lstStyle/>
          <a:p>
            <a:pPr algn="l">
              <a:lnSpc>
                <a:spcPct val="108000"/>
              </a:lnSpc>
              <a:spcBef>
                <a:spcPts val="0"/>
              </a:spcBef>
              <a:spcAft>
                <a:spcPts val="0"/>
              </a:spcAft>
            </a:pPr>
            <a:r>
              <a:rPr sz="750" b="0" i="0">
                <a:solidFill>
                  <a:srgbClr val="8B96AA"/>
                </a:solidFill>
                <a:latin typeface="Aptos"/>
              </a:rPr>
              <a:t>AI + ROBOTICS MINI PROJECTS  •  BEGINNER-FRIENDLY GUIDE</a:t>
            </a:r>
          </a:p>
        </p:txBody>
      </p:sp>
      <p:sp>
        <p:nvSpPr>
          <p:cNvPr id="8" name="TextBox 7"/>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8B96AA"/>
                </a:solidFill>
                <a:latin typeface="Aptos"/>
              </a:rPr>
              <a:t>54</a:t>
            </a:r>
          </a:p>
        </p:txBody>
      </p:sp>
      <p:sp>
        <p:nvSpPr>
          <p:cNvPr id="9" name="Rounded Rectangle 8"/>
          <p:cNvSpPr/>
          <p:nvPr/>
        </p:nvSpPr>
        <p:spPr>
          <a:xfrm>
            <a:off x="694944" y="1828800"/>
            <a:ext cx="5257800" cy="53035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84248"/>
            <a:ext cx="1170432" cy="201168"/>
          </a:xfrm>
          <a:prstGeom prst="rect">
            <a:avLst/>
          </a:prstGeom>
          <a:noFill/>
        </p:spPr>
        <p:txBody>
          <a:bodyPr wrap="square" lIns="0" rIns="0" tIns="0" bIns="0" anchor="t">
            <a:normAutofit/>
          </a:bodyPr>
          <a:lstStyle/>
          <a:p>
            <a:pPr algn="l">
              <a:lnSpc>
                <a:spcPct val="108000"/>
              </a:lnSpc>
              <a:spcBef>
                <a:spcPts val="0"/>
              </a:spcBef>
              <a:spcAft>
                <a:spcPts val="0"/>
              </a:spcAft>
            </a:pPr>
            <a:r>
              <a:rPr sz="1040" b="1" i="0">
                <a:solidFill>
                  <a:srgbClr val="5676F5"/>
                </a:solidFill>
                <a:latin typeface="Aptos"/>
              </a:rPr>
              <a:t>API</a:t>
            </a:r>
          </a:p>
        </p:txBody>
      </p:sp>
      <p:sp>
        <p:nvSpPr>
          <p:cNvPr id="11" name="TextBox 10"/>
          <p:cNvSpPr txBox="1"/>
          <p:nvPr/>
        </p:nvSpPr>
        <p:spPr>
          <a:xfrm>
            <a:off x="2084832" y="1938528"/>
            <a:ext cx="3685032" cy="329184"/>
          </a:xfrm>
          <a:prstGeom prst="rect">
            <a:avLst/>
          </a:prstGeom>
          <a:noFill/>
        </p:spPr>
        <p:txBody>
          <a:bodyPr wrap="square" lIns="0" rIns="0" tIns="0" bIns="0" anchor="t">
            <a:normAutofit/>
          </a:bodyPr>
          <a:lstStyle/>
          <a:p>
            <a:pPr algn="l">
              <a:lnSpc>
                <a:spcPct val="108000"/>
              </a:lnSpc>
              <a:spcBef>
                <a:spcPts val="0"/>
              </a:spcBef>
              <a:spcAft>
                <a:spcPts val="0"/>
              </a:spcAft>
            </a:pPr>
            <a:r>
              <a:rPr sz="960" b="0" i="0">
                <a:solidFill>
                  <a:srgbClr val="5E6B84"/>
                </a:solidFill>
                <a:latin typeface="Aptos"/>
              </a:rPr>
              <a:t>A way for one program to ask another service for data or a result.</a:t>
            </a:r>
          </a:p>
        </p:txBody>
      </p:sp>
      <p:sp>
        <p:nvSpPr>
          <p:cNvPr id="12" name="Rounded Rectangle 11"/>
          <p:cNvSpPr/>
          <p:nvPr/>
        </p:nvSpPr>
        <p:spPr>
          <a:xfrm>
            <a:off x="6272783" y="1828800"/>
            <a:ext cx="5257800" cy="53035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5" y="1984248"/>
            <a:ext cx="1170432" cy="201168"/>
          </a:xfrm>
          <a:prstGeom prst="rect">
            <a:avLst/>
          </a:prstGeom>
          <a:noFill/>
        </p:spPr>
        <p:txBody>
          <a:bodyPr wrap="square" lIns="0" rIns="0" tIns="0" bIns="0" anchor="t">
            <a:normAutofit/>
          </a:bodyPr>
          <a:lstStyle/>
          <a:p>
            <a:pPr algn="l">
              <a:lnSpc>
                <a:spcPct val="108000"/>
              </a:lnSpc>
              <a:spcBef>
                <a:spcPts val="0"/>
              </a:spcBef>
              <a:spcAft>
                <a:spcPts val="0"/>
              </a:spcAft>
            </a:pPr>
            <a:r>
              <a:rPr sz="1040" b="1" i="0">
                <a:solidFill>
                  <a:srgbClr val="5676F5"/>
                </a:solidFill>
                <a:latin typeface="Aptos"/>
              </a:rPr>
              <a:t>Prompt</a:t>
            </a:r>
          </a:p>
        </p:txBody>
      </p:sp>
      <p:sp>
        <p:nvSpPr>
          <p:cNvPr id="14" name="TextBox 13"/>
          <p:cNvSpPr txBox="1"/>
          <p:nvPr/>
        </p:nvSpPr>
        <p:spPr>
          <a:xfrm>
            <a:off x="7662671" y="1938528"/>
            <a:ext cx="3685032" cy="329184"/>
          </a:xfrm>
          <a:prstGeom prst="rect">
            <a:avLst/>
          </a:prstGeom>
          <a:noFill/>
        </p:spPr>
        <p:txBody>
          <a:bodyPr wrap="square" lIns="0" rIns="0" tIns="0" bIns="0" anchor="t">
            <a:normAutofit/>
          </a:bodyPr>
          <a:lstStyle/>
          <a:p>
            <a:pPr algn="l">
              <a:lnSpc>
                <a:spcPct val="108000"/>
              </a:lnSpc>
              <a:spcBef>
                <a:spcPts val="0"/>
              </a:spcBef>
              <a:spcAft>
                <a:spcPts val="0"/>
              </a:spcAft>
            </a:pPr>
            <a:r>
              <a:rPr sz="960" b="0" i="0">
                <a:solidFill>
                  <a:srgbClr val="5E6B84"/>
                </a:solidFill>
                <a:latin typeface="Aptos"/>
              </a:rPr>
              <a:t>Instructions or context given to an AI model.</a:t>
            </a:r>
          </a:p>
        </p:txBody>
      </p:sp>
      <p:sp>
        <p:nvSpPr>
          <p:cNvPr id="15" name="Rounded Rectangle 14"/>
          <p:cNvSpPr/>
          <p:nvPr/>
        </p:nvSpPr>
        <p:spPr>
          <a:xfrm>
            <a:off x="694944" y="2496312"/>
            <a:ext cx="5257800" cy="53035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2651760"/>
            <a:ext cx="1170432" cy="201168"/>
          </a:xfrm>
          <a:prstGeom prst="rect">
            <a:avLst/>
          </a:prstGeom>
          <a:noFill/>
        </p:spPr>
        <p:txBody>
          <a:bodyPr wrap="square" lIns="0" rIns="0" tIns="0" bIns="0" anchor="t">
            <a:normAutofit/>
          </a:bodyPr>
          <a:lstStyle/>
          <a:p>
            <a:pPr algn="l">
              <a:lnSpc>
                <a:spcPct val="108000"/>
              </a:lnSpc>
              <a:spcBef>
                <a:spcPts val="0"/>
              </a:spcBef>
              <a:spcAft>
                <a:spcPts val="0"/>
              </a:spcAft>
            </a:pPr>
            <a:r>
              <a:rPr sz="1040" b="1" i="0">
                <a:solidFill>
                  <a:srgbClr val="5676F5"/>
                </a:solidFill>
                <a:latin typeface="Aptos"/>
              </a:rPr>
              <a:t>LLM</a:t>
            </a:r>
          </a:p>
        </p:txBody>
      </p:sp>
      <p:sp>
        <p:nvSpPr>
          <p:cNvPr id="17" name="TextBox 16"/>
          <p:cNvSpPr txBox="1"/>
          <p:nvPr/>
        </p:nvSpPr>
        <p:spPr>
          <a:xfrm>
            <a:off x="2084832" y="2606040"/>
            <a:ext cx="3685032" cy="329184"/>
          </a:xfrm>
          <a:prstGeom prst="rect">
            <a:avLst/>
          </a:prstGeom>
          <a:noFill/>
        </p:spPr>
        <p:txBody>
          <a:bodyPr wrap="square" lIns="0" rIns="0" tIns="0" bIns="0" anchor="t">
            <a:normAutofit/>
          </a:bodyPr>
          <a:lstStyle/>
          <a:p>
            <a:pPr algn="l">
              <a:lnSpc>
                <a:spcPct val="108000"/>
              </a:lnSpc>
              <a:spcBef>
                <a:spcPts val="0"/>
              </a:spcBef>
              <a:spcAft>
                <a:spcPts val="0"/>
              </a:spcAft>
            </a:pPr>
            <a:r>
              <a:rPr sz="960" b="0" i="0">
                <a:solidFill>
                  <a:srgbClr val="5E6B84"/>
                </a:solidFill>
                <a:latin typeface="Aptos"/>
              </a:rPr>
              <a:t>A large language model that can generate or transform text.</a:t>
            </a:r>
          </a:p>
        </p:txBody>
      </p:sp>
      <p:sp>
        <p:nvSpPr>
          <p:cNvPr id="18" name="Rounded Rectangle 17"/>
          <p:cNvSpPr/>
          <p:nvPr/>
        </p:nvSpPr>
        <p:spPr>
          <a:xfrm>
            <a:off x="6272783" y="2496312"/>
            <a:ext cx="5257800" cy="53035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37375" y="2651760"/>
            <a:ext cx="1170432" cy="201168"/>
          </a:xfrm>
          <a:prstGeom prst="rect">
            <a:avLst/>
          </a:prstGeom>
          <a:noFill/>
        </p:spPr>
        <p:txBody>
          <a:bodyPr wrap="square" lIns="0" rIns="0" tIns="0" bIns="0" anchor="t">
            <a:normAutofit/>
          </a:bodyPr>
          <a:lstStyle/>
          <a:p>
            <a:pPr algn="l">
              <a:lnSpc>
                <a:spcPct val="108000"/>
              </a:lnSpc>
              <a:spcBef>
                <a:spcPts val="0"/>
              </a:spcBef>
              <a:spcAft>
                <a:spcPts val="0"/>
              </a:spcAft>
            </a:pPr>
            <a:r>
              <a:rPr sz="1040" b="1" i="0">
                <a:solidFill>
                  <a:srgbClr val="5676F5"/>
                </a:solidFill>
                <a:latin typeface="Aptos"/>
              </a:rPr>
              <a:t>GPIO</a:t>
            </a:r>
          </a:p>
        </p:txBody>
      </p:sp>
      <p:sp>
        <p:nvSpPr>
          <p:cNvPr id="20" name="TextBox 19"/>
          <p:cNvSpPr txBox="1"/>
          <p:nvPr/>
        </p:nvSpPr>
        <p:spPr>
          <a:xfrm>
            <a:off x="7662671" y="2606040"/>
            <a:ext cx="3685032" cy="329184"/>
          </a:xfrm>
          <a:prstGeom prst="rect">
            <a:avLst/>
          </a:prstGeom>
          <a:noFill/>
        </p:spPr>
        <p:txBody>
          <a:bodyPr wrap="square" lIns="0" rIns="0" tIns="0" bIns="0" anchor="t">
            <a:normAutofit/>
          </a:bodyPr>
          <a:lstStyle/>
          <a:p>
            <a:pPr algn="l">
              <a:lnSpc>
                <a:spcPct val="108000"/>
              </a:lnSpc>
              <a:spcBef>
                <a:spcPts val="0"/>
              </a:spcBef>
              <a:spcAft>
                <a:spcPts val="0"/>
              </a:spcAft>
            </a:pPr>
            <a:r>
              <a:rPr sz="960" b="0" i="0">
                <a:solidFill>
                  <a:srgbClr val="5E6B84"/>
                </a:solidFill>
                <a:latin typeface="Aptos"/>
              </a:rPr>
              <a:t>Programmable input/output pins on a microcontroller.</a:t>
            </a:r>
          </a:p>
        </p:txBody>
      </p:sp>
      <p:sp>
        <p:nvSpPr>
          <p:cNvPr id="21" name="Rounded Rectangle 20"/>
          <p:cNvSpPr/>
          <p:nvPr/>
        </p:nvSpPr>
        <p:spPr>
          <a:xfrm>
            <a:off x="694944" y="3163824"/>
            <a:ext cx="5257800" cy="53035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 y="3319272"/>
            <a:ext cx="1170432" cy="201168"/>
          </a:xfrm>
          <a:prstGeom prst="rect">
            <a:avLst/>
          </a:prstGeom>
          <a:noFill/>
        </p:spPr>
        <p:txBody>
          <a:bodyPr wrap="square" lIns="0" rIns="0" tIns="0" bIns="0" anchor="t">
            <a:normAutofit/>
          </a:bodyPr>
          <a:lstStyle/>
          <a:p>
            <a:pPr algn="l">
              <a:lnSpc>
                <a:spcPct val="108000"/>
              </a:lnSpc>
              <a:spcBef>
                <a:spcPts val="0"/>
              </a:spcBef>
              <a:spcAft>
                <a:spcPts val="0"/>
              </a:spcAft>
            </a:pPr>
            <a:r>
              <a:rPr sz="1040" b="1" i="0">
                <a:solidFill>
                  <a:srgbClr val="5676F5"/>
                </a:solidFill>
                <a:latin typeface="Aptos"/>
              </a:rPr>
              <a:t>PWM</a:t>
            </a:r>
          </a:p>
        </p:txBody>
      </p:sp>
      <p:sp>
        <p:nvSpPr>
          <p:cNvPr id="23" name="TextBox 22"/>
          <p:cNvSpPr txBox="1"/>
          <p:nvPr/>
        </p:nvSpPr>
        <p:spPr>
          <a:xfrm>
            <a:off x="2084832" y="3273552"/>
            <a:ext cx="3685032" cy="329184"/>
          </a:xfrm>
          <a:prstGeom prst="rect">
            <a:avLst/>
          </a:prstGeom>
          <a:noFill/>
        </p:spPr>
        <p:txBody>
          <a:bodyPr wrap="square" lIns="0" rIns="0" tIns="0" bIns="0" anchor="t">
            <a:normAutofit/>
          </a:bodyPr>
          <a:lstStyle/>
          <a:p>
            <a:pPr algn="l">
              <a:lnSpc>
                <a:spcPct val="108000"/>
              </a:lnSpc>
              <a:spcBef>
                <a:spcPts val="0"/>
              </a:spcBef>
              <a:spcAft>
                <a:spcPts val="0"/>
              </a:spcAft>
            </a:pPr>
            <a:r>
              <a:rPr sz="960" b="0" i="0">
                <a:solidFill>
                  <a:srgbClr val="5E6B84"/>
                </a:solidFill>
                <a:latin typeface="Aptos"/>
              </a:rPr>
              <a:t>A rapid on/off signal used to control effective brightness or speed.</a:t>
            </a:r>
          </a:p>
        </p:txBody>
      </p:sp>
      <p:sp>
        <p:nvSpPr>
          <p:cNvPr id="24" name="Rounded Rectangle 23"/>
          <p:cNvSpPr/>
          <p:nvPr/>
        </p:nvSpPr>
        <p:spPr>
          <a:xfrm>
            <a:off x="6272783" y="3163824"/>
            <a:ext cx="5257800" cy="53035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37375" y="3319272"/>
            <a:ext cx="1170432" cy="201168"/>
          </a:xfrm>
          <a:prstGeom prst="rect">
            <a:avLst/>
          </a:prstGeom>
          <a:noFill/>
        </p:spPr>
        <p:txBody>
          <a:bodyPr wrap="square" lIns="0" rIns="0" tIns="0" bIns="0" anchor="t">
            <a:normAutofit/>
          </a:bodyPr>
          <a:lstStyle/>
          <a:p>
            <a:pPr algn="l">
              <a:lnSpc>
                <a:spcPct val="108000"/>
              </a:lnSpc>
              <a:spcBef>
                <a:spcPts val="0"/>
              </a:spcBef>
              <a:spcAft>
                <a:spcPts val="0"/>
              </a:spcAft>
            </a:pPr>
            <a:r>
              <a:rPr sz="1040" b="1" i="0">
                <a:solidFill>
                  <a:srgbClr val="5676F5"/>
                </a:solidFill>
                <a:latin typeface="Aptos"/>
              </a:rPr>
              <a:t>LDR</a:t>
            </a:r>
          </a:p>
        </p:txBody>
      </p:sp>
      <p:sp>
        <p:nvSpPr>
          <p:cNvPr id="26" name="TextBox 25"/>
          <p:cNvSpPr txBox="1"/>
          <p:nvPr/>
        </p:nvSpPr>
        <p:spPr>
          <a:xfrm>
            <a:off x="7662671" y="3273552"/>
            <a:ext cx="3685032" cy="329184"/>
          </a:xfrm>
          <a:prstGeom prst="rect">
            <a:avLst/>
          </a:prstGeom>
          <a:noFill/>
        </p:spPr>
        <p:txBody>
          <a:bodyPr wrap="square" lIns="0" rIns="0" tIns="0" bIns="0" anchor="t">
            <a:normAutofit/>
          </a:bodyPr>
          <a:lstStyle/>
          <a:p>
            <a:pPr algn="l">
              <a:lnSpc>
                <a:spcPct val="108000"/>
              </a:lnSpc>
              <a:spcBef>
                <a:spcPts val="0"/>
              </a:spcBef>
              <a:spcAft>
                <a:spcPts val="0"/>
              </a:spcAft>
            </a:pPr>
            <a:r>
              <a:rPr sz="960" b="0" i="0">
                <a:solidFill>
                  <a:srgbClr val="5E6B84"/>
                </a:solidFill>
                <a:latin typeface="Aptos"/>
              </a:rPr>
              <a:t>A light-dependent resistor used to sense changes in light.</a:t>
            </a:r>
          </a:p>
        </p:txBody>
      </p:sp>
      <p:sp>
        <p:nvSpPr>
          <p:cNvPr id="27" name="Rounded Rectangle 26"/>
          <p:cNvSpPr/>
          <p:nvPr/>
        </p:nvSpPr>
        <p:spPr>
          <a:xfrm>
            <a:off x="694944" y="3831335"/>
            <a:ext cx="5257800" cy="53035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9536" y="3986783"/>
            <a:ext cx="1170432" cy="201168"/>
          </a:xfrm>
          <a:prstGeom prst="rect">
            <a:avLst/>
          </a:prstGeom>
          <a:noFill/>
        </p:spPr>
        <p:txBody>
          <a:bodyPr wrap="square" lIns="0" rIns="0" tIns="0" bIns="0" anchor="t">
            <a:normAutofit/>
          </a:bodyPr>
          <a:lstStyle/>
          <a:p>
            <a:pPr algn="l">
              <a:lnSpc>
                <a:spcPct val="108000"/>
              </a:lnSpc>
              <a:spcBef>
                <a:spcPts val="0"/>
              </a:spcBef>
              <a:spcAft>
                <a:spcPts val="0"/>
              </a:spcAft>
            </a:pPr>
            <a:r>
              <a:rPr sz="1040" b="1" i="0">
                <a:solidFill>
                  <a:srgbClr val="5676F5"/>
                </a:solidFill>
                <a:latin typeface="Aptos"/>
              </a:rPr>
              <a:t>PIR</a:t>
            </a:r>
          </a:p>
        </p:txBody>
      </p:sp>
      <p:sp>
        <p:nvSpPr>
          <p:cNvPr id="29" name="TextBox 28"/>
          <p:cNvSpPr txBox="1"/>
          <p:nvPr/>
        </p:nvSpPr>
        <p:spPr>
          <a:xfrm>
            <a:off x="2084832" y="3941063"/>
            <a:ext cx="3685032" cy="329184"/>
          </a:xfrm>
          <a:prstGeom prst="rect">
            <a:avLst/>
          </a:prstGeom>
          <a:noFill/>
        </p:spPr>
        <p:txBody>
          <a:bodyPr wrap="square" lIns="0" rIns="0" tIns="0" bIns="0" anchor="t">
            <a:normAutofit/>
          </a:bodyPr>
          <a:lstStyle/>
          <a:p>
            <a:pPr algn="l">
              <a:lnSpc>
                <a:spcPct val="108000"/>
              </a:lnSpc>
              <a:spcBef>
                <a:spcPts val="0"/>
              </a:spcBef>
              <a:spcAft>
                <a:spcPts val="0"/>
              </a:spcAft>
            </a:pPr>
            <a:r>
              <a:rPr sz="960" b="0" i="0">
                <a:solidFill>
                  <a:srgbClr val="5E6B84"/>
                </a:solidFill>
                <a:latin typeface="Aptos"/>
              </a:rPr>
              <a:t>A sensor commonly used to detect motion.</a:t>
            </a:r>
          </a:p>
        </p:txBody>
      </p:sp>
      <p:sp>
        <p:nvSpPr>
          <p:cNvPr id="30" name="Rounded Rectangle 29"/>
          <p:cNvSpPr/>
          <p:nvPr/>
        </p:nvSpPr>
        <p:spPr>
          <a:xfrm>
            <a:off x="6272783" y="3831335"/>
            <a:ext cx="5257800" cy="53035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37375" y="3986783"/>
            <a:ext cx="1170432" cy="201168"/>
          </a:xfrm>
          <a:prstGeom prst="rect">
            <a:avLst/>
          </a:prstGeom>
          <a:noFill/>
        </p:spPr>
        <p:txBody>
          <a:bodyPr wrap="square" lIns="0" rIns="0" tIns="0" bIns="0" anchor="t">
            <a:normAutofit/>
          </a:bodyPr>
          <a:lstStyle/>
          <a:p>
            <a:pPr algn="l">
              <a:lnSpc>
                <a:spcPct val="108000"/>
              </a:lnSpc>
              <a:spcBef>
                <a:spcPts val="0"/>
              </a:spcBef>
              <a:spcAft>
                <a:spcPts val="0"/>
              </a:spcAft>
            </a:pPr>
            <a:r>
              <a:rPr sz="1040" b="1" i="0">
                <a:solidFill>
                  <a:srgbClr val="5676F5"/>
                </a:solidFill>
                <a:latin typeface="Aptos"/>
              </a:rPr>
              <a:t>BH1750</a:t>
            </a:r>
          </a:p>
        </p:txBody>
      </p:sp>
      <p:sp>
        <p:nvSpPr>
          <p:cNvPr id="32" name="TextBox 31"/>
          <p:cNvSpPr txBox="1"/>
          <p:nvPr/>
        </p:nvSpPr>
        <p:spPr>
          <a:xfrm>
            <a:off x="7662671" y="3941063"/>
            <a:ext cx="3685032" cy="329184"/>
          </a:xfrm>
          <a:prstGeom prst="rect">
            <a:avLst/>
          </a:prstGeom>
          <a:noFill/>
        </p:spPr>
        <p:txBody>
          <a:bodyPr wrap="square" lIns="0" rIns="0" tIns="0" bIns="0" anchor="t">
            <a:normAutofit/>
          </a:bodyPr>
          <a:lstStyle/>
          <a:p>
            <a:pPr algn="l">
              <a:lnSpc>
                <a:spcPct val="108000"/>
              </a:lnSpc>
              <a:spcBef>
                <a:spcPts val="0"/>
              </a:spcBef>
              <a:spcAft>
                <a:spcPts val="0"/>
              </a:spcAft>
            </a:pPr>
            <a:r>
              <a:rPr sz="960" b="0" i="0">
                <a:solidFill>
                  <a:srgbClr val="5E6B84"/>
                </a:solidFill>
                <a:latin typeface="Aptos"/>
              </a:rPr>
              <a:t>A light sensor that reports light level in lux.</a:t>
            </a:r>
          </a:p>
        </p:txBody>
      </p:sp>
      <p:sp>
        <p:nvSpPr>
          <p:cNvPr id="33" name="Rounded Rectangle 32"/>
          <p:cNvSpPr/>
          <p:nvPr/>
        </p:nvSpPr>
        <p:spPr>
          <a:xfrm>
            <a:off x="694944" y="4498848"/>
            <a:ext cx="5257800" cy="53035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536" y="4654296"/>
            <a:ext cx="1170432" cy="201168"/>
          </a:xfrm>
          <a:prstGeom prst="rect">
            <a:avLst/>
          </a:prstGeom>
          <a:noFill/>
        </p:spPr>
        <p:txBody>
          <a:bodyPr wrap="square" lIns="0" rIns="0" tIns="0" bIns="0" anchor="t">
            <a:normAutofit/>
          </a:bodyPr>
          <a:lstStyle/>
          <a:p>
            <a:pPr algn="l">
              <a:lnSpc>
                <a:spcPct val="108000"/>
              </a:lnSpc>
              <a:spcBef>
                <a:spcPts val="0"/>
              </a:spcBef>
              <a:spcAft>
                <a:spcPts val="0"/>
              </a:spcAft>
            </a:pPr>
            <a:r>
              <a:rPr sz="1040" b="1" i="0">
                <a:solidFill>
                  <a:srgbClr val="5676F5"/>
                </a:solidFill>
                <a:latin typeface="Aptos"/>
              </a:rPr>
              <a:t>DHT11</a:t>
            </a:r>
          </a:p>
        </p:txBody>
      </p:sp>
      <p:sp>
        <p:nvSpPr>
          <p:cNvPr id="35" name="TextBox 34"/>
          <p:cNvSpPr txBox="1"/>
          <p:nvPr/>
        </p:nvSpPr>
        <p:spPr>
          <a:xfrm>
            <a:off x="2084832" y="4608576"/>
            <a:ext cx="3685032" cy="329184"/>
          </a:xfrm>
          <a:prstGeom prst="rect">
            <a:avLst/>
          </a:prstGeom>
          <a:noFill/>
        </p:spPr>
        <p:txBody>
          <a:bodyPr wrap="square" lIns="0" rIns="0" tIns="0" bIns="0" anchor="t">
            <a:normAutofit/>
          </a:bodyPr>
          <a:lstStyle/>
          <a:p>
            <a:pPr algn="l">
              <a:lnSpc>
                <a:spcPct val="108000"/>
              </a:lnSpc>
              <a:spcBef>
                <a:spcPts val="0"/>
              </a:spcBef>
              <a:spcAft>
                <a:spcPts val="0"/>
              </a:spcAft>
            </a:pPr>
            <a:r>
              <a:rPr sz="960" b="0" i="0">
                <a:solidFill>
                  <a:srgbClr val="5E6B84"/>
                </a:solidFill>
                <a:latin typeface="Aptos"/>
              </a:rPr>
              <a:t>A basic temperature and humidity sensor.</a:t>
            </a:r>
          </a:p>
        </p:txBody>
      </p:sp>
      <p:sp>
        <p:nvSpPr>
          <p:cNvPr id="36" name="Rounded Rectangle 35"/>
          <p:cNvSpPr/>
          <p:nvPr/>
        </p:nvSpPr>
        <p:spPr>
          <a:xfrm>
            <a:off x="6272783" y="4498848"/>
            <a:ext cx="5257800" cy="53035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37375" y="4654296"/>
            <a:ext cx="1170432" cy="201168"/>
          </a:xfrm>
          <a:prstGeom prst="rect">
            <a:avLst/>
          </a:prstGeom>
          <a:noFill/>
        </p:spPr>
        <p:txBody>
          <a:bodyPr wrap="square" lIns="0" rIns="0" tIns="0" bIns="0" anchor="t">
            <a:normAutofit/>
          </a:bodyPr>
          <a:lstStyle/>
          <a:p>
            <a:pPr algn="l">
              <a:lnSpc>
                <a:spcPct val="108000"/>
              </a:lnSpc>
              <a:spcBef>
                <a:spcPts val="0"/>
              </a:spcBef>
              <a:spcAft>
                <a:spcPts val="0"/>
              </a:spcAft>
            </a:pPr>
            <a:r>
              <a:rPr sz="1040" b="1" i="0">
                <a:solidFill>
                  <a:srgbClr val="5676F5"/>
                </a:solidFill>
                <a:latin typeface="Aptos"/>
              </a:rPr>
              <a:t>I²C</a:t>
            </a:r>
          </a:p>
        </p:txBody>
      </p:sp>
      <p:sp>
        <p:nvSpPr>
          <p:cNvPr id="38" name="TextBox 37"/>
          <p:cNvSpPr txBox="1"/>
          <p:nvPr/>
        </p:nvSpPr>
        <p:spPr>
          <a:xfrm>
            <a:off x="7662671" y="4608576"/>
            <a:ext cx="3685032" cy="329184"/>
          </a:xfrm>
          <a:prstGeom prst="rect">
            <a:avLst/>
          </a:prstGeom>
          <a:noFill/>
        </p:spPr>
        <p:txBody>
          <a:bodyPr wrap="square" lIns="0" rIns="0" tIns="0" bIns="0" anchor="t">
            <a:normAutofit/>
          </a:bodyPr>
          <a:lstStyle/>
          <a:p>
            <a:pPr algn="l">
              <a:lnSpc>
                <a:spcPct val="108000"/>
              </a:lnSpc>
              <a:spcBef>
                <a:spcPts val="0"/>
              </a:spcBef>
              <a:spcAft>
                <a:spcPts val="0"/>
              </a:spcAft>
            </a:pPr>
            <a:r>
              <a:rPr sz="960" b="0" i="0">
                <a:solidFill>
                  <a:srgbClr val="5E6B84"/>
                </a:solidFill>
                <a:latin typeface="Aptos"/>
              </a:rPr>
              <a:t>A communication method often used by small displays and sensors.</a:t>
            </a:r>
          </a:p>
        </p:txBody>
      </p:sp>
      <p:sp>
        <p:nvSpPr>
          <p:cNvPr id="39" name="Rounded Rectangle 38"/>
          <p:cNvSpPr/>
          <p:nvPr/>
        </p:nvSpPr>
        <p:spPr>
          <a:xfrm>
            <a:off x="694944" y="5166360"/>
            <a:ext cx="5257800" cy="53035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9536" y="5321808"/>
            <a:ext cx="1170432" cy="201168"/>
          </a:xfrm>
          <a:prstGeom prst="rect">
            <a:avLst/>
          </a:prstGeom>
          <a:noFill/>
        </p:spPr>
        <p:txBody>
          <a:bodyPr wrap="square" lIns="0" rIns="0" tIns="0" bIns="0" anchor="t">
            <a:normAutofit/>
          </a:bodyPr>
          <a:lstStyle/>
          <a:p>
            <a:pPr algn="l">
              <a:lnSpc>
                <a:spcPct val="108000"/>
              </a:lnSpc>
              <a:spcBef>
                <a:spcPts val="0"/>
              </a:spcBef>
              <a:spcAft>
                <a:spcPts val="0"/>
              </a:spcAft>
            </a:pPr>
            <a:r>
              <a:rPr sz="1040" b="1" i="0">
                <a:solidFill>
                  <a:srgbClr val="5676F5"/>
                </a:solidFill>
                <a:latin typeface="Aptos"/>
              </a:rPr>
              <a:t>Actuator</a:t>
            </a:r>
          </a:p>
        </p:txBody>
      </p:sp>
      <p:sp>
        <p:nvSpPr>
          <p:cNvPr id="41" name="TextBox 40"/>
          <p:cNvSpPr txBox="1"/>
          <p:nvPr/>
        </p:nvSpPr>
        <p:spPr>
          <a:xfrm>
            <a:off x="2084832" y="5276088"/>
            <a:ext cx="3685032" cy="329184"/>
          </a:xfrm>
          <a:prstGeom prst="rect">
            <a:avLst/>
          </a:prstGeom>
          <a:noFill/>
        </p:spPr>
        <p:txBody>
          <a:bodyPr wrap="square" lIns="0" rIns="0" tIns="0" bIns="0" anchor="t">
            <a:normAutofit/>
          </a:bodyPr>
          <a:lstStyle/>
          <a:p>
            <a:pPr algn="l">
              <a:lnSpc>
                <a:spcPct val="108000"/>
              </a:lnSpc>
              <a:spcBef>
                <a:spcPts val="0"/>
              </a:spcBef>
              <a:spcAft>
                <a:spcPts val="0"/>
              </a:spcAft>
            </a:pPr>
            <a:r>
              <a:rPr sz="960" b="0" i="0">
                <a:solidFill>
                  <a:srgbClr val="5E6B84"/>
                </a:solidFill>
                <a:latin typeface="Aptos"/>
              </a:rPr>
              <a:t>A component that performs an action, such as moving a mechanism.</a:t>
            </a:r>
          </a:p>
        </p:txBody>
      </p:sp>
      <p:sp>
        <p:nvSpPr>
          <p:cNvPr id="42" name="Rounded Rectangle 41"/>
          <p:cNvSpPr/>
          <p:nvPr/>
        </p:nvSpPr>
        <p:spPr>
          <a:xfrm>
            <a:off x="6272783" y="5166360"/>
            <a:ext cx="5257800" cy="530352"/>
          </a:xfrm>
          <a:prstGeom prst="roundRect">
            <a:avLst/>
          </a:prstGeom>
          <a:solidFill>
            <a:srgbClr val="FFFFFF"/>
          </a:solidFill>
          <a:ln w="12700">
            <a:solidFill>
              <a:srgbClr val="DD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5" y="5321808"/>
            <a:ext cx="1170432" cy="201168"/>
          </a:xfrm>
          <a:prstGeom prst="rect">
            <a:avLst/>
          </a:prstGeom>
          <a:noFill/>
        </p:spPr>
        <p:txBody>
          <a:bodyPr wrap="square" lIns="0" rIns="0" tIns="0" bIns="0" anchor="t">
            <a:normAutofit/>
          </a:bodyPr>
          <a:lstStyle/>
          <a:p>
            <a:pPr algn="l">
              <a:lnSpc>
                <a:spcPct val="108000"/>
              </a:lnSpc>
              <a:spcBef>
                <a:spcPts val="0"/>
              </a:spcBef>
              <a:spcAft>
                <a:spcPts val="0"/>
              </a:spcAft>
            </a:pPr>
            <a:r>
              <a:rPr sz="1040" b="1" i="0">
                <a:solidFill>
                  <a:srgbClr val="5676F5"/>
                </a:solidFill>
                <a:latin typeface="Aptos"/>
              </a:rPr>
              <a:t>Threshold</a:t>
            </a:r>
          </a:p>
        </p:txBody>
      </p:sp>
      <p:sp>
        <p:nvSpPr>
          <p:cNvPr id="44" name="TextBox 43"/>
          <p:cNvSpPr txBox="1"/>
          <p:nvPr/>
        </p:nvSpPr>
        <p:spPr>
          <a:xfrm>
            <a:off x="7662671" y="5276088"/>
            <a:ext cx="3685032" cy="329184"/>
          </a:xfrm>
          <a:prstGeom prst="rect">
            <a:avLst/>
          </a:prstGeom>
          <a:noFill/>
        </p:spPr>
        <p:txBody>
          <a:bodyPr wrap="square" lIns="0" rIns="0" tIns="0" bIns="0" anchor="t">
            <a:normAutofit/>
          </a:bodyPr>
          <a:lstStyle/>
          <a:p>
            <a:pPr algn="l">
              <a:lnSpc>
                <a:spcPct val="108000"/>
              </a:lnSpc>
              <a:spcBef>
                <a:spcPts val="0"/>
              </a:spcBef>
              <a:spcAft>
                <a:spcPts val="0"/>
              </a:spcAft>
            </a:pPr>
            <a:r>
              <a:rPr sz="960" b="0" i="0">
                <a:solidFill>
                  <a:srgbClr val="5E6B84"/>
                </a:solidFill>
                <a:latin typeface="Aptos"/>
              </a:rPr>
              <a:t>A chosen value used by a rule to make a decision.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11B34"/>
        </a:solidFill>
        <a:effectLst/>
      </p:bgPr>
    </p:bg>
    <p:spTree>
      <p:nvGrpSpPr>
        <p:cNvPr id="1" name=""/>
        <p:cNvGrpSpPr/>
        <p:nvPr/>
      </p:nvGrpSpPr>
      <p:grpSpPr/>
      <p:sp>
        <p:nvSpPr>
          <p:cNvPr id="2" name="Oval 1"/>
          <p:cNvSpPr/>
          <p:nvPr/>
        </p:nvSpPr>
        <p:spPr>
          <a:xfrm>
            <a:off x="8869680" y="-548640"/>
            <a:ext cx="4297680" cy="4297680"/>
          </a:xfrm>
          <a:prstGeom prst="ellipse">
            <a:avLst/>
          </a:prstGeom>
          <a:solidFill>
            <a:srgbClr val="243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875520" y="4480560"/>
            <a:ext cx="3108960" cy="3108960"/>
          </a:xfrm>
          <a:prstGeom prst="ellipse">
            <a:avLst/>
          </a:prstGeom>
          <a:solidFill>
            <a:srgbClr val="17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13232" y="658368"/>
            <a:ext cx="1353312" cy="256032"/>
          </a:xfrm>
          <a:prstGeom prst="roundRect">
            <a:avLst/>
          </a:prstGeom>
          <a:solidFill>
            <a:srgbClr val="263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704088"/>
            <a:ext cx="1097280" cy="146304"/>
          </a:xfrm>
          <a:prstGeom prst="rect">
            <a:avLst/>
          </a:prstGeom>
          <a:noFill/>
        </p:spPr>
        <p:txBody>
          <a:bodyPr wrap="square" lIns="0" rIns="0" tIns="0" bIns="0" anchor="t">
            <a:normAutofit/>
          </a:bodyPr>
          <a:lstStyle/>
          <a:p>
            <a:pPr algn="l">
              <a:lnSpc>
                <a:spcPct val="108000"/>
              </a:lnSpc>
              <a:spcBef>
                <a:spcPts val="0"/>
              </a:spcBef>
              <a:spcAft>
                <a:spcPts val="0"/>
              </a:spcAft>
            </a:pPr>
            <a:r>
              <a:rPr sz="900" b="1" i="0">
                <a:solidFill>
                  <a:srgbClr val="9FE9E1"/>
                </a:solidFill>
                <a:latin typeface="Aptos"/>
              </a:rPr>
              <a:t>WRAP-UP</a:t>
            </a:r>
          </a:p>
        </p:txBody>
      </p:sp>
      <p:sp>
        <p:nvSpPr>
          <p:cNvPr id="6" name="TextBox 5"/>
          <p:cNvSpPr txBox="1"/>
          <p:nvPr/>
        </p:nvSpPr>
        <p:spPr>
          <a:xfrm>
            <a:off x="713232" y="1243584"/>
            <a:ext cx="6766560" cy="2029968"/>
          </a:xfrm>
          <a:prstGeom prst="rect">
            <a:avLst/>
          </a:prstGeom>
          <a:noFill/>
        </p:spPr>
        <p:txBody>
          <a:bodyPr wrap="square" lIns="0" rIns="0" tIns="0" bIns="0" anchor="t">
            <a:normAutofit/>
          </a:bodyPr>
          <a:lstStyle/>
          <a:p>
            <a:pPr algn="l">
              <a:lnSpc>
                <a:spcPct val="108000"/>
              </a:lnSpc>
              <a:spcBef>
                <a:spcPts val="0"/>
              </a:spcBef>
              <a:spcAft>
                <a:spcPts val="300"/>
              </a:spcAft>
            </a:pPr>
            <a:r>
              <a:rPr sz="3200" b="1" i="0">
                <a:solidFill>
                  <a:srgbClr val="FFFFFF"/>
                </a:solidFill>
                <a:latin typeface="Aptos"/>
              </a:rPr>
              <a:t>Start small.</a:t>
            </a:r>
          </a:p>
          <a:p>
            <a:pPr algn="l">
              <a:lnSpc>
                <a:spcPct val="108000"/>
              </a:lnSpc>
              <a:spcBef>
                <a:spcPts val="0"/>
              </a:spcBef>
              <a:spcAft>
                <a:spcPts val="300"/>
              </a:spcAft>
            </a:pPr>
            <a:r>
              <a:rPr sz="3200" b="1" i="0">
                <a:solidFill>
                  <a:srgbClr val="FFFFFF"/>
                </a:solidFill>
                <a:latin typeface="Aptos"/>
              </a:rPr>
              <a:t>Make it work.</a:t>
            </a:r>
          </a:p>
          <a:p>
            <a:pPr algn="l">
              <a:lnSpc>
                <a:spcPct val="108000"/>
              </a:lnSpc>
              <a:spcBef>
                <a:spcPts val="0"/>
              </a:spcBef>
              <a:spcAft>
                <a:spcPts val="300"/>
              </a:spcAft>
            </a:pPr>
            <a:r>
              <a:rPr sz="3200" b="1" i="0">
                <a:solidFill>
                  <a:srgbClr val="FFFFFF"/>
                </a:solidFill>
                <a:latin typeface="Aptos"/>
              </a:rPr>
              <a:t>Then make it better.</a:t>
            </a:r>
          </a:p>
        </p:txBody>
      </p:sp>
      <p:sp>
        <p:nvSpPr>
          <p:cNvPr id="7" name="TextBox 6"/>
          <p:cNvSpPr txBox="1"/>
          <p:nvPr/>
        </p:nvSpPr>
        <p:spPr>
          <a:xfrm>
            <a:off x="768096" y="3584448"/>
            <a:ext cx="6949440" cy="603504"/>
          </a:xfrm>
          <a:prstGeom prst="rect">
            <a:avLst/>
          </a:prstGeom>
          <a:noFill/>
        </p:spPr>
        <p:txBody>
          <a:bodyPr wrap="square" lIns="0" rIns="0" tIns="0" bIns="0" anchor="t">
            <a:normAutofit/>
          </a:bodyPr>
          <a:lstStyle/>
          <a:p>
            <a:pPr algn="l">
              <a:lnSpc>
                <a:spcPct val="108000"/>
              </a:lnSpc>
              <a:spcBef>
                <a:spcPts val="0"/>
              </a:spcBef>
              <a:spcAft>
                <a:spcPts val="0"/>
              </a:spcAft>
            </a:pPr>
            <a:r>
              <a:rPr sz="1500" b="0" i="0">
                <a:solidFill>
                  <a:srgbClr val="D7E0F1"/>
                </a:solidFill>
                <a:latin typeface="Aptos"/>
              </a:rPr>
              <a:t>A strong mini project has one clear goal, an understandable flow, and a working demonstration.</a:t>
            </a:r>
          </a:p>
        </p:txBody>
      </p:sp>
      <p:sp>
        <p:nvSpPr>
          <p:cNvPr id="8" name="Rounded Rectangle 7"/>
          <p:cNvSpPr/>
          <p:nvPr/>
        </p:nvSpPr>
        <p:spPr>
          <a:xfrm>
            <a:off x="768096" y="4590288"/>
            <a:ext cx="7132320" cy="859536"/>
          </a:xfrm>
          <a:prstGeom prst="roundRect">
            <a:avLst/>
          </a:prstGeom>
          <a:solidFill>
            <a:srgbClr val="1D2C4B"/>
          </a:solidFill>
          <a:ln w="12700">
            <a:solidFill>
              <a:srgbClr val="2A3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4764024"/>
            <a:ext cx="6656832" cy="182880"/>
          </a:xfrm>
          <a:prstGeom prst="rect">
            <a:avLst/>
          </a:prstGeom>
          <a:noFill/>
        </p:spPr>
        <p:txBody>
          <a:bodyPr wrap="square" lIns="0" rIns="0" tIns="0" bIns="0" anchor="t">
            <a:normAutofit/>
          </a:bodyPr>
          <a:lstStyle/>
          <a:p>
            <a:pPr algn="l">
              <a:lnSpc>
                <a:spcPct val="108000"/>
              </a:lnSpc>
              <a:spcBef>
                <a:spcPts val="0"/>
              </a:spcBef>
              <a:spcAft>
                <a:spcPts val="0"/>
              </a:spcAft>
            </a:pPr>
            <a:r>
              <a:rPr sz="1000" b="1" i="0">
                <a:solidFill>
                  <a:srgbClr val="FFD19A"/>
                </a:solidFill>
                <a:latin typeface="Aptos"/>
              </a:rPr>
              <a:t>Website source: ENV MONITOR — Robotics Class · Mini Projects</a:t>
            </a:r>
          </a:p>
        </p:txBody>
      </p:sp>
      <p:sp>
        <p:nvSpPr>
          <p:cNvPr id="10" name="TextBox 9"/>
          <p:cNvSpPr txBox="1"/>
          <p:nvPr/>
        </p:nvSpPr>
        <p:spPr>
          <a:xfrm>
            <a:off x="987552" y="5065776"/>
            <a:ext cx="6675120" cy="182880"/>
          </a:xfrm>
          <a:prstGeom prst="rect">
            <a:avLst/>
          </a:prstGeom>
          <a:noFill/>
        </p:spPr>
        <p:txBody>
          <a:bodyPr wrap="square" lIns="0" rIns="0" tIns="0" bIns="0" anchor="t">
            <a:normAutofit/>
          </a:bodyPr>
          <a:lstStyle/>
          <a:p>
            <a:pPr algn="l">
              <a:lnSpc>
                <a:spcPct val="108000"/>
              </a:lnSpc>
              <a:spcBef>
                <a:spcPts val="0"/>
              </a:spcBef>
              <a:spcAft>
                <a:spcPts val="0"/>
              </a:spcAft>
            </a:pPr>
            <a:r>
              <a:rPr sz="900" b="1" i="0">
                <a:solidFill>
                  <a:srgbClr val="9FE9E1"/>
                </a:solidFill>
                <a:latin typeface="Aptos"/>
                <a:hlinkClick r:id="rId2"/>
              </a:rPr>
              <a:t>https://abhijith-sivakumar-rekha.github.io/Smart-Home-Monitor/mini-projects.html</a:t>
            </a:r>
          </a:p>
        </p:txBody>
      </p:sp>
      <p:sp>
        <p:nvSpPr>
          <p:cNvPr id="11" name="TextBox 10"/>
          <p:cNvSpPr txBox="1"/>
          <p:nvPr/>
        </p:nvSpPr>
        <p:spPr>
          <a:xfrm>
            <a:off x="768096" y="5650992"/>
            <a:ext cx="9784080" cy="320040"/>
          </a:xfrm>
          <a:prstGeom prst="rect">
            <a:avLst/>
          </a:prstGeom>
          <a:noFill/>
        </p:spPr>
        <p:txBody>
          <a:bodyPr wrap="square" lIns="0" rIns="0" tIns="0" bIns="0" anchor="t">
            <a:normAutofit/>
          </a:bodyPr>
          <a:lstStyle/>
          <a:p>
            <a:pPr algn="l">
              <a:lnSpc>
                <a:spcPct val="108000"/>
              </a:lnSpc>
              <a:spcBef>
                <a:spcPts val="0"/>
              </a:spcBef>
              <a:spcAft>
                <a:spcPts val="0"/>
              </a:spcAft>
            </a:pPr>
            <a:r>
              <a:rPr sz="950" b="0" i="0">
                <a:solidFill>
                  <a:srgbClr val="9EABC1"/>
                </a:solidFill>
                <a:latin typeface="Aptos"/>
              </a:rPr>
              <a:t>Also covered: the uploaded “Mini project idea” document with AI Dungeon Master, Rap Battle Generator, and AI Meme Maker.</a:t>
            </a:r>
          </a:p>
        </p:txBody>
      </p:sp>
      <p:sp>
        <p:nvSpPr>
          <p:cNvPr id="12" name="TextBox 11"/>
          <p:cNvSpPr txBox="1"/>
          <p:nvPr/>
        </p:nvSpPr>
        <p:spPr>
          <a:xfrm>
            <a:off x="11155680" y="6428232"/>
            <a:ext cx="384048" cy="182880"/>
          </a:xfrm>
          <a:prstGeom prst="rect">
            <a:avLst/>
          </a:prstGeom>
          <a:noFill/>
        </p:spPr>
        <p:txBody>
          <a:bodyPr wrap="square" lIns="0" rIns="0" tIns="0" bIns="0" anchor="t">
            <a:spAutoFit/>
          </a:bodyPr>
          <a:lstStyle/>
          <a:p>
            <a:pPr algn="r">
              <a:lnSpc>
                <a:spcPct val="108000"/>
              </a:lnSpc>
              <a:spcBef>
                <a:spcPts val="0"/>
              </a:spcBef>
              <a:spcAft>
                <a:spcPts val="0"/>
              </a:spcAft>
            </a:pPr>
            <a:r>
              <a:rPr sz="850" b="0" i="0">
                <a:solidFill>
                  <a:srgbClr val="9EABC1"/>
                </a:solidFill>
                <a:latin typeface="Aptos"/>
              </a:rPr>
              <a:t>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Mini Project Ideas Explained</dc:title>
  <dc:subject>Beginner-friendly presentation covering AI Dungeon Master, Rap Battle Generator, and AI Meme Maker</dc:subject>
  <dc:creator>OpenAI</dc:creator>
  <cp:keywords>AI, mini project, Dungeon Master, rap battle, meme maker, beginner</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